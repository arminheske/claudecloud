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7562088" cy="10689336"/>
  <p:notesSz cx="10689336" cy="7562088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Lösungen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IGH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03327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5F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Cleverbox · Mathematik · Arbeitsblatt</a:t>
            </a:r>
            <a:endParaRPr lang="en-US" sz="11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rgbClr val="0F2A5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03327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B5CCE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Cleverbox · Mathematik · Arbeitsblatt</a:t>
            </a:r>
            <a:endParaRPr lang="en-US" sz="11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EON">
    <p:bg>
      <p:bgPr>
        <a:solidFill>
          <a:srgbClr val="BCD6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03327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F2A5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Cleverbox · Mathematik · Arbeitsblatt</a:t>
            </a:r>
            <a:endParaRPr lang="en-US" sz="11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50292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4459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Lösungsblatt · Mathematik</a:t>
            </a:r>
            <a:endParaRPr lang="en-US" sz="18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868680"/>
            <a:ext cx="646480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2600" dirty="0">
                <a:solidFill>
                  <a:srgbClr val="0B1E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Einfache </a:t>
            </a:r>
            <a:pPr indent="0" marL="0">
              <a:lnSpc>
                <a:spcPct val="105000"/>
              </a:lnSpc>
              <a:buNone/>
            </a:pPr>
            <a:r>
              <a:rPr lang="en-US" sz="2600" dirty="0">
                <a:solidFill>
                  <a:srgbClr val="14459A"/>
                </a:solidFill>
                <a:highlight>
                  <a:srgbClr val="BCD6F5"/>
                </a:highlight>
                <a:latin typeface="Poppins" pitchFamily="34" charset="0"/>
                <a:ea typeface="Poppins" pitchFamily="34" charset="-122"/>
                <a:cs typeface="Poppins" pitchFamily="34" charset="-120"/>
              </a:rPr>
              <a:t>Textgleichungen</a:t>
            </a:r>
            <a:pPr indent="0" marL="0">
              <a:lnSpc>
                <a:spcPct val="105000"/>
              </a:lnSpc>
              <a:buNone/>
            </a:pPr>
            <a:r>
              <a:rPr lang="en-US" sz="2600" dirty="0">
                <a:solidFill>
                  <a:srgbClr val="0B1E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– Lösungen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548640" y="1783080"/>
            <a:ext cx="6464808" cy="45720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15875">
            <a:solidFill>
              <a:srgbClr val="8DBBF2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640080" y="1847088"/>
            <a:ext cx="329184" cy="329184"/>
          </a:xfrm>
          <a:prstGeom prst="ellipse">
            <a:avLst/>
          </a:prstGeom>
          <a:solidFill>
            <a:srgbClr val="BCD6F5"/>
          </a:solidFill>
          <a:ln w="12700">
            <a:solidFill>
              <a:srgbClr val="BCD6F5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640080" y="184708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B1E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</a:t>
            </a:r>
            <a:endParaRPr lang="en-US" sz="1600" dirty="0"/>
          </a:p>
        </p:txBody>
      </p:sp>
      <p:sp>
        <p:nvSpPr>
          <p:cNvPr id="8" name="Text 5"/>
          <p:cNvSpPr txBox="1"/>
          <p:nvPr/>
        </p:nvSpPr>
        <p:spPr>
          <a:xfrm>
            <a:off x="1097280" y="178308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B1E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33 + x = 54</a:t>
            </a:r>
            <a:endParaRPr lang="en-US" sz="1050" dirty="0"/>
          </a:p>
        </p:txBody>
      </p:sp>
      <p:sp>
        <p:nvSpPr>
          <p:cNvPr id="9" name="Text 6"/>
          <p:cNvSpPr txBox="1"/>
          <p:nvPr/>
        </p:nvSpPr>
        <p:spPr>
          <a:xfrm>
            <a:off x="4663440" y="178308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4459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x = 21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548640" y="2304288"/>
            <a:ext cx="6464808" cy="45720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15875">
            <a:solidFill>
              <a:srgbClr val="8DBBF2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640080" y="2368296"/>
            <a:ext cx="329184" cy="329184"/>
          </a:xfrm>
          <a:prstGeom prst="ellipse">
            <a:avLst/>
          </a:prstGeom>
          <a:solidFill>
            <a:srgbClr val="BCD6F5"/>
          </a:solidFill>
          <a:ln w="12700">
            <a:solidFill>
              <a:srgbClr val="BCD6F5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640080" y="236829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B1E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</a:t>
            </a:r>
            <a:endParaRPr lang="en-US" sz="1600" dirty="0"/>
          </a:p>
        </p:txBody>
      </p:sp>
      <p:sp>
        <p:nvSpPr>
          <p:cNvPr id="13" name="Text 10"/>
          <p:cNvSpPr txBox="1"/>
          <p:nvPr/>
        </p:nvSpPr>
        <p:spPr>
          <a:xfrm>
            <a:off x="1097280" y="2304288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B1E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33 − x = 17</a:t>
            </a:r>
            <a:endParaRPr lang="en-US" sz="1050" dirty="0"/>
          </a:p>
        </p:txBody>
      </p:sp>
      <p:sp>
        <p:nvSpPr>
          <p:cNvPr id="14" name="Text 11"/>
          <p:cNvSpPr txBox="1"/>
          <p:nvPr/>
        </p:nvSpPr>
        <p:spPr>
          <a:xfrm>
            <a:off x="4663440" y="2304288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4459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x = 16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548640" y="2825496"/>
            <a:ext cx="6464808" cy="45720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15875">
            <a:solidFill>
              <a:srgbClr val="8DBBF2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640080" y="2889504"/>
            <a:ext cx="329184" cy="329184"/>
          </a:xfrm>
          <a:prstGeom prst="ellipse">
            <a:avLst/>
          </a:prstGeom>
          <a:solidFill>
            <a:srgbClr val="BCD6F5"/>
          </a:solidFill>
          <a:ln w="12700">
            <a:solidFill>
              <a:srgbClr val="BCD6F5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640080" y="288950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B1E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</a:t>
            </a:r>
            <a:endParaRPr lang="en-US" sz="1600" dirty="0"/>
          </a:p>
        </p:txBody>
      </p:sp>
      <p:sp>
        <p:nvSpPr>
          <p:cNvPr id="18" name="Text 15"/>
          <p:cNvSpPr txBox="1"/>
          <p:nvPr/>
        </p:nvSpPr>
        <p:spPr>
          <a:xfrm>
            <a:off x="1097280" y="2825496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B1E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x − 33 = 17</a:t>
            </a:r>
            <a:endParaRPr lang="en-US" sz="1050" dirty="0"/>
          </a:p>
        </p:txBody>
      </p:sp>
      <p:sp>
        <p:nvSpPr>
          <p:cNvPr id="19" name="Text 16"/>
          <p:cNvSpPr txBox="1"/>
          <p:nvPr/>
        </p:nvSpPr>
        <p:spPr>
          <a:xfrm>
            <a:off x="4663440" y="2825496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4459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x = 50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548640" y="3346704"/>
            <a:ext cx="6464808" cy="45720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15875">
            <a:solidFill>
              <a:srgbClr val="8DBBF2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640080" y="3410712"/>
            <a:ext cx="329184" cy="329184"/>
          </a:xfrm>
          <a:prstGeom prst="ellipse">
            <a:avLst/>
          </a:prstGeom>
          <a:solidFill>
            <a:srgbClr val="BCD6F5"/>
          </a:solidFill>
          <a:ln w="12700">
            <a:solidFill>
              <a:srgbClr val="BCD6F5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640080" y="341071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B1E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</a:t>
            </a:r>
            <a:endParaRPr lang="en-US" sz="1600" dirty="0"/>
          </a:p>
        </p:txBody>
      </p:sp>
      <p:sp>
        <p:nvSpPr>
          <p:cNvPr id="23" name="Text 20"/>
          <p:cNvSpPr txBox="1"/>
          <p:nvPr/>
        </p:nvSpPr>
        <p:spPr>
          <a:xfrm>
            <a:off x="1097280" y="3346704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B1E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 · x = 48</a:t>
            </a:r>
            <a:endParaRPr lang="en-US" sz="1050" dirty="0"/>
          </a:p>
        </p:txBody>
      </p:sp>
      <p:sp>
        <p:nvSpPr>
          <p:cNvPr id="24" name="Text 21"/>
          <p:cNvSpPr txBox="1"/>
          <p:nvPr/>
        </p:nvSpPr>
        <p:spPr>
          <a:xfrm>
            <a:off x="4663440" y="3346704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4459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x = 24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548640" y="3867912"/>
            <a:ext cx="6464808" cy="45720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15875">
            <a:solidFill>
              <a:srgbClr val="8DBBF2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640080" y="3931920"/>
            <a:ext cx="329184" cy="329184"/>
          </a:xfrm>
          <a:prstGeom prst="ellipse">
            <a:avLst/>
          </a:prstGeom>
          <a:solidFill>
            <a:srgbClr val="BCD6F5"/>
          </a:solidFill>
          <a:ln w="12700">
            <a:solidFill>
              <a:srgbClr val="BCD6F5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640080" y="393192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B1E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5</a:t>
            </a:r>
            <a:endParaRPr lang="en-US" sz="1600" dirty="0"/>
          </a:p>
        </p:txBody>
      </p:sp>
      <p:sp>
        <p:nvSpPr>
          <p:cNvPr id="28" name="Text 25"/>
          <p:cNvSpPr txBox="1"/>
          <p:nvPr/>
        </p:nvSpPr>
        <p:spPr>
          <a:xfrm>
            <a:off x="1097280" y="3867912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B1E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 · x = 81</a:t>
            </a:r>
            <a:endParaRPr lang="en-US" sz="1050" dirty="0"/>
          </a:p>
        </p:txBody>
      </p:sp>
      <p:sp>
        <p:nvSpPr>
          <p:cNvPr id="29" name="Text 26"/>
          <p:cNvSpPr txBox="1"/>
          <p:nvPr/>
        </p:nvSpPr>
        <p:spPr>
          <a:xfrm>
            <a:off x="4663440" y="3867912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4459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x = 27</a:t>
            </a:r>
            <a:endParaRPr lang="en-US" sz="1100" dirty="0"/>
          </a:p>
        </p:txBody>
      </p:sp>
      <p:sp>
        <p:nvSpPr>
          <p:cNvPr id="30" name="Shape 27"/>
          <p:cNvSpPr/>
          <p:nvPr/>
        </p:nvSpPr>
        <p:spPr>
          <a:xfrm>
            <a:off x="548640" y="4389120"/>
            <a:ext cx="6464808" cy="45720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15875">
            <a:solidFill>
              <a:srgbClr val="8DBBF2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>
            <a:off x="640080" y="4453128"/>
            <a:ext cx="329184" cy="329184"/>
          </a:xfrm>
          <a:prstGeom prst="ellipse">
            <a:avLst/>
          </a:prstGeom>
          <a:solidFill>
            <a:srgbClr val="BCD6F5"/>
          </a:solidFill>
          <a:ln w="12700">
            <a:solidFill>
              <a:srgbClr val="BCD6F5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640080" y="445312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B1E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6</a:t>
            </a:r>
            <a:endParaRPr lang="en-US" sz="1600" dirty="0"/>
          </a:p>
        </p:txBody>
      </p:sp>
      <p:sp>
        <p:nvSpPr>
          <p:cNvPr id="33" name="Text 30"/>
          <p:cNvSpPr txBox="1"/>
          <p:nvPr/>
        </p:nvSpPr>
        <p:spPr>
          <a:xfrm>
            <a:off x="1097280" y="438912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B1E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 · x = 43 − 7</a:t>
            </a:r>
            <a:endParaRPr lang="en-US" sz="1050" dirty="0"/>
          </a:p>
        </p:txBody>
      </p:sp>
      <p:sp>
        <p:nvSpPr>
          <p:cNvPr id="34" name="Text 31"/>
          <p:cNvSpPr txBox="1"/>
          <p:nvPr/>
        </p:nvSpPr>
        <p:spPr>
          <a:xfrm>
            <a:off x="4663440" y="438912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4459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x = 18</a:t>
            </a:r>
            <a:endParaRPr lang="en-US" sz="1100" dirty="0"/>
          </a:p>
        </p:txBody>
      </p:sp>
      <p:sp>
        <p:nvSpPr>
          <p:cNvPr id="35" name="Shape 32"/>
          <p:cNvSpPr/>
          <p:nvPr/>
        </p:nvSpPr>
        <p:spPr>
          <a:xfrm>
            <a:off x="548640" y="4910328"/>
            <a:ext cx="6464808" cy="45720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15875">
            <a:solidFill>
              <a:srgbClr val="8DBBF2"/>
            </a:solidFill>
            <a:prstDash val="solid"/>
          </a:ln>
        </p:spPr>
      </p:sp>
      <p:sp>
        <p:nvSpPr>
          <p:cNvPr id="36" name="Shape 33"/>
          <p:cNvSpPr/>
          <p:nvPr/>
        </p:nvSpPr>
        <p:spPr>
          <a:xfrm>
            <a:off x="640080" y="4974336"/>
            <a:ext cx="329184" cy="329184"/>
          </a:xfrm>
          <a:prstGeom prst="ellipse">
            <a:avLst/>
          </a:prstGeom>
          <a:solidFill>
            <a:srgbClr val="BCD6F5"/>
          </a:solidFill>
          <a:ln w="12700">
            <a:solidFill>
              <a:srgbClr val="BCD6F5"/>
            </a:solidFill>
            <a:prstDash val="solid"/>
          </a:ln>
        </p:spPr>
      </p:sp>
      <p:sp>
        <p:nvSpPr>
          <p:cNvPr id="37" name="Text 34"/>
          <p:cNvSpPr txBox="1"/>
          <p:nvPr/>
        </p:nvSpPr>
        <p:spPr>
          <a:xfrm>
            <a:off x="640080" y="497433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B1E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7</a:t>
            </a:r>
            <a:endParaRPr lang="en-US" sz="1600" dirty="0"/>
          </a:p>
        </p:txBody>
      </p:sp>
      <p:sp>
        <p:nvSpPr>
          <p:cNvPr id="38" name="Text 35"/>
          <p:cNvSpPr txBox="1"/>
          <p:nvPr/>
        </p:nvSpPr>
        <p:spPr>
          <a:xfrm>
            <a:off x="1097280" y="4910328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B1E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 · x = 76 + 11</a:t>
            </a:r>
            <a:endParaRPr lang="en-US" sz="1050" dirty="0"/>
          </a:p>
        </p:txBody>
      </p:sp>
      <p:sp>
        <p:nvSpPr>
          <p:cNvPr id="39" name="Text 36"/>
          <p:cNvSpPr txBox="1"/>
          <p:nvPr/>
        </p:nvSpPr>
        <p:spPr>
          <a:xfrm>
            <a:off x="4663440" y="4910328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4459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x = 29</a:t>
            </a:r>
            <a:endParaRPr lang="en-US" sz="1100" dirty="0"/>
          </a:p>
        </p:txBody>
      </p:sp>
      <p:sp>
        <p:nvSpPr>
          <p:cNvPr id="40" name="Shape 37"/>
          <p:cNvSpPr/>
          <p:nvPr/>
        </p:nvSpPr>
        <p:spPr>
          <a:xfrm>
            <a:off x="548640" y="5431536"/>
            <a:ext cx="6464808" cy="45720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15875">
            <a:solidFill>
              <a:srgbClr val="8DBBF2"/>
            </a:solidFill>
            <a:prstDash val="solid"/>
          </a:ln>
        </p:spPr>
      </p:sp>
      <p:sp>
        <p:nvSpPr>
          <p:cNvPr id="41" name="Shape 38"/>
          <p:cNvSpPr/>
          <p:nvPr/>
        </p:nvSpPr>
        <p:spPr>
          <a:xfrm>
            <a:off x="640080" y="5495544"/>
            <a:ext cx="329184" cy="329184"/>
          </a:xfrm>
          <a:prstGeom prst="ellipse">
            <a:avLst/>
          </a:prstGeom>
          <a:solidFill>
            <a:srgbClr val="BCD6F5"/>
          </a:solidFill>
          <a:ln w="12700">
            <a:solidFill>
              <a:srgbClr val="BCD6F5"/>
            </a:solidFill>
            <a:prstDash val="solid"/>
          </a:ln>
        </p:spPr>
      </p:sp>
      <p:sp>
        <p:nvSpPr>
          <p:cNvPr id="42" name="Text 39"/>
          <p:cNvSpPr txBox="1"/>
          <p:nvPr/>
        </p:nvSpPr>
        <p:spPr>
          <a:xfrm>
            <a:off x="640080" y="549554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B1E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8</a:t>
            </a:r>
            <a:endParaRPr lang="en-US" sz="1600" dirty="0"/>
          </a:p>
        </p:txBody>
      </p:sp>
      <p:sp>
        <p:nvSpPr>
          <p:cNvPr id="43" name="Text 40"/>
          <p:cNvSpPr txBox="1"/>
          <p:nvPr/>
        </p:nvSpPr>
        <p:spPr>
          <a:xfrm>
            <a:off x="1097280" y="5431536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B1E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11 · x − 3 · x = 56</a:t>
            </a:r>
            <a:endParaRPr lang="en-US" sz="1050" dirty="0"/>
          </a:p>
        </p:txBody>
      </p:sp>
      <p:sp>
        <p:nvSpPr>
          <p:cNvPr id="44" name="Text 41"/>
          <p:cNvSpPr txBox="1"/>
          <p:nvPr/>
        </p:nvSpPr>
        <p:spPr>
          <a:xfrm>
            <a:off x="4663440" y="5431536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4459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x = 7</a:t>
            </a:r>
            <a:endParaRPr lang="en-US" sz="1100" dirty="0"/>
          </a:p>
        </p:txBody>
      </p:sp>
      <p:sp>
        <p:nvSpPr>
          <p:cNvPr id="45" name="Shape 42"/>
          <p:cNvSpPr/>
          <p:nvPr/>
        </p:nvSpPr>
        <p:spPr>
          <a:xfrm>
            <a:off x="548640" y="5952744"/>
            <a:ext cx="6464808" cy="45720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15875">
            <a:solidFill>
              <a:srgbClr val="8DBBF2"/>
            </a:solidFill>
            <a:prstDash val="solid"/>
          </a:ln>
        </p:spPr>
      </p:sp>
      <p:sp>
        <p:nvSpPr>
          <p:cNvPr id="46" name="Shape 43"/>
          <p:cNvSpPr/>
          <p:nvPr/>
        </p:nvSpPr>
        <p:spPr>
          <a:xfrm>
            <a:off x="640080" y="6016752"/>
            <a:ext cx="329184" cy="329184"/>
          </a:xfrm>
          <a:prstGeom prst="ellipse">
            <a:avLst/>
          </a:prstGeom>
          <a:solidFill>
            <a:srgbClr val="BCD6F5"/>
          </a:solidFill>
          <a:ln w="12700">
            <a:solidFill>
              <a:srgbClr val="BCD6F5"/>
            </a:solidFill>
            <a:prstDash val="solid"/>
          </a:ln>
        </p:spPr>
      </p:sp>
      <p:sp>
        <p:nvSpPr>
          <p:cNvPr id="47" name="Text 44"/>
          <p:cNvSpPr txBox="1"/>
          <p:nvPr/>
        </p:nvSpPr>
        <p:spPr>
          <a:xfrm>
            <a:off x="640080" y="601675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B1E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9</a:t>
            </a:r>
            <a:endParaRPr lang="en-US" sz="1600" dirty="0"/>
          </a:p>
        </p:txBody>
      </p:sp>
      <p:sp>
        <p:nvSpPr>
          <p:cNvPr id="48" name="Text 45"/>
          <p:cNvSpPr txBox="1"/>
          <p:nvPr/>
        </p:nvSpPr>
        <p:spPr>
          <a:xfrm>
            <a:off x="1097280" y="5952744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B1E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 · x − 9 = 27</a:t>
            </a:r>
            <a:endParaRPr lang="en-US" sz="1050" dirty="0"/>
          </a:p>
        </p:txBody>
      </p:sp>
      <p:sp>
        <p:nvSpPr>
          <p:cNvPr id="49" name="Text 46"/>
          <p:cNvSpPr txBox="1"/>
          <p:nvPr/>
        </p:nvSpPr>
        <p:spPr>
          <a:xfrm>
            <a:off x="4663440" y="5952744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4459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x = 12</a:t>
            </a:r>
            <a:endParaRPr lang="en-US" sz="1100" dirty="0"/>
          </a:p>
        </p:txBody>
      </p:sp>
      <p:sp>
        <p:nvSpPr>
          <p:cNvPr id="50" name="Shape 47"/>
          <p:cNvSpPr/>
          <p:nvPr/>
        </p:nvSpPr>
        <p:spPr>
          <a:xfrm>
            <a:off x="548640" y="6473952"/>
            <a:ext cx="6464808" cy="45720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15875">
            <a:solidFill>
              <a:srgbClr val="8DBBF2"/>
            </a:solidFill>
            <a:prstDash val="solid"/>
          </a:ln>
        </p:spPr>
      </p:sp>
      <p:sp>
        <p:nvSpPr>
          <p:cNvPr id="51" name="Shape 48"/>
          <p:cNvSpPr/>
          <p:nvPr/>
        </p:nvSpPr>
        <p:spPr>
          <a:xfrm>
            <a:off x="640080" y="6537960"/>
            <a:ext cx="329184" cy="329184"/>
          </a:xfrm>
          <a:prstGeom prst="ellipse">
            <a:avLst/>
          </a:prstGeom>
          <a:solidFill>
            <a:srgbClr val="BCD6F5"/>
          </a:solidFill>
          <a:ln w="12700">
            <a:solidFill>
              <a:srgbClr val="BCD6F5"/>
            </a:solidFill>
            <a:prstDash val="solid"/>
          </a:ln>
        </p:spPr>
      </p:sp>
      <p:sp>
        <p:nvSpPr>
          <p:cNvPr id="52" name="Text 49"/>
          <p:cNvSpPr txBox="1"/>
          <p:nvPr/>
        </p:nvSpPr>
        <p:spPr>
          <a:xfrm>
            <a:off x="640080" y="653796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B1E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10</a:t>
            </a:r>
            <a:endParaRPr lang="en-US" sz="1600" dirty="0"/>
          </a:p>
        </p:txBody>
      </p:sp>
      <p:sp>
        <p:nvSpPr>
          <p:cNvPr id="53" name="Text 50"/>
          <p:cNvSpPr txBox="1"/>
          <p:nvPr/>
        </p:nvSpPr>
        <p:spPr>
          <a:xfrm>
            <a:off x="1097280" y="6473952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B1E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x : 2 = 2 · x + 10 − 25</a:t>
            </a:r>
            <a:endParaRPr lang="en-US" sz="1050" dirty="0"/>
          </a:p>
        </p:txBody>
      </p:sp>
      <p:sp>
        <p:nvSpPr>
          <p:cNvPr id="54" name="Text 51"/>
          <p:cNvSpPr txBox="1"/>
          <p:nvPr/>
        </p:nvSpPr>
        <p:spPr>
          <a:xfrm>
            <a:off x="4663440" y="6473952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4459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x = 10</a:t>
            </a:r>
            <a:endParaRPr lang="en-US" sz="1100" dirty="0"/>
          </a:p>
        </p:txBody>
      </p:sp>
      <p:sp>
        <p:nvSpPr>
          <p:cNvPr id="55" name="Shape 52"/>
          <p:cNvSpPr/>
          <p:nvPr/>
        </p:nvSpPr>
        <p:spPr>
          <a:xfrm>
            <a:off x="548640" y="6995160"/>
            <a:ext cx="6464808" cy="45720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15875">
            <a:solidFill>
              <a:srgbClr val="8DBBF2"/>
            </a:solidFill>
            <a:prstDash val="solid"/>
          </a:ln>
        </p:spPr>
      </p:sp>
      <p:sp>
        <p:nvSpPr>
          <p:cNvPr id="56" name="Shape 53"/>
          <p:cNvSpPr/>
          <p:nvPr/>
        </p:nvSpPr>
        <p:spPr>
          <a:xfrm>
            <a:off x="640080" y="7059168"/>
            <a:ext cx="329184" cy="329184"/>
          </a:xfrm>
          <a:prstGeom prst="ellipse">
            <a:avLst/>
          </a:prstGeom>
          <a:solidFill>
            <a:srgbClr val="BCD6F5"/>
          </a:solidFill>
          <a:ln w="12700">
            <a:solidFill>
              <a:srgbClr val="BCD6F5"/>
            </a:solidFill>
            <a:prstDash val="solid"/>
          </a:ln>
        </p:spPr>
      </p:sp>
      <p:sp>
        <p:nvSpPr>
          <p:cNvPr id="57" name="Text 54"/>
          <p:cNvSpPr txBox="1"/>
          <p:nvPr/>
        </p:nvSpPr>
        <p:spPr>
          <a:xfrm>
            <a:off x="640080" y="705916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B1E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11</a:t>
            </a:r>
            <a:endParaRPr lang="en-US" sz="1600" dirty="0"/>
          </a:p>
        </p:txBody>
      </p:sp>
      <p:sp>
        <p:nvSpPr>
          <p:cNvPr id="58" name="Text 55"/>
          <p:cNvSpPr txBox="1"/>
          <p:nvPr/>
        </p:nvSpPr>
        <p:spPr>
          <a:xfrm>
            <a:off x="1097280" y="699516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B1E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Roman x: x + (x + 8) = 32</a:t>
            </a:r>
            <a:endParaRPr lang="en-US" sz="1050" dirty="0"/>
          </a:p>
        </p:txBody>
      </p:sp>
      <p:sp>
        <p:nvSpPr>
          <p:cNvPr id="59" name="Text 56"/>
          <p:cNvSpPr txBox="1"/>
          <p:nvPr/>
        </p:nvSpPr>
        <p:spPr>
          <a:xfrm>
            <a:off x="4663440" y="699516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4459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Roman: 12 Jahre</a:t>
            </a:r>
            <a:endParaRPr lang="en-US" sz="1100" dirty="0"/>
          </a:p>
        </p:txBody>
      </p:sp>
      <p:sp>
        <p:nvSpPr>
          <p:cNvPr id="60" name="Shape 57"/>
          <p:cNvSpPr/>
          <p:nvPr/>
        </p:nvSpPr>
        <p:spPr>
          <a:xfrm>
            <a:off x="548640" y="7516368"/>
            <a:ext cx="6464808" cy="45720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15875">
            <a:solidFill>
              <a:srgbClr val="8DBBF2"/>
            </a:solidFill>
            <a:prstDash val="solid"/>
          </a:ln>
        </p:spPr>
      </p:sp>
      <p:sp>
        <p:nvSpPr>
          <p:cNvPr id="61" name="Shape 58"/>
          <p:cNvSpPr/>
          <p:nvPr/>
        </p:nvSpPr>
        <p:spPr>
          <a:xfrm>
            <a:off x="640080" y="7580376"/>
            <a:ext cx="329184" cy="329184"/>
          </a:xfrm>
          <a:prstGeom prst="ellipse">
            <a:avLst/>
          </a:prstGeom>
          <a:solidFill>
            <a:srgbClr val="BCD6F5"/>
          </a:solidFill>
          <a:ln w="12700">
            <a:solidFill>
              <a:srgbClr val="BCD6F5"/>
            </a:solidFill>
            <a:prstDash val="solid"/>
          </a:ln>
        </p:spPr>
      </p:sp>
      <p:sp>
        <p:nvSpPr>
          <p:cNvPr id="62" name="Text 59"/>
          <p:cNvSpPr txBox="1"/>
          <p:nvPr/>
        </p:nvSpPr>
        <p:spPr>
          <a:xfrm>
            <a:off x="640080" y="758037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B1E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12</a:t>
            </a:r>
            <a:endParaRPr lang="en-US" sz="1600" dirty="0"/>
          </a:p>
        </p:txBody>
      </p:sp>
      <p:sp>
        <p:nvSpPr>
          <p:cNvPr id="63" name="Text 60"/>
          <p:cNvSpPr txBox="1"/>
          <p:nvPr/>
        </p:nvSpPr>
        <p:spPr>
          <a:xfrm>
            <a:off x="1097280" y="7516368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B1E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Petra x: x + (x + 7) + (x + 5) = 42</a:t>
            </a:r>
            <a:endParaRPr lang="en-US" sz="1050" dirty="0"/>
          </a:p>
        </p:txBody>
      </p:sp>
      <p:sp>
        <p:nvSpPr>
          <p:cNvPr id="64" name="Text 61"/>
          <p:cNvSpPr txBox="1"/>
          <p:nvPr/>
        </p:nvSpPr>
        <p:spPr>
          <a:xfrm>
            <a:off x="4663440" y="7516368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4459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Leon: 15 Jahre</a:t>
            </a:r>
            <a:endParaRPr lang="en-US" sz="1100" dirty="0"/>
          </a:p>
        </p:txBody>
      </p:sp>
      <p:sp>
        <p:nvSpPr>
          <p:cNvPr id="65" name="Shape 62"/>
          <p:cNvSpPr/>
          <p:nvPr/>
        </p:nvSpPr>
        <p:spPr>
          <a:xfrm>
            <a:off x="548640" y="8037576"/>
            <a:ext cx="6464808" cy="45720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15875">
            <a:solidFill>
              <a:srgbClr val="8DBBF2"/>
            </a:solidFill>
            <a:prstDash val="solid"/>
          </a:ln>
        </p:spPr>
      </p:sp>
      <p:sp>
        <p:nvSpPr>
          <p:cNvPr id="66" name="Shape 63"/>
          <p:cNvSpPr/>
          <p:nvPr/>
        </p:nvSpPr>
        <p:spPr>
          <a:xfrm>
            <a:off x="640080" y="8101584"/>
            <a:ext cx="329184" cy="329184"/>
          </a:xfrm>
          <a:prstGeom prst="ellipse">
            <a:avLst/>
          </a:prstGeom>
          <a:solidFill>
            <a:srgbClr val="BCD6F5"/>
          </a:solidFill>
          <a:ln w="12700">
            <a:solidFill>
              <a:srgbClr val="BCD6F5"/>
            </a:solidFill>
            <a:prstDash val="solid"/>
          </a:ln>
        </p:spPr>
      </p:sp>
      <p:sp>
        <p:nvSpPr>
          <p:cNvPr id="67" name="Text 64"/>
          <p:cNvSpPr txBox="1"/>
          <p:nvPr/>
        </p:nvSpPr>
        <p:spPr>
          <a:xfrm>
            <a:off x="640080" y="810158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B1E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13</a:t>
            </a:r>
            <a:endParaRPr lang="en-US" sz="1600" dirty="0"/>
          </a:p>
        </p:txBody>
      </p:sp>
      <p:sp>
        <p:nvSpPr>
          <p:cNvPr id="68" name="Text 65"/>
          <p:cNvSpPr txBox="1"/>
          <p:nvPr/>
        </p:nvSpPr>
        <p:spPr>
          <a:xfrm>
            <a:off x="1097280" y="8037576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B1E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Alina x: x + (x + 10) + (x + 4) = 32</a:t>
            </a:r>
            <a:endParaRPr lang="en-US" sz="1050" dirty="0"/>
          </a:p>
        </p:txBody>
      </p:sp>
      <p:sp>
        <p:nvSpPr>
          <p:cNvPr id="69" name="Text 66"/>
          <p:cNvSpPr txBox="1"/>
          <p:nvPr/>
        </p:nvSpPr>
        <p:spPr>
          <a:xfrm>
            <a:off x="4663440" y="8037576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4459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Armin: 10 Jahre</a:t>
            </a:r>
            <a:endParaRPr lang="en-US" sz="1100" dirty="0"/>
          </a:p>
        </p:txBody>
      </p:sp>
      <p:sp>
        <p:nvSpPr>
          <p:cNvPr id="70" name="Shape 67"/>
          <p:cNvSpPr/>
          <p:nvPr/>
        </p:nvSpPr>
        <p:spPr>
          <a:xfrm>
            <a:off x="548640" y="8558784"/>
            <a:ext cx="6464808" cy="45720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15875">
            <a:solidFill>
              <a:srgbClr val="8DBBF2"/>
            </a:solidFill>
            <a:prstDash val="solid"/>
          </a:ln>
        </p:spPr>
      </p:sp>
      <p:sp>
        <p:nvSpPr>
          <p:cNvPr id="71" name="Shape 68"/>
          <p:cNvSpPr/>
          <p:nvPr/>
        </p:nvSpPr>
        <p:spPr>
          <a:xfrm>
            <a:off x="640080" y="8622792"/>
            <a:ext cx="329184" cy="329184"/>
          </a:xfrm>
          <a:prstGeom prst="ellipse">
            <a:avLst/>
          </a:prstGeom>
          <a:solidFill>
            <a:srgbClr val="BCD6F5"/>
          </a:solidFill>
          <a:ln w="12700">
            <a:solidFill>
              <a:srgbClr val="BCD6F5"/>
            </a:solidFill>
            <a:prstDash val="solid"/>
          </a:ln>
        </p:spPr>
      </p:sp>
      <p:sp>
        <p:nvSpPr>
          <p:cNvPr id="72" name="Text 69"/>
          <p:cNvSpPr txBox="1"/>
          <p:nvPr/>
        </p:nvSpPr>
        <p:spPr>
          <a:xfrm>
            <a:off x="640080" y="862279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B1E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14</a:t>
            </a:r>
            <a:endParaRPr lang="en-US" sz="1600" dirty="0"/>
          </a:p>
        </p:txBody>
      </p:sp>
      <p:sp>
        <p:nvSpPr>
          <p:cNvPr id="73" name="Text 70"/>
          <p:cNvSpPr txBox="1"/>
          <p:nvPr/>
        </p:nvSpPr>
        <p:spPr>
          <a:xfrm>
            <a:off x="1097280" y="8558784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B1E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β = x: x + 4 · x = 90</a:t>
            </a:r>
            <a:endParaRPr lang="en-US" sz="1050" dirty="0"/>
          </a:p>
        </p:txBody>
      </p:sp>
      <p:sp>
        <p:nvSpPr>
          <p:cNvPr id="74" name="Text 71"/>
          <p:cNvSpPr txBox="1"/>
          <p:nvPr/>
        </p:nvSpPr>
        <p:spPr>
          <a:xfrm>
            <a:off x="4663440" y="8558784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4459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a) 90°  b) α = 72°</a:t>
            </a:r>
            <a:endParaRPr lang="en-US" sz="1100" dirty="0"/>
          </a:p>
        </p:txBody>
      </p:sp>
      <p:sp>
        <p:nvSpPr>
          <p:cNvPr id="75" name="Shape 72"/>
          <p:cNvSpPr/>
          <p:nvPr/>
        </p:nvSpPr>
        <p:spPr>
          <a:xfrm>
            <a:off x="548640" y="9079992"/>
            <a:ext cx="6464808" cy="45720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15875">
            <a:solidFill>
              <a:srgbClr val="8DBBF2"/>
            </a:solidFill>
            <a:prstDash val="solid"/>
          </a:ln>
        </p:spPr>
      </p:sp>
      <p:sp>
        <p:nvSpPr>
          <p:cNvPr id="76" name="Shape 73"/>
          <p:cNvSpPr/>
          <p:nvPr/>
        </p:nvSpPr>
        <p:spPr>
          <a:xfrm>
            <a:off x="640080" y="9144000"/>
            <a:ext cx="329184" cy="329184"/>
          </a:xfrm>
          <a:prstGeom prst="ellipse">
            <a:avLst/>
          </a:prstGeom>
          <a:solidFill>
            <a:srgbClr val="BCD6F5"/>
          </a:solidFill>
          <a:ln w="12700">
            <a:solidFill>
              <a:srgbClr val="BCD6F5"/>
            </a:solidFill>
            <a:prstDash val="solid"/>
          </a:ln>
        </p:spPr>
      </p:sp>
      <p:sp>
        <p:nvSpPr>
          <p:cNvPr id="77" name="Text 74"/>
          <p:cNvSpPr txBox="1"/>
          <p:nvPr/>
        </p:nvSpPr>
        <p:spPr>
          <a:xfrm>
            <a:off x="640080" y="91440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B1E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15</a:t>
            </a:r>
            <a:endParaRPr lang="en-US" sz="1600" dirty="0"/>
          </a:p>
        </p:txBody>
      </p:sp>
      <p:sp>
        <p:nvSpPr>
          <p:cNvPr id="78" name="Text 75"/>
          <p:cNvSpPr txBox="1"/>
          <p:nvPr/>
        </p:nvSpPr>
        <p:spPr>
          <a:xfrm>
            <a:off x="1097280" y="9079992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B1E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Nicole x: x + (x + 7) + (x + 9) = 43</a:t>
            </a:r>
            <a:endParaRPr lang="en-US" sz="1050" dirty="0"/>
          </a:p>
        </p:txBody>
      </p:sp>
      <p:sp>
        <p:nvSpPr>
          <p:cNvPr id="79" name="Text 76"/>
          <p:cNvSpPr txBox="1"/>
          <p:nvPr/>
        </p:nvSpPr>
        <p:spPr>
          <a:xfrm>
            <a:off x="4663440" y="9079992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4459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Nicole: 9 Jahre</a:t>
            </a:r>
            <a:endParaRPr lang="en-US" sz="1100" dirty="0"/>
          </a:p>
        </p:txBody>
      </p:sp>
      <p:sp>
        <p:nvSpPr>
          <p:cNvPr id="80" name="Shape 77"/>
          <p:cNvSpPr/>
          <p:nvPr/>
        </p:nvSpPr>
        <p:spPr>
          <a:xfrm>
            <a:off x="548640" y="9601200"/>
            <a:ext cx="6464808" cy="45720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15875">
            <a:solidFill>
              <a:srgbClr val="8DBBF2"/>
            </a:solidFill>
            <a:prstDash val="solid"/>
          </a:ln>
        </p:spPr>
      </p:sp>
      <p:sp>
        <p:nvSpPr>
          <p:cNvPr id="81" name="Shape 78"/>
          <p:cNvSpPr/>
          <p:nvPr/>
        </p:nvSpPr>
        <p:spPr>
          <a:xfrm>
            <a:off x="640080" y="9665208"/>
            <a:ext cx="329184" cy="329184"/>
          </a:xfrm>
          <a:prstGeom prst="ellipse">
            <a:avLst/>
          </a:prstGeom>
          <a:solidFill>
            <a:srgbClr val="BCD6F5"/>
          </a:solidFill>
          <a:ln w="12700">
            <a:solidFill>
              <a:srgbClr val="BCD6F5"/>
            </a:solidFill>
            <a:prstDash val="solid"/>
          </a:ln>
        </p:spPr>
      </p:sp>
      <p:sp>
        <p:nvSpPr>
          <p:cNvPr id="82" name="Text 79"/>
          <p:cNvSpPr txBox="1"/>
          <p:nvPr/>
        </p:nvSpPr>
        <p:spPr>
          <a:xfrm>
            <a:off x="640080" y="966520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B1E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16</a:t>
            </a:r>
            <a:endParaRPr lang="en-US" sz="1600" dirty="0"/>
          </a:p>
        </p:txBody>
      </p:sp>
      <p:sp>
        <p:nvSpPr>
          <p:cNvPr id="83" name="Text 80"/>
          <p:cNvSpPr txBox="1"/>
          <p:nvPr/>
        </p:nvSpPr>
        <p:spPr>
          <a:xfrm>
            <a:off x="1097280" y="960120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B1E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Elisabeth x: x + (x + 4) + (x + 2) = 39</a:t>
            </a:r>
            <a:endParaRPr lang="en-US" sz="1050" dirty="0"/>
          </a:p>
        </p:txBody>
      </p:sp>
      <p:sp>
        <p:nvSpPr>
          <p:cNvPr id="84" name="Text 81"/>
          <p:cNvSpPr txBox="1"/>
          <p:nvPr/>
        </p:nvSpPr>
        <p:spPr>
          <a:xfrm>
            <a:off x="4663440" y="960120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4459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Pia: 15 Jahre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Poppins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Poppin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Einfache Textgleichungen – Arbeitsblatt</dc:title>
  <dc:subject>PptxGenJS Presentation</dc:subject>
  <dc:creator>Armin Heske</dc:creator>
  <cp:lastModifiedBy>Armin Heske</cp:lastModifiedBy>
  <cp:revision>1</cp:revision>
  <dcterms:created xsi:type="dcterms:W3CDTF">2026-10-29T16:26:20Z</dcterms:created>
  <dcterms:modified xsi:type="dcterms:W3CDTF">2026-10-29T16:26:20Z</dcterms:modified>
</cp:coreProperties>
</file>