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Szene 1 – Hook (0:00)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Szene 2 – Gedankenexperiment (0:20)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Szene 3 – Was ist ein Algorithmus? (0:45)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Szene 4 – Das Ziel: Geld (1:20)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Szene 4 – Das Design (1:35)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Szene 4 – EU-Kommission (2:00)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Szene 4 – Aufmerksamkeit ist die Währung (2:25)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Szene 5 – Die Signale (1:50)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Szene 6 – Gewichtung (2:50)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Szene 7 – Der Kreislauf (3:25)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Szene 8 – Der Start (4:00)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Szene 9 – Die Schattenseiten (4:25)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Szene 10 – Gegenmaßnahmen (5:15)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Szene 11 – Deine Werkzeuge (5:40)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Szene 12 – Kurzer Check (6:45) – 3–5 Sekunden Pause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Szene 13 – Outro (7:10)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EFFB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5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Cleverbox · Digitale Grundbildung</a:t>
            </a:r>
            <a:endParaRPr lang="en-US" sz="11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230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C79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Cleverbox · Digitale Grundbildung</a:t>
            </a:r>
            <a:endParaRPr lang="en-US" sz="11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EON">
    <p:bg>
      <p:bgPr>
        <a:solidFill>
          <a:srgbClr val="B1FF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230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Cleverbox · Digitale Grundbildung</a:t>
            </a:r>
            <a:endParaRPr lang="en-US" sz="11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640080" y="1097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672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Digitale Grundbildung</a:t>
            </a:r>
            <a:endParaRPr lang="en-US" sz="18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1600200"/>
            <a:ext cx="56692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Woher weiß TikTok eigentlich, was </a:t>
            </a:r>
            <a:pPr indent="0" marL="0">
              <a:lnSpc>
                <a:spcPct val="105000"/>
              </a:lnSpc>
              <a:buNone/>
            </a:pPr>
            <a:r>
              <a:rPr lang="en-US" sz="4000" dirty="0">
                <a:solidFill>
                  <a:srgbClr val="26720A"/>
                </a:solidFill>
                <a:highlight>
                  <a:srgbClr val="B1FF37"/>
                </a:highlight>
                <a:latin typeface="Poppins" pitchFamily="34" charset="0"/>
                <a:ea typeface="Poppins" pitchFamily="34" charset="-122"/>
                <a:cs typeface="Poppins" pitchFamily="34" charset="-120"/>
              </a:rPr>
              <a:t>du magst?</a:t>
            </a:r>
            <a:endParaRPr lang="en-US" sz="40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4846320"/>
            <a:ext cx="5486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5B6B5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Schon nach drei Videos wirkt der Feed, als würde er dich kennen.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6583680" y="731520"/>
            <a:ext cx="4023360" cy="3657600"/>
          </a:xfrm>
          <a:prstGeom prst="roundRect">
            <a:avLst>
              <a:gd name="adj" fmla="val 3000"/>
            </a:avLst>
          </a:prstGeom>
          <a:solidFill>
            <a:srgbClr val="FBFFF4"/>
          </a:solidFill>
          <a:ln w="15875">
            <a:solidFill>
              <a:srgbClr val="B8D98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583680" y="731520"/>
            <a:ext cx="4023360" cy="822960"/>
          </a:xfrm>
          <a:prstGeom prst="roundRect">
            <a:avLst>
              <a:gd name="adj" fmla="val 13333"/>
            </a:avLst>
          </a:prstGeom>
          <a:solidFill>
            <a:srgbClr val="12301A"/>
          </a:solidFill>
          <a:ln w="12700">
            <a:solidFill>
              <a:srgbClr val="12301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592824" y="1143000"/>
            <a:ext cx="4005072" cy="457200"/>
          </a:xfrm>
          <a:prstGeom prst="rect">
            <a:avLst/>
          </a:prstGeom>
          <a:solidFill>
            <a:srgbClr val="DDF3B8"/>
          </a:solidFill>
          <a:ln w="12700">
            <a:solidFill>
              <a:srgbClr val="DDF3B8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412480" y="78638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FBFF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Für dich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766560" y="1188720"/>
            <a:ext cx="1920240" cy="411480"/>
          </a:xfrm>
          <a:prstGeom prst="roundRect">
            <a:avLst>
              <a:gd name="adj" fmla="val 17778"/>
            </a:avLst>
          </a:prstGeom>
          <a:solidFill>
            <a:srgbClr val="FBFFF4"/>
          </a:solidFill>
          <a:ln w="12700">
            <a:solidFill>
              <a:srgbClr val="FBFFF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894576" y="1316736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DDF3B8"/>
          </a:solidFill>
          <a:ln w="6350">
            <a:solidFill>
              <a:srgbClr val="B8D98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132320" y="118872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Lenas Feed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7040880" y="1600200"/>
            <a:ext cx="4023360" cy="3657600"/>
          </a:xfrm>
          <a:prstGeom prst="roundRect">
            <a:avLst>
              <a:gd name="adj" fmla="val 3000"/>
            </a:avLst>
          </a:prstGeom>
          <a:solidFill>
            <a:srgbClr val="FBFFF4"/>
          </a:solidFill>
          <a:ln w="15875">
            <a:solidFill>
              <a:srgbClr val="B8D98A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7040880" y="1600200"/>
            <a:ext cx="4023360" cy="822960"/>
          </a:xfrm>
          <a:prstGeom prst="roundRect">
            <a:avLst>
              <a:gd name="adj" fmla="val 13333"/>
            </a:avLst>
          </a:prstGeom>
          <a:solidFill>
            <a:srgbClr val="12301A"/>
          </a:solidFill>
          <a:ln w="12700">
            <a:solidFill>
              <a:srgbClr val="12301A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050024" y="2011680"/>
            <a:ext cx="4005072" cy="457200"/>
          </a:xfrm>
          <a:prstGeom prst="rect">
            <a:avLst/>
          </a:prstGeom>
          <a:solidFill>
            <a:srgbClr val="DDF3B8"/>
          </a:solidFill>
          <a:ln w="12700">
            <a:solidFill>
              <a:srgbClr val="DDF3B8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869680" y="165506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FBFF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Für dich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7223760" y="2057400"/>
            <a:ext cx="1920240" cy="411480"/>
          </a:xfrm>
          <a:prstGeom prst="roundRect">
            <a:avLst>
              <a:gd name="adj" fmla="val 17778"/>
            </a:avLst>
          </a:prstGeom>
          <a:solidFill>
            <a:srgbClr val="FBFFF4"/>
          </a:solidFill>
          <a:ln w="12700">
            <a:solidFill>
              <a:srgbClr val="FBFFF4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7351776" y="2185416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DDF3B8"/>
          </a:solidFill>
          <a:ln w="6350">
            <a:solidFill>
              <a:srgbClr val="B8D98A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589520" y="205740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Jonas’ Feed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7498080" y="2468880"/>
            <a:ext cx="4023360" cy="3657600"/>
          </a:xfrm>
          <a:prstGeom prst="roundRect">
            <a:avLst>
              <a:gd name="adj" fmla="val 3000"/>
            </a:avLst>
          </a:prstGeom>
          <a:solidFill>
            <a:srgbClr val="FBFFF4"/>
          </a:solidFill>
          <a:ln w="15875">
            <a:solidFill>
              <a:srgbClr val="B8D98A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7498080" y="2468880"/>
            <a:ext cx="4023360" cy="822960"/>
          </a:xfrm>
          <a:prstGeom prst="roundRect">
            <a:avLst>
              <a:gd name="adj" fmla="val 13333"/>
            </a:avLst>
          </a:prstGeom>
          <a:solidFill>
            <a:srgbClr val="12301A"/>
          </a:solidFill>
          <a:ln w="12700">
            <a:solidFill>
              <a:srgbClr val="12301A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7507224" y="2880360"/>
            <a:ext cx="4005072" cy="457200"/>
          </a:xfrm>
          <a:prstGeom prst="rect">
            <a:avLst/>
          </a:prstGeom>
          <a:solidFill>
            <a:srgbClr val="DDF3B8"/>
          </a:solidFill>
          <a:ln w="12700">
            <a:solidFill>
              <a:srgbClr val="DDF3B8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9326880" y="252374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FBFF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Für dich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7680960" y="2926080"/>
            <a:ext cx="1920240" cy="411480"/>
          </a:xfrm>
          <a:prstGeom prst="roundRect">
            <a:avLst>
              <a:gd name="adj" fmla="val 17778"/>
            </a:avLst>
          </a:prstGeom>
          <a:solidFill>
            <a:srgbClr val="FBFFF4"/>
          </a:solidFill>
          <a:ln w="12700">
            <a:solidFill>
              <a:srgbClr val="FBFFF4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7808976" y="3054096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DDF3B8"/>
          </a:solidFill>
          <a:ln w="6350">
            <a:solidFill>
              <a:srgbClr val="B8D98A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046720" y="292608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Dein Feed</a:t>
            </a:r>
            <a:endParaRPr lang="en-US" sz="1300" dirty="0"/>
          </a:p>
        </p:txBody>
      </p:sp>
      <p:sp>
        <p:nvSpPr>
          <p:cNvPr id="27" name="Text 24"/>
          <p:cNvSpPr txBox="1"/>
          <p:nvPr/>
        </p:nvSpPr>
        <p:spPr>
          <a:xfrm>
            <a:off x="7680960" y="352044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Dein Feed</a:t>
            </a:r>
            <a:endParaRPr lang="en-US" sz="2200" dirty="0"/>
          </a:p>
        </p:txBody>
      </p:sp>
      <p:sp>
        <p:nvSpPr>
          <p:cNvPr id="28" name="Shape 25"/>
          <p:cNvSpPr/>
          <p:nvPr/>
        </p:nvSpPr>
        <p:spPr>
          <a:xfrm>
            <a:off x="7680960" y="4114800"/>
            <a:ext cx="1188720" cy="457200"/>
          </a:xfrm>
          <a:prstGeom prst="roundRect">
            <a:avLst>
              <a:gd name="adj" fmla="val 16000"/>
            </a:avLst>
          </a:prstGeom>
          <a:solidFill>
            <a:srgbClr val="B1FF37"/>
          </a:solidFill>
          <a:ln w="12700">
            <a:solidFill>
              <a:srgbClr val="B1FF37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7680960" y="411480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Katzen</a:t>
            </a:r>
            <a:endParaRPr lang="en-US" sz="1400" dirty="0"/>
          </a:p>
        </p:txBody>
      </p:sp>
      <p:sp>
        <p:nvSpPr>
          <p:cNvPr id="30" name="Shape 27"/>
          <p:cNvSpPr/>
          <p:nvPr/>
        </p:nvSpPr>
        <p:spPr>
          <a:xfrm>
            <a:off x="9006840" y="4114800"/>
            <a:ext cx="1645920" cy="457200"/>
          </a:xfrm>
          <a:prstGeom prst="roundRect">
            <a:avLst>
              <a:gd name="adj" fmla="val 16000"/>
            </a:avLst>
          </a:prstGeom>
          <a:solidFill>
            <a:srgbClr val="B1FF37"/>
          </a:solidFill>
          <a:ln w="12700">
            <a:solidFill>
              <a:srgbClr val="B1FF37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9006840" y="41148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Minecraft</a:t>
            </a:r>
            <a:endParaRPr lang="en-US" sz="1400" dirty="0"/>
          </a:p>
        </p:txBody>
      </p:sp>
      <p:sp>
        <p:nvSpPr>
          <p:cNvPr id="32" name="Shape 29"/>
          <p:cNvSpPr/>
          <p:nvPr/>
        </p:nvSpPr>
        <p:spPr>
          <a:xfrm>
            <a:off x="7680960" y="4709160"/>
            <a:ext cx="1920240" cy="457200"/>
          </a:xfrm>
          <a:prstGeom prst="roundRect">
            <a:avLst>
              <a:gd name="adj" fmla="val 16000"/>
            </a:avLst>
          </a:prstGeom>
          <a:solidFill>
            <a:srgbClr val="B1FF37"/>
          </a:solidFill>
          <a:ln w="12700">
            <a:solidFill>
              <a:srgbClr val="B1FF3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7680960" y="47091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Kochrezepte</a:t>
            </a:r>
            <a:endParaRPr lang="en-US" sz="1400" dirty="0"/>
          </a:p>
        </p:txBody>
      </p:sp>
      <p:sp>
        <p:nvSpPr>
          <p:cNvPr id="34" name="Text 31"/>
          <p:cNvSpPr txBox="1"/>
          <p:nvPr/>
        </p:nvSpPr>
        <p:spPr>
          <a:xfrm>
            <a:off x="7680960" y="544068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5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Was zeigt dir die App – und warum?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640080" y="1097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672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Gedankenexperiment</a:t>
            </a:r>
            <a:endParaRPr lang="en-US" sz="18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1600200"/>
            <a:ext cx="56692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800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Zwei Handys. Dieselbe App. </a:t>
            </a:r>
            <a:pPr indent="0" marL="0">
              <a:lnSpc>
                <a:spcPct val="105000"/>
              </a:lnSpc>
              <a:buNone/>
            </a:pPr>
            <a:r>
              <a:rPr lang="en-US" sz="3800" dirty="0">
                <a:solidFill>
                  <a:srgbClr val="26720A"/>
                </a:solidFill>
                <a:highlight>
                  <a:srgbClr val="B1FF37"/>
                </a:highlight>
                <a:latin typeface="Poppins" pitchFamily="34" charset="0"/>
                <a:ea typeface="Poppins" pitchFamily="34" charset="-122"/>
                <a:cs typeface="Poppins" pitchFamily="34" charset="-120"/>
              </a:rPr>
              <a:t>Zwei völlig verschiedene Feeds.</a:t>
            </a:r>
            <a:endParaRPr lang="en-US" sz="38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4846320"/>
            <a:ext cx="5486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5B6B5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Kein Zufall: Ein Algorithmus stellt jeden Feed einzeln zusammen.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6583680" y="914400"/>
            <a:ext cx="2286000" cy="4297680"/>
          </a:xfrm>
          <a:prstGeom prst="roundRect">
            <a:avLst>
              <a:gd name="adj" fmla="val 12000"/>
            </a:avLst>
          </a:prstGeom>
          <a:solidFill>
            <a:srgbClr val="12301A"/>
          </a:solidFill>
          <a:ln w="12700">
            <a:solidFill>
              <a:srgbClr val="12301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675120" y="1005840"/>
            <a:ext cx="2103120" cy="4114800"/>
          </a:xfrm>
          <a:prstGeom prst="roundRect">
            <a:avLst>
              <a:gd name="adj" fmla="val 9565"/>
            </a:avLst>
          </a:prstGeom>
          <a:solidFill>
            <a:srgbClr val="FBFFF4"/>
          </a:solidFill>
          <a:ln w="12700">
            <a:solidFill>
              <a:srgbClr val="FBFFF4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675120" y="11887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Für dich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812280" y="1691640"/>
            <a:ext cx="1828800" cy="960120"/>
          </a:xfrm>
          <a:prstGeom prst="roundRect">
            <a:avLst>
              <a:gd name="adj" fmla="val 11429"/>
            </a:avLst>
          </a:prstGeom>
          <a:solidFill>
            <a:srgbClr val="B1FF37"/>
          </a:solidFill>
          <a:ln w="12700">
            <a:solidFill>
              <a:srgbClr val="B1FF37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949440" y="1691640"/>
            <a:ext cx="1554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Tanz-Challenge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812280" y="2834640"/>
            <a:ext cx="1828800" cy="960120"/>
          </a:xfrm>
          <a:prstGeom prst="roundRect">
            <a:avLst>
              <a:gd name="adj" fmla="val 11429"/>
            </a:avLst>
          </a:prstGeom>
          <a:solidFill>
            <a:srgbClr val="DDF3B8"/>
          </a:solidFill>
          <a:ln w="12700">
            <a:solidFill>
              <a:srgbClr val="DDF3B8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949440" y="2834640"/>
            <a:ext cx="1554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Choreo lernen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6812280" y="3977640"/>
            <a:ext cx="1828800" cy="960120"/>
          </a:xfrm>
          <a:prstGeom prst="roundRect">
            <a:avLst>
              <a:gd name="adj" fmla="val 11429"/>
            </a:avLst>
          </a:prstGeom>
          <a:solidFill>
            <a:srgbClr val="DDF3B8"/>
          </a:solidFill>
          <a:ln w="12700">
            <a:solidFill>
              <a:srgbClr val="DDF3B8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949440" y="3977640"/>
            <a:ext cx="1554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Duett-Tanz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6583680" y="53492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Handy A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9235440" y="914400"/>
            <a:ext cx="2286000" cy="4297680"/>
          </a:xfrm>
          <a:prstGeom prst="roundRect">
            <a:avLst>
              <a:gd name="adj" fmla="val 12000"/>
            </a:avLst>
          </a:prstGeom>
          <a:solidFill>
            <a:srgbClr val="12301A"/>
          </a:solidFill>
          <a:ln w="12700">
            <a:solidFill>
              <a:srgbClr val="12301A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9326880" y="1005840"/>
            <a:ext cx="2103120" cy="4114800"/>
          </a:xfrm>
          <a:prstGeom prst="roundRect">
            <a:avLst>
              <a:gd name="adj" fmla="val 9565"/>
            </a:avLst>
          </a:prstGeom>
          <a:solidFill>
            <a:srgbClr val="FBFFF4"/>
          </a:solidFill>
          <a:ln w="12700">
            <a:solidFill>
              <a:srgbClr val="FBFFF4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9326880" y="11887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Für dich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9464040" y="1691640"/>
            <a:ext cx="1828800" cy="960120"/>
          </a:xfrm>
          <a:prstGeom prst="roundRect">
            <a:avLst>
              <a:gd name="adj" fmla="val 11429"/>
            </a:avLst>
          </a:prstGeom>
          <a:solidFill>
            <a:srgbClr val="B1FF37"/>
          </a:solidFill>
          <a:ln w="12700">
            <a:solidFill>
              <a:srgbClr val="B1FF37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9601200" y="1691640"/>
            <a:ext cx="1554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Elfmeter-Highlights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9464040" y="2834640"/>
            <a:ext cx="1828800" cy="960120"/>
          </a:xfrm>
          <a:prstGeom prst="roundRect">
            <a:avLst>
              <a:gd name="adj" fmla="val 11429"/>
            </a:avLst>
          </a:prstGeom>
          <a:solidFill>
            <a:srgbClr val="DDF3B8"/>
          </a:solidFill>
          <a:ln w="12700">
            <a:solidFill>
              <a:srgbClr val="DDF3B8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9601200" y="2834640"/>
            <a:ext cx="1554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Tor des Monats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9464040" y="3977640"/>
            <a:ext cx="1828800" cy="960120"/>
          </a:xfrm>
          <a:prstGeom prst="roundRect">
            <a:avLst>
              <a:gd name="adj" fmla="val 11429"/>
            </a:avLst>
          </a:prstGeom>
          <a:solidFill>
            <a:srgbClr val="DDF3B8"/>
          </a:solidFill>
          <a:ln w="12700">
            <a:solidFill>
              <a:srgbClr val="DDF3B8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9601200" y="3977640"/>
            <a:ext cx="1554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Fußball-Tricks</a:t>
            </a:r>
            <a:endParaRPr lang="en-US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9235440" y="53492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Handy B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8778240" y="2788920"/>
            <a:ext cx="548640" cy="548640"/>
          </a:xfrm>
          <a:prstGeom prst="ellipse">
            <a:avLst/>
          </a:prstGeom>
          <a:solidFill>
            <a:srgbClr val="12301A"/>
          </a:solidFill>
          <a:ln w="12700">
            <a:solidFill>
              <a:srgbClr val="12301A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8778240" y="2788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1FF3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≠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640080" y="1097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672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Begriffsklärung</a:t>
            </a:r>
            <a:endParaRPr lang="en-US" sz="18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1600200"/>
            <a:ext cx="56692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Ein Algorithmus ist ein </a:t>
            </a:r>
            <a:pPr indent="0" marL="0">
              <a:lnSpc>
                <a:spcPct val="105000"/>
              </a:lnSpc>
              <a:buNone/>
            </a:pPr>
            <a:r>
              <a:rPr lang="en-US" sz="4000" dirty="0">
                <a:solidFill>
                  <a:srgbClr val="26720A"/>
                </a:solidFill>
                <a:highlight>
                  <a:srgbClr val="B1FF37"/>
                </a:highlight>
                <a:latin typeface="Poppins" pitchFamily="34" charset="0"/>
                <a:ea typeface="Poppins" pitchFamily="34" charset="-122"/>
                <a:cs typeface="Poppins" pitchFamily="34" charset="-120"/>
              </a:rPr>
              <a:t>Rezept</a:t>
            </a:r>
            <a:pPr indent="0" marL="0">
              <a:lnSpc>
                <a:spcPct val="105000"/>
              </a:lnSpc>
              <a:buNone/>
            </a:pPr>
            <a:r>
              <a:rPr lang="en-US" sz="4000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– Schritt für Schritt.</a:t>
            </a:r>
            <a:endParaRPr lang="en-US" sz="40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4846320"/>
            <a:ext cx="5486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5B6B5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Das Besondere: Er lernt ständig dazu. Darum spricht man von einem Empfehlungssystem.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6583680" y="914400"/>
            <a:ext cx="4937760" cy="1325880"/>
          </a:xfrm>
          <a:prstGeom prst="roundRect">
            <a:avLst>
              <a:gd name="adj" fmla="val 10345"/>
            </a:avLst>
          </a:prstGeom>
          <a:solidFill>
            <a:srgbClr val="FBFFF4"/>
          </a:solidFill>
          <a:ln w="15875">
            <a:solidFill>
              <a:srgbClr val="B8D98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812280" y="1097280"/>
            <a:ext cx="1737360" cy="365760"/>
          </a:xfrm>
          <a:prstGeom prst="roundRect">
            <a:avLst>
              <a:gd name="adj" fmla="val 20000"/>
            </a:avLst>
          </a:prstGeom>
          <a:solidFill>
            <a:srgbClr val="B1FF37"/>
          </a:solidFill>
          <a:ln w="12700">
            <a:solidFill>
              <a:srgbClr val="B1FF37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812280" y="10972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  Zutaten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6812280" y="1572768"/>
            <a:ext cx="4526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Infos über dich und Millionen von Videos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8869680" y="2304288"/>
            <a:ext cx="329184" cy="283464"/>
          </a:xfrm>
          <a:prstGeom prst="downArrow">
            <a:avLst/>
          </a:prstGeom>
          <a:solidFill>
            <a:srgbClr val="26720A"/>
          </a:solidFill>
          <a:ln w="12700">
            <a:solidFill>
              <a:srgbClr val="26720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583680" y="2651760"/>
            <a:ext cx="4937760" cy="1325880"/>
          </a:xfrm>
          <a:prstGeom prst="roundRect">
            <a:avLst>
              <a:gd name="adj" fmla="val 10345"/>
            </a:avLst>
          </a:prstGeom>
          <a:solidFill>
            <a:srgbClr val="FBFFF4"/>
          </a:solidFill>
          <a:ln w="15875">
            <a:solidFill>
              <a:srgbClr val="B8D98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812280" y="2834640"/>
            <a:ext cx="1737360" cy="365760"/>
          </a:xfrm>
          <a:prstGeom prst="roundRect">
            <a:avLst>
              <a:gd name="adj" fmla="val 20000"/>
            </a:avLst>
          </a:prstGeom>
          <a:solidFill>
            <a:srgbClr val="B1FF37"/>
          </a:solidFill>
          <a:ln w="12700">
            <a:solidFill>
              <a:srgbClr val="B1FF37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812280" y="28346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  Schritte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6812280" y="3310128"/>
            <a:ext cx="4526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Der Algorithmus rechnet – nach festen Regeln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8869680" y="4041648"/>
            <a:ext cx="329184" cy="283464"/>
          </a:xfrm>
          <a:prstGeom prst="downArrow">
            <a:avLst/>
          </a:prstGeom>
          <a:solidFill>
            <a:srgbClr val="26720A"/>
          </a:solidFill>
          <a:ln w="12700">
            <a:solidFill>
              <a:srgbClr val="26720A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583680" y="4389120"/>
            <a:ext cx="4937760" cy="1325880"/>
          </a:xfrm>
          <a:prstGeom prst="roundRect">
            <a:avLst>
              <a:gd name="adj" fmla="val 10345"/>
            </a:avLst>
          </a:prstGeom>
          <a:solidFill>
            <a:srgbClr val="FBFFF4"/>
          </a:solidFill>
          <a:ln w="15875">
            <a:solidFill>
              <a:srgbClr val="B8D98A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812280" y="4572000"/>
            <a:ext cx="1737360" cy="365760"/>
          </a:xfrm>
          <a:prstGeom prst="roundRect">
            <a:avLst>
              <a:gd name="adj" fmla="val 20000"/>
            </a:avLst>
          </a:prstGeom>
          <a:solidFill>
            <a:srgbClr val="B1FF37"/>
          </a:solidFill>
          <a:ln w="12700">
            <a:solidFill>
              <a:srgbClr val="B1FF37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812280" y="45720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  Ergebnis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6812280" y="5047488"/>
            <a:ext cx="4526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Eine Reihenfolge: Welches Video kommt als Nächstes?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640080" y="6858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672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Das Ziel</a:t>
            </a:r>
            <a:endParaRPr lang="en-US" sz="18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1143000"/>
            <a:ext cx="10881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4400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TikTok ist kostenlos. Bezahlt wird mit </a:t>
            </a:r>
            <a:pPr indent="0" marL="0">
              <a:lnSpc>
                <a:spcPct val="105000"/>
              </a:lnSpc>
              <a:buNone/>
            </a:pPr>
            <a:r>
              <a:rPr lang="en-US" sz="4400" dirty="0">
                <a:solidFill>
                  <a:srgbClr val="26720A"/>
                </a:solidFill>
                <a:highlight>
                  <a:srgbClr val="B1FF37"/>
                </a:highlight>
                <a:latin typeface="Poppins" pitchFamily="34" charset="0"/>
                <a:ea typeface="Poppins" pitchFamily="34" charset="-122"/>
                <a:cs typeface="Poppins" pitchFamily="34" charset="-120"/>
              </a:rPr>
              <a:t>deiner Zeit.</a:t>
            </a:r>
            <a:endParaRPr lang="en-US" sz="44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27432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5B6B5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Geld verdient TikTok vor allem mit Werbung.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640080" y="3657600"/>
            <a:ext cx="3200400" cy="2286000"/>
          </a:xfrm>
          <a:prstGeom prst="roundRect">
            <a:avLst>
              <a:gd name="adj" fmla="val 6000"/>
            </a:avLst>
          </a:prstGeom>
          <a:solidFill>
            <a:srgbClr val="FBFFF4"/>
          </a:solidFill>
          <a:ln w="15875">
            <a:solidFill>
              <a:srgbClr val="B8D98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914400" y="3931920"/>
            <a:ext cx="548640" cy="548640"/>
          </a:xfrm>
          <a:prstGeom prst="ellipse">
            <a:avLst/>
          </a:prstGeom>
          <a:solidFill>
            <a:srgbClr val="B1FF37"/>
          </a:solidFill>
          <a:ln w="12700">
            <a:solidFill>
              <a:srgbClr val="B1FF37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914400" y="3931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914400" y="4663440"/>
            <a:ext cx="2697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Du bleibst länger in der App</a:t>
            </a:r>
            <a:endParaRPr lang="en-US" sz="1900" dirty="0"/>
          </a:p>
        </p:txBody>
      </p:sp>
      <p:sp>
        <p:nvSpPr>
          <p:cNvPr id="10" name="Shape 7"/>
          <p:cNvSpPr/>
          <p:nvPr/>
        </p:nvSpPr>
        <p:spPr>
          <a:xfrm>
            <a:off x="3886200" y="4617720"/>
            <a:ext cx="548640" cy="365760"/>
          </a:xfrm>
          <a:prstGeom prst="rightArrow">
            <a:avLst/>
          </a:prstGeom>
          <a:solidFill>
            <a:srgbClr val="26720A"/>
          </a:solidFill>
          <a:ln w="12700">
            <a:solidFill>
              <a:srgbClr val="26720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480560" y="3657600"/>
            <a:ext cx="3200400" cy="2286000"/>
          </a:xfrm>
          <a:prstGeom prst="roundRect">
            <a:avLst>
              <a:gd name="adj" fmla="val 6000"/>
            </a:avLst>
          </a:prstGeom>
          <a:solidFill>
            <a:srgbClr val="FBFFF4"/>
          </a:solidFill>
          <a:ln w="15875">
            <a:solidFill>
              <a:srgbClr val="B8D98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754880" y="3931920"/>
            <a:ext cx="548640" cy="548640"/>
          </a:xfrm>
          <a:prstGeom prst="ellipse">
            <a:avLst/>
          </a:prstGeom>
          <a:solidFill>
            <a:srgbClr val="B1FF37"/>
          </a:solidFill>
          <a:ln w="12700">
            <a:solidFill>
              <a:srgbClr val="B1FF37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754880" y="3931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1"/>
          <p:cNvSpPr txBox="1"/>
          <p:nvPr/>
        </p:nvSpPr>
        <p:spPr>
          <a:xfrm>
            <a:off x="4754880" y="4663440"/>
            <a:ext cx="2697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Mehr Werbung kann ausgespielt werden</a:t>
            </a:r>
            <a:endParaRPr lang="en-US" sz="1900" dirty="0"/>
          </a:p>
        </p:txBody>
      </p:sp>
      <p:sp>
        <p:nvSpPr>
          <p:cNvPr id="15" name="Shape 12"/>
          <p:cNvSpPr/>
          <p:nvPr/>
        </p:nvSpPr>
        <p:spPr>
          <a:xfrm>
            <a:off x="7726680" y="4617720"/>
            <a:ext cx="548640" cy="365760"/>
          </a:xfrm>
          <a:prstGeom prst="rightArrow">
            <a:avLst/>
          </a:prstGeom>
          <a:solidFill>
            <a:srgbClr val="26720A"/>
          </a:solidFill>
          <a:ln w="12700">
            <a:solidFill>
              <a:srgbClr val="26720A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8321040" y="3657600"/>
            <a:ext cx="3200400" cy="2286000"/>
          </a:xfrm>
          <a:prstGeom prst="roundRect">
            <a:avLst>
              <a:gd name="adj" fmla="val 6000"/>
            </a:avLst>
          </a:prstGeom>
          <a:solidFill>
            <a:srgbClr val="FBFFF4"/>
          </a:solidFill>
          <a:ln w="15875">
            <a:solidFill>
              <a:srgbClr val="B8D98A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595360" y="3931920"/>
            <a:ext cx="548640" cy="548640"/>
          </a:xfrm>
          <a:prstGeom prst="ellipse">
            <a:avLst/>
          </a:prstGeom>
          <a:solidFill>
            <a:srgbClr val="B1FF37"/>
          </a:solidFill>
          <a:ln w="12700">
            <a:solidFill>
              <a:srgbClr val="B1FF37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595360" y="3931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6"/>
          <p:cNvSpPr txBox="1"/>
          <p:nvPr/>
        </p:nvSpPr>
        <p:spPr>
          <a:xfrm>
            <a:off x="8595360" y="4663440"/>
            <a:ext cx="2697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Mehr Geld für TikTok – mit dir</a:t>
            </a:r>
            <a:endParaRPr lang="en-US" sz="1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640080" y="1097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B1FF3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Das Design</a:t>
            </a:r>
            <a:endParaRPr lang="en-US" sz="18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1600200"/>
            <a:ext cx="56692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4600" dirty="0">
                <a:solidFill>
                  <a:srgbClr val="EFFBD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Der Feed hat </a:t>
            </a:r>
            <a:pPr indent="0" marL="0">
              <a:lnSpc>
                <a:spcPct val="105000"/>
              </a:lnSpc>
              <a:buNone/>
            </a:pPr>
            <a:r>
              <a:rPr lang="en-US" sz="4600" dirty="0">
                <a:solidFill>
                  <a:srgbClr val="B1FF3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kein Ende.</a:t>
            </a:r>
            <a:endParaRPr lang="en-US" sz="46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4114800"/>
            <a:ext cx="5486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A9C79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Genau darauf ist die ganze App ausgelegt.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6583680" y="914400"/>
            <a:ext cx="2377440" cy="2423160"/>
          </a:xfrm>
          <a:prstGeom prst="roundRect">
            <a:avLst>
              <a:gd name="adj" fmla="val 5769"/>
            </a:avLst>
          </a:prstGeom>
          <a:solidFill>
            <a:srgbClr val="1B4527"/>
          </a:solidFill>
          <a:ln w="15875">
            <a:solidFill>
              <a:srgbClr val="2F6B3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812280" y="114300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B1FF3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Endlos scrollen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6812280" y="1783080"/>
            <a:ext cx="1965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EFFBD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Es gibt keine letzte Seite, an der du aufhörst.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9144000" y="914400"/>
            <a:ext cx="2377440" cy="2423160"/>
          </a:xfrm>
          <a:prstGeom prst="roundRect">
            <a:avLst>
              <a:gd name="adj" fmla="val 5769"/>
            </a:avLst>
          </a:prstGeom>
          <a:solidFill>
            <a:srgbClr val="1B4527"/>
          </a:solidFill>
          <a:ln w="15875">
            <a:solidFill>
              <a:srgbClr val="2F6B3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9372600" y="114300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B1FF3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Autoplay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9372600" y="1783080"/>
            <a:ext cx="1965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EFFBD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Das nächste Video startet von selbst.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6583680" y="3520440"/>
            <a:ext cx="2377440" cy="2423160"/>
          </a:xfrm>
          <a:prstGeom prst="roundRect">
            <a:avLst>
              <a:gd name="adj" fmla="val 5769"/>
            </a:avLst>
          </a:prstGeom>
          <a:solidFill>
            <a:srgbClr val="1B4527"/>
          </a:solidFill>
          <a:ln w="15875">
            <a:solidFill>
              <a:srgbClr val="2F6B3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812280" y="374904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B1FF3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Ungewissheit</a:t>
            </a:r>
            <a:endParaRPr lang="en-US" sz="1800" dirty="0"/>
          </a:p>
        </p:txBody>
      </p:sp>
      <p:sp>
        <p:nvSpPr>
          <p:cNvPr id="14" name="Text 11"/>
          <p:cNvSpPr txBox="1"/>
          <p:nvPr/>
        </p:nvSpPr>
        <p:spPr>
          <a:xfrm>
            <a:off x="6812280" y="4389120"/>
            <a:ext cx="1965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EFFBD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Langweilig oder richtig gut? Wie beim Spielautomaten.</a:t>
            </a:r>
            <a:endParaRPr lang="en-US" sz="1700" dirty="0"/>
          </a:p>
        </p:txBody>
      </p:sp>
      <p:sp>
        <p:nvSpPr>
          <p:cNvPr id="15" name="Shape 12"/>
          <p:cNvSpPr/>
          <p:nvPr/>
        </p:nvSpPr>
        <p:spPr>
          <a:xfrm>
            <a:off x="9144000" y="3520440"/>
            <a:ext cx="2377440" cy="2423160"/>
          </a:xfrm>
          <a:prstGeom prst="roundRect">
            <a:avLst>
              <a:gd name="adj" fmla="val 5769"/>
            </a:avLst>
          </a:prstGeom>
          <a:solidFill>
            <a:srgbClr val="1B4527"/>
          </a:solidFill>
          <a:ln w="15875">
            <a:solidFill>
              <a:srgbClr val="2F6B3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372600" y="374904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B1FF3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Mitteilungen</a:t>
            </a:r>
            <a:endParaRPr lang="en-US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9372600" y="4389120"/>
            <a:ext cx="1965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EFFBD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Push-Nachrichten rufen dich zurück in die App.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640080" y="1097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B1FF3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Anfang 2026</a:t>
            </a:r>
            <a:endParaRPr lang="en-US" sz="18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1600200"/>
            <a:ext cx="56692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800" dirty="0">
                <a:solidFill>
                  <a:srgbClr val="EFFBD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Die EU-Kommission sieht einen </a:t>
            </a:r>
            <a:pPr indent="0" marL="0">
              <a:lnSpc>
                <a:spcPct val="105000"/>
              </a:lnSpc>
              <a:buNone/>
            </a:pPr>
            <a:r>
              <a:rPr lang="en-US" sz="3800" dirty="0">
                <a:solidFill>
                  <a:srgbClr val="B1FF3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Verstoß</a:t>
            </a:r>
            <a:pPr indent="0" marL="0">
              <a:lnSpc>
                <a:spcPct val="105000"/>
              </a:lnSpc>
              <a:buNone/>
            </a:pPr>
            <a:r>
              <a:rPr lang="en-US" sz="3800" dirty="0">
                <a:solidFill>
                  <a:srgbClr val="EFFBD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gegen EU-Recht.</a:t>
            </a:r>
            <a:endParaRPr lang="en-US" sz="38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4846320"/>
            <a:ext cx="5486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A9C79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Vorläufige Feststellung. TikTok weist die Vorwürfe zurück.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6583680" y="822960"/>
            <a:ext cx="4937760" cy="5212080"/>
          </a:xfrm>
          <a:prstGeom prst="roundRect">
            <a:avLst>
              <a:gd name="adj" fmla="val 2222"/>
            </a:avLst>
          </a:prstGeom>
          <a:solidFill>
            <a:srgbClr val="FBFFF4"/>
          </a:solidFill>
          <a:ln w="15875">
            <a:solidFill>
              <a:srgbClr val="B8D98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583680" y="822960"/>
            <a:ext cx="4937760" cy="822960"/>
          </a:xfrm>
          <a:prstGeom prst="roundRect">
            <a:avLst>
              <a:gd name="adj" fmla="val 13333"/>
            </a:avLst>
          </a:prstGeom>
          <a:solidFill>
            <a:srgbClr val="12301A"/>
          </a:solidFill>
          <a:ln w="12700">
            <a:solidFill>
              <a:srgbClr val="12301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592824" y="1234440"/>
            <a:ext cx="4919472" cy="457200"/>
          </a:xfrm>
          <a:prstGeom prst="rect">
            <a:avLst/>
          </a:prstGeom>
          <a:solidFill>
            <a:srgbClr val="DDF3B8"/>
          </a:solidFill>
          <a:ln w="12700">
            <a:solidFill>
              <a:srgbClr val="DDF3B8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9326880" y="87782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FBFF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2026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766560" y="1280160"/>
            <a:ext cx="1920240" cy="411480"/>
          </a:xfrm>
          <a:prstGeom prst="roundRect">
            <a:avLst>
              <a:gd name="adj" fmla="val 17778"/>
            </a:avLst>
          </a:prstGeom>
          <a:solidFill>
            <a:srgbClr val="FBFFF4"/>
          </a:solidFill>
          <a:ln w="12700">
            <a:solidFill>
              <a:srgbClr val="FBFFF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894576" y="1408176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DDF3B8"/>
          </a:solidFill>
          <a:ln w="6350">
            <a:solidFill>
              <a:srgbClr val="B8D98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132320" y="128016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EU-Kommission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6812280" y="19202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Endloses Scrollen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9875520" y="1975104"/>
            <a:ext cx="1417320" cy="347472"/>
          </a:xfrm>
          <a:prstGeom prst="roundRect">
            <a:avLst>
              <a:gd name="adj" fmla="val 21053"/>
            </a:avLst>
          </a:prstGeom>
          <a:solidFill>
            <a:srgbClr val="B1FF37"/>
          </a:solidFill>
          <a:ln w="12700">
            <a:solidFill>
              <a:srgbClr val="B1FF37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9875520" y="1975104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kritisiert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6812280" y="2487168"/>
            <a:ext cx="4480560" cy="0"/>
          </a:xfrm>
          <a:prstGeom prst="line">
            <a:avLst/>
          </a:prstGeom>
          <a:noFill/>
          <a:ln w="12700">
            <a:solidFill>
              <a:srgbClr val="B8D98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812280" y="25603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Automatisches Abspielen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9875520" y="2615184"/>
            <a:ext cx="1417320" cy="347472"/>
          </a:xfrm>
          <a:prstGeom prst="roundRect">
            <a:avLst>
              <a:gd name="adj" fmla="val 21053"/>
            </a:avLst>
          </a:prstGeom>
          <a:solidFill>
            <a:srgbClr val="B1FF37"/>
          </a:solidFill>
          <a:ln w="12700">
            <a:solidFill>
              <a:srgbClr val="B1FF37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9875520" y="2615184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kritisiert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6812280" y="3127248"/>
            <a:ext cx="4480560" cy="0"/>
          </a:xfrm>
          <a:prstGeom prst="line">
            <a:avLst/>
          </a:prstGeom>
          <a:noFill/>
          <a:ln w="12700">
            <a:solidFill>
              <a:srgbClr val="B8D98A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812280" y="32004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Push-Benachrichtigungen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9875520" y="3255264"/>
            <a:ext cx="1417320" cy="347472"/>
          </a:xfrm>
          <a:prstGeom prst="roundRect">
            <a:avLst>
              <a:gd name="adj" fmla="val 21053"/>
            </a:avLst>
          </a:prstGeom>
          <a:solidFill>
            <a:srgbClr val="B1FF37"/>
          </a:solidFill>
          <a:ln w="12700">
            <a:solidFill>
              <a:srgbClr val="B1FF37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9875520" y="3255264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kritisiert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6812280" y="3767328"/>
            <a:ext cx="4480560" cy="0"/>
          </a:xfrm>
          <a:prstGeom prst="line">
            <a:avLst/>
          </a:prstGeom>
          <a:noFill/>
          <a:ln w="12700">
            <a:solidFill>
              <a:srgbClr val="B8D98A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812280" y="38404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Empfehlungssystem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9875520" y="3895344"/>
            <a:ext cx="1417320" cy="347472"/>
          </a:xfrm>
          <a:prstGeom prst="roundRect">
            <a:avLst>
              <a:gd name="adj" fmla="val 21053"/>
            </a:avLst>
          </a:prstGeom>
          <a:solidFill>
            <a:srgbClr val="B1FF37"/>
          </a:solidFill>
          <a:ln w="12700">
            <a:solidFill>
              <a:srgbClr val="B1FF37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9875520" y="3895344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kritisiert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6812280" y="4407408"/>
            <a:ext cx="4480560" cy="0"/>
          </a:xfrm>
          <a:prstGeom prst="line">
            <a:avLst/>
          </a:prstGeom>
          <a:noFill/>
          <a:ln w="12700">
            <a:solidFill>
              <a:srgbClr val="B8D98A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6812280" y="4663440"/>
            <a:ext cx="4480560" cy="1188720"/>
          </a:xfrm>
          <a:prstGeom prst="roundRect">
            <a:avLst>
              <a:gd name="adj" fmla="val 11538"/>
            </a:avLst>
          </a:prstGeom>
          <a:solidFill>
            <a:srgbClr val="DDF3B8"/>
          </a:solidFill>
          <a:ln w="15875">
            <a:solidFill>
              <a:srgbClr val="DDF3B8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6995160" y="4754880"/>
            <a:ext cx="4114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Laut Kommission: Autopilot im Kopf – besonders bei Kindern und Jugendlichen.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640080" y="6858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B1FF3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Das Ziel</a:t>
            </a:r>
            <a:endParaRPr lang="en-US" sz="18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1188720"/>
            <a:ext cx="108813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4800" dirty="0">
                <a:solidFill>
                  <a:srgbClr val="EFFBD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Das Ziel ist nicht, dass du dich gut fühlst. </a:t>
            </a:r>
            <a:pPr indent="0" marL="0">
              <a:lnSpc>
                <a:spcPct val="105000"/>
              </a:lnSpc>
              <a:buNone/>
            </a:pPr>
            <a:r>
              <a:rPr lang="en-US" sz="4800" dirty="0">
                <a:solidFill>
                  <a:srgbClr val="B1FF3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Das Ziel ist, dass du bleibst.</a:t>
            </a:r>
            <a:endParaRPr lang="en-US" sz="4800" dirty="0"/>
          </a:p>
        </p:txBody>
      </p:sp>
      <p:sp>
        <p:nvSpPr>
          <p:cNvPr id="5" name="Shape 2"/>
          <p:cNvSpPr/>
          <p:nvPr/>
        </p:nvSpPr>
        <p:spPr>
          <a:xfrm>
            <a:off x="640080" y="4572000"/>
            <a:ext cx="7498080" cy="914400"/>
          </a:xfrm>
          <a:prstGeom prst="roundRect">
            <a:avLst>
              <a:gd name="adj" fmla="val 20000"/>
            </a:avLst>
          </a:prstGeom>
          <a:solidFill>
            <a:srgbClr val="B1FF37"/>
          </a:solidFill>
          <a:ln w="12700">
            <a:solidFill>
              <a:srgbClr val="B1FF3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40080" y="457200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Deine Aufmerksamkeit ist die Währung.</a:t>
            </a:r>
            <a:endParaRPr lang="en-US" sz="2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640080" y="6858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672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Die Signale</a:t>
            </a:r>
            <a:endParaRPr lang="en-US" sz="18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1097280"/>
            <a:ext cx="10881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TikTok sammelt </a:t>
            </a:r>
            <a:pPr indent="0" marL="0">
              <a:lnSpc>
                <a:spcPct val="105000"/>
              </a:lnSpc>
              <a:buNone/>
            </a:pPr>
            <a:r>
              <a:rPr lang="en-US" sz="4000" dirty="0">
                <a:solidFill>
                  <a:srgbClr val="26720A"/>
                </a:solidFill>
                <a:highlight>
                  <a:srgbClr val="B1FF37"/>
                </a:highlight>
                <a:latin typeface="Poppins" pitchFamily="34" charset="0"/>
                <a:ea typeface="Poppins" pitchFamily="34" charset="-122"/>
                <a:cs typeface="Poppins" pitchFamily="34" charset="-120"/>
              </a:rPr>
              <a:t>drei Arten</a:t>
            </a:r>
            <a:pPr indent="0" marL="0">
              <a:lnSpc>
                <a:spcPct val="105000"/>
              </a:lnSpc>
              <a:buNone/>
            </a:pPr>
            <a:r>
              <a:rPr lang="en-US" sz="4000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von Signalen.</a:t>
            </a:r>
            <a:endParaRPr lang="en-US" sz="4000" dirty="0"/>
          </a:p>
        </p:txBody>
      </p:sp>
      <p:sp>
        <p:nvSpPr>
          <p:cNvPr id="5" name="Shape 2"/>
          <p:cNvSpPr/>
          <p:nvPr/>
        </p:nvSpPr>
        <p:spPr>
          <a:xfrm>
            <a:off x="640080" y="2651760"/>
            <a:ext cx="3474720" cy="2606040"/>
          </a:xfrm>
          <a:prstGeom prst="roundRect">
            <a:avLst>
              <a:gd name="adj" fmla="val 5263"/>
            </a:avLst>
          </a:prstGeom>
          <a:solidFill>
            <a:srgbClr val="FBFFF4"/>
          </a:solidFill>
          <a:ln w="15875">
            <a:solidFill>
              <a:srgbClr val="B8D98A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68680" y="2834640"/>
            <a:ext cx="2560320" cy="411480"/>
          </a:xfrm>
          <a:prstGeom prst="roundRect">
            <a:avLst>
              <a:gd name="adj" fmla="val 17778"/>
            </a:avLst>
          </a:prstGeom>
          <a:solidFill>
            <a:srgbClr val="B1FF37"/>
          </a:solidFill>
          <a:ln w="12700">
            <a:solidFill>
              <a:srgbClr val="B1FF37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68680" y="28346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  Deine Aktionen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3429000"/>
            <a:ext cx="3063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Liken, teilen, kommentieren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Accounts folgen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Wie lange du schaust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Was du sofort wegwischst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4343400" y="2651760"/>
            <a:ext cx="3474720" cy="2606040"/>
          </a:xfrm>
          <a:prstGeom prst="roundRect">
            <a:avLst>
              <a:gd name="adj" fmla="val 5263"/>
            </a:avLst>
          </a:prstGeom>
          <a:solidFill>
            <a:srgbClr val="FBFFF4"/>
          </a:solidFill>
          <a:ln w="15875">
            <a:solidFill>
              <a:srgbClr val="B8D98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2000" y="2834640"/>
            <a:ext cx="2560320" cy="411480"/>
          </a:xfrm>
          <a:prstGeom prst="roundRect">
            <a:avLst>
              <a:gd name="adj" fmla="val 17778"/>
            </a:avLst>
          </a:prstGeom>
          <a:solidFill>
            <a:srgbClr val="B1FF37"/>
          </a:solidFill>
          <a:ln w="12700">
            <a:solidFill>
              <a:srgbClr val="B1FF37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572000" y="28346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  Infos zum Video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4572000" y="3429000"/>
            <a:ext cx="3063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Beschreibung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Hashtags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Der verwendete Sound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8046720" y="2651760"/>
            <a:ext cx="3474720" cy="2606040"/>
          </a:xfrm>
          <a:prstGeom prst="roundRect">
            <a:avLst>
              <a:gd name="adj" fmla="val 5263"/>
            </a:avLst>
          </a:prstGeom>
          <a:solidFill>
            <a:srgbClr val="FBFFF4"/>
          </a:solidFill>
          <a:ln w="15875">
            <a:solidFill>
              <a:srgbClr val="B8D98A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8275320" y="2834640"/>
            <a:ext cx="2560320" cy="411480"/>
          </a:xfrm>
          <a:prstGeom prst="roundRect">
            <a:avLst>
              <a:gd name="adj" fmla="val 17778"/>
            </a:avLst>
          </a:prstGeom>
          <a:solidFill>
            <a:srgbClr val="B1FF37"/>
          </a:solidFill>
          <a:ln w="12700">
            <a:solidFill>
              <a:srgbClr val="B1FF37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275320" y="28346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  Gerät &amp; Konto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8275320" y="3429000"/>
            <a:ext cx="3063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Sprache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Land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Handymodell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640080" y="5486400"/>
            <a:ext cx="10881360" cy="731520"/>
          </a:xfrm>
          <a:prstGeom prst="roundRect">
            <a:avLst>
              <a:gd name="adj" fmla="val 18750"/>
            </a:avLst>
          </a:prstGeom>
          <a:solidFill>
            <a:srgbClr val="12301A"/>
          </a:solidFill>
          <a:ln w="12700">
            <a:solidFill>
              <a:srgbClr val="12301A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40080" y="548640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1FF3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Daraus berechnet TikTok für jedes Video: Wie wahrscheinlich gefällt es dir?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640080" y="1097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672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Gewichtung</a:t>
            </a:r>
            <a:endParaRPr lang="en-US" sz="18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1600200"/>
            <a:ext cx="56692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4200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Nicht jedes Signal zählt </a:t>
            </a:r>
            <a:pPr indent="0" marL="0">
              <a:lnSpc>
                <a:spcPct val="105000"/>
              </a:lnSpc>
              <a:buNone/>
            </a:pPr>
            <a:r>
              <a:rPr lang="en-US" sz="4200" dirty="0">
                <a:solidFill>
                  <a:srgbClr val="26720A"/>
                </a:solidFill>
                <a:highlight>
                  <a:srgbClr val="B1FF37"/>
                </a:highlight>
                <a:latin typeface="Poppins" pitchFamily="34" charset="0"/>
                <a:ea typeface="Poppins" pitchFamily="34" charset="-122"/>
                <a:cs typeface="Poppins" pitchFamily="34" charset="-120"/>
              </a:rPr>
              <a:t>gleich viel.</a:t>
            </a:r>
            <a:endParaRPr lang="en-US" sz="4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4389120"/>
            <a:ext cx="5486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5B6B5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Du musst nichts liken: Zuschauen ist quasi ein stilles Like.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6583680" y="914400"/>
            <a:ext cx="4937760" cy="4572000"/>
          </a:xfrm>
          <a:prstGeom prst="roundRect">
            <a:avLst>
              <a:gd name="adj" fmla="val 2400"/>
            </a:avLst>
          </a:prstGeom>
          <a:solidFill>
            <a:srgbClr val="FBFFF4"/>
          </a:solidFill>
          <a:ln w="15875">
            <a:solidFill>
              <a:srgbClr val="B8D98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583680" y="914400"/>
            <a:ext cx="4937760" cy="822960"/>
          </a:xfrm>
          <a:prstGeom prst="roundRect">
            <a:avLst>
              <a:gd name="adj" fmla="val 13333"/>
            </a:avLst>
          </a:prstGeom>
          <a:solidFill>
            <a:srgbClr val="12301A"/>
          </a:solidFill>
          <a:ln w="12700">
            <a:solidFill>
              <a:srgbClr val="12301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592824" y="1325880"/>
            <a:ext cx="4919472" cy="457200"/>
          </a:xfrm>
          <a:prstGeom prst="rect">
            <a:avLst/>
          </a:prstGeom>
          <a:solidFill>
            <a:srgbClr val="DDF3B8"/>
          </a:solidFill>
          <a:ln w="12700">
            <a:solidFill>
              <a:srgbClr val="DDF3B8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9326880" y="96926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FBFF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Signale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766560" y="1371600"/>
            <a:ext cx="1920240" cy="411480"/>
          </a:xfrm>
          <a:prstGeom prst="roundRect">
            <a:avLst>
              <a:gd name="adj" fmla="val 17778"/>
            </a:avLst>
          </a:prstGeom>
          <a:solidFill>
            <a:srgbClr val="FBFFF4"/>
          </a:solidFill>
          <a:ln w="12700">
            <a:solidFill>
              <a:srgbClr val="FBFFF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894576" y="1499616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DDF3B8"/>
          </a:solidFill>
          <a:ln w="6350">
            <a:solidFill>
              <a:srgbClr val="B8D98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132320" y="137160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Gewichtung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6858000" y="205740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Längeres Video bis zum Ende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6858000" y="2560320"/>
            <a:ext cx="4389120" cy="320040"/>
          </a:xfrm>
          <a:prstGeom prst="roundRect">
            <a:avLst>
              <a:gd name="adj" fmla="val 28571"/>
            </a:avLst>
          </a:prstGeom>
          <a:solidFill>
            <a:srgbClr val="DDF3B8"/>
          </a:solidFill>
          <a:ln w="12700">
            <a:solidFill>
              <a:srgbClr val="DDF3B8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858000" y="2560320"/>
            <a:ext cx="4297680" cy="320040"/>
          </a:xfrm>
          <a:prstGeom prst="roundRect">
            <a:avLst>
              <a:gd name="adj" fmla="val 28571"/>
            </a:avLst>
          </a:prstGeom>
          <a:solidFill>
            <a:srgbClr val="26720A"/>
          </a:solidFill>
          <a:ln w="12700">
            <a:solidFill>
              <a:srgbClr val="26720A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858000" y="3017520"/>
            <a:ext cx="2011680" cy="365760"/>
          </a:xfrm>
          <a:prstGeom prst="roundRect">
            <a:avLst>
              <a:gd name="adj" fmla="val 20000"/>
            </a:avLst>
          </a:prstGeom>
          <a:solidFill>
            <a:srgbClr val="B1FF37"/>
          </a:solidFill>
          <a:ln w="12700">
            <a:solidFill>
              <a:srgbClr val="B1FF37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858000" y="30175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starkes Signal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6858000" y="374904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Gleiches Land wie die Creator:in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6858000" y="4251960"/>
            <a:ext cx="4389120" cy="320040"/>
          </a:xfrm>
          <a:prstGeom prst="roundRect">
            <a:avLst>
              <a:gd name="adj" fmla="val 28571"/>
            </a:avLst>
          </a:prstGeom>
          <a:solidFill>
            <a:srgbClr val="DDF3B8"/>
          </a:solidFill>
          <a:ln w="12700">
            <a:solidFill>
              <a:srgbClr val="DDF3B8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858000" y="4251960"/>
            <a:ext cx="731520" cy="320040"/>
          </a:xfrm>
          <a:prstGeom prst="roundRect">
            <a:avLst>
              <a:gd name="adj" fmla="val 28571"/>
            </a:avLst>
          </a:prstGeom>
          <a:solidFill>
            <a:srgbClr val="B8D98A"/>
          </a:solidFill>
          <a:ln w="12700">
            <a:solidFill>
              <a:srgbClr val="B8D98A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858000" y="4709160"/>
            <a:ext cx="2011680" cy="365760"/>
          </a:xfrm>
          <a:prstGeom prst="roundRect">
            <a:avLst>
              <a:gd name="adj" fmla="val 20000"/>
            </a:avLst>
          </a:prstGeom>
          <a:solidFill>
            <a:srgbClr val="DDF3B8"/>
          </a:solidFill>
          <a:ln w="12700">
            <a:solidFill>
              <a:srgbClr val="DDF3B8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858000" y="47091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schwaches Signal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640080" y="1097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672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Der Kreislauf</a:t>
            </a:r>
            <a:endParaRPr lang="en-US" sz="18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1600200"/>
            <a:ext cx="56692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Das passiert bei </a:t>
            </a:r>
            <a:pPr indent="0" marL="0">
              <a:lnSpc>
                <a:spcPct val="105000"/>
              </a:lnSpc>
              <a:buNone/>
            </a:pPr>
            <a:r>
              <a:rPr lang="en-US" sz="4000" dirty="0">
                <a:solidFill>
                  <a:srgbClr val="26720A"/>
                </a:solidFill>
                <a:highlight>
                  <a:srgbClr val="B1FF37"/>
                </a:highlight>
                <a:latin typeface="Poppins" pitchFamily="34" charset="0"/>
                <a:ea typeface="Poppins" pitchFamily="34" charset="-122"/>
                <a:cs typeface="Poppins" pitchFamily="34" charset="-120"/>
              </a:rPr>
              <a:t>jedem einzelnen</a:t>
            </a:r>
            <a:pPr indent="0" marL="0">
              <a:lnSpc>
                <a:spcPct val="105000"/>
              </a:lnSpc>
              <a:buNone/>
            </a:pPr>
            <a:r>
              <a:rPr lang="en-US" sz="4000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Video.</a:t>
            </a:r>
            <a:endParaRPr lang="en-US" sz="40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4389120"/>
            <a:ext cx="5486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5B6B5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Darum wirkt der Feed schon nach kurzer Zeit so, als würde er dich richtig gut kennen.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6675120" y="1005840"/>
            <a:ext cx="2286000" cy="1645920"/>
          </a:xfrm>
          <a:prstGeom prst="roundRect">
            <a:avLst>
              <a:gd name="adj" fmla="val 8333"/>
            </a:avLst>
          </a:prstGeom>
          <a:solidFill>
            <a:srgbClr val="FBFFF4"/>
          </a:solidFill>
          <a:ln w="15875">
            <a:solidFill>
              <a:srgbClr val="B8D98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858000" y="1170432"/>
            <a:ext cx="457200" cy="457200"/>
          </a:xfrm>
          <a:prstGeom prst="ellipse">
            <a:avLst/>
          </a:prstGeom>
          <a:solidFill>
            <a:srgbClr val="B1FF37"/>
          </a:solidFill>
          <a:ln w="12700">
            <a:solidFill>
              <a:srgbClr val="B1FF37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858000" y="11704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6858000" y="1783080"/>
            <a:ext cx="1965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Du siehst ein Video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9326880" y="1005840"/>
            <a:ext cx="2286000" cy="1645920"/>
          </a:xfrm>
          <a:prstGeom prst="roundRect">
            <a:avLst>
              <a:gd name="adj" fmla="val 8333"/>
            </a:avLst>
          </a:prstGeom>
          <a:solidFill>
            <a:srgbClr val="FBFFF4"/>
          </a:solidFill>
          <a:ln w="15875">
            <a:solidFill>
              <a:srgbClr val="B8D98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509760" y="1170432"/>
            <a:ext cx="457200" cy="457200"/>
          </a:xfrm>
          <a:prstGeom prst="ellipse">
            <a:avLst/>
          </a:prstGeom>
          <a:solidFill>
            <a:srgbClr val="B1FF37"/>
          </a:solidFill>
          <a:ln w="12700">
            <a:solidFill>
              <a:srgbClr val="B1FF37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9509760" y="11704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9509760" y="1783080"/>
            <a:ext cx="1965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Du reagierst – oder nicht</a:t>
            </a:r>
            <a:endParaRPr lang="en-US" sz="1700" dirty="0"/>
          </a:p>
        </p:txBody>
      </p:sp>
      <p:sp>
        <p:nvSpPr>
          <p:cNvPr id="14" name="Shape 11"/>
          <p:cNvSpPr/>
          <p:nvPr/>
        </p:nvSpPr>
        <p:spPr>
          <a:xfrm>
            <a:off x="9326880" y="3108960"/>
            <a:ext cx="2286000" cy="1645920"/>
          </a:xfrm>
          <a:prstGeom prst="roundRect">
            <a:avLst>
              <a:gd name="adj" fmla="val 8333"/>
            </a:avLst>
          </a:prstGeom>
          <a:solidFill>
            <a:srgbClr val="FBFFF4"/>
          </a:solidFill>
          <a:ln w="15875">
            <a:solidFill>
              <a:srgbClr val="B8D98A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9509760" y="3273552"/>
            <a:ext cx="457200" cy="457200"/>
          </a:xfrm>
          <a:prstGeom prst="ellipse">
            <a:avLst/>
          </a:prstGeom>
          <a:solidFill>
            <a:srgbClr val="B1FF37"/>
          </a:solidFill>
          <a:ln w="12700">
            <a:solidFill>
              <a:srgbClr val="B1FF37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509760" y="32735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9509760" y="3886200"/>
            <a:ext cx="1965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Die Vorhersage wird angepasst</a:t>
            </a:r>
            <a:endParaRPr lang="en-US" sz="1700" dirty="0"/>
          </a:p>
        </p:txBody>
      </p:sp>
      <p:sp>
        <p:nvSpPr>
          <p:cNvPr id="18" name="Shape 15"/>
          <p:cNvSpPr/>
          <p:nvPr/>
        </p:nvSpPr>
        <p:spPr>
          <a:xfrm>
            <a:off x="6675120" y="3108960"/>
            <a:ext cx="2286000" cy="1645920"/>
          </a:xfrm>
          <a:prstGeom prst="roundRect">
            <a:avLst>
              <a:gd name="adj" fmla="val 8333"/>
            </a:avLst>
          </a:prstGeom>
          <a:solidFill>
            <a:srgbClr val="FBFFF4"/>
          </a:solidFill>
          <a:ln w="15875">
            <a:solidFill>
              <a:srgbClr val="B8D98A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858000" y="3273552"/>
            <a:ext cx="457200" cy="457200"/>
          </a:xfrm>
          <a:prstGeom prst="ellipse">
            <a:avLst/>
          </a:prstGeom>
          <a:solidFill>
            <a:srgbClr val="B1FF37"/>
          </a:solidFill>
          <a:ln w="12700">
            <a:solidFill>
              <a:srgbClr val="B1FF37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858000" y="32735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8"/>
          <p:cNvSpPr txBox="1"/>
          <p:nvPr/>
        </p:nvSpPr>
        <p:spPr>
          <a:xfrm>
            <a:off x="6858000" y="3886200"/>
            <a:ext cx="1965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Das nächste Video wird gewählt</a:t>
            </a:r>
            <a:endParaRPr lang="en-US" sz="1700" dirty="0"/>
          </a:p>
        </p:txBody>
      </p:sp>
      <p:sp>
        <p:nvSpPr>
          <p:cNvPr id="22" name="Shape 19"/>
          <p:cNvSpPr/>
          <p:nvPr/>
        </p:nvSpPr>
        <p:spPr>
          <a:xfrm>
            <a:off x="8979408" y="1664208"/>
            <a:ext cx="329184" cy="329184"/>
          </a:xfrm>
          <a:prstGeom prst="rightArrow">
            <a:avLst/>
          </a:prstGeom>
          <a:solidFill>
            <a:srgbClr val="26720A"/>
          </a:solidFill>
          <a:ln w="12700">
            <a:solidFill>
              <a:srgbClr val="26720A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10305288" y="2715768"/>
            <a:ext cx="329184" cy="329184"/>
          </a:xfrm>
          <a:prstGeom prst="downArrow">
            <a:avLst/>
          </a:prstGeom>
          <a:solidFill>
            <a:srgbClr val="26720A"/>
          </a:solidFill>
          <a:ln w="12700">
            <a:solidFill>
              <a:srgbClr val="26720A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8979408" y="3767328"/>
            <a:ext cx="329184" cy="329184"/>
          </a:xfrm>
          <a:prstGeom prst="leftArrow">
            <a:avLst/>
          </a:prstGeom>
          <a:solidFill>
            <a:srgbClr val="26720A"/>
          </a:solidFill>
          <a:ln w="12700">
            <a:solidFill>
              <a:srgbClr val="26720A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7653528" y="2715768"/>
            <a:ext cx="329184" cy="329184"/>
          </a:xfrm>
          <a:prstGeom prst="upArrow">
            <a:avLst/>
          </a:prstGeom>
          <a:solidFill>
            <a:srgbClr val="26720A"/>
          </a:solidFill>
          <a:ln w="12700">
            <a:solidFill>
              <a:srgbClr val="26720A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7132320" y="5486400"/>
            <a:ext cx="4023360" cy="457200"/>
          </a:xfrm>
          <a:prstGeom prst="roundRect">
            <a:avLst>
              <a:gd name="adj" fmla="val 16000"/>
            </a:avLst>
          </a:prstGeom>
          <a:solidFill>
            <a:srgbClr val="12301A"/>
          </a:solidFill>
          <a:ln w="12700">
            <a:solidFill>
              <a:srgbClr val="12301A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7132320" y="548640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1FF3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wieder und wieder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640080" y="1097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672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Der Start</a:t>
            </a:r>
            <a:endParaRPr lang="en-US" sz="18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1600200"/>
            <a:ext cx="56692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Und ganz am </a:t>
            </a:r>
            <a:pPr indent="0" marL="0">
              <a:lnSpc>
                <a:spcPct val="105000"/>
              </a:lnSpc>
              <a:buNone/>
            </a:pPr>
            <a:r>
              <a:rPr lang="en-US" sz="4000" dirty="0">
                <a:solidFill>
                  <a:srgbClr val="26720A"/>
                </a:solidFill>
                <a:highlight>
                  <a:srgbClr val="B1FF37"/>
                </a:highlight>
                <a:latin typeface="Poppins" pitchFamily="34" charset="0"/>
                <a:ea typeface="Poppins" pitchFamily="34" charset="-122"/>
                <a:cs typeface="Poppins" pitchFamily="34" charset="-120"/>
              </a:rPr>
              <a:t>Anfang</a:t>
            </a:r>
            <a:pPr indent="0" marL="0">
              <a:lnSpc>
                <a:spcPct val="105000"/>
              </a:lnSpc>
              <a:buNone/>
            </a:pPr>
            <a:r>
              <a:rPr lang="en-US" sz="4000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, wenn TikTok noch nichts weiß?</a:t>
            </a:r>
            <a:endParaRPr lang="en-US" sz="4000" dirty="0"/>
          </a:p>
        </p:txBody>
      </p:sp>
      <p:sp>
        <p:nvSpPr>
          <p:cNvPr id="5" name="Shape 2"/>
          <p:cNvSpPr/>
          <p:nvPr/>
        </p:nvSpPr>
        <p:spPr>
          <a:xfrm>
            <a:off x="6583680" y="1005840"/>
            <a:ext cx="4937760" cy="2194560"/>
          </a:xfrm>
          <a:prstGeom prst="roundRect">
            <a:avLst>
              <a:gd name="adj" fmla="val 6250"/>
            </a:avLst>
          </a:prstGeom>
          <a:solidFill>
            <a:srgbClr val="FBFFF4"/>
          </a:solidFill>
          <a:ln w="15875">
            <a:solidFill>
              <a:srgbClr val="B8D98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858000" y="123444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Du wählst Interessen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6858000" y="1920240"/>
            <a:ext cx="1280160" cy="457200"/>
          </a:xfrm>
          <a:prstGeom prst="roundRect">
            <a:avLst>
              <a:gd name="adj" fmla="val 16000"/>
            </a:avLst>
          </a:prstGeom>
          <a:solidFill>
            <a:srgbClr val="B1FF37"/>
          </a:solidFill>
          <a:ln w="12700">
            <a:solidFill>
              <a:srgbClr val="B1FF37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858000" y="192024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Tiere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8275320" y="1920240"/>
            <a:ext cx="1371600" cy="457200"/>
          </a:xfrm>
          <a:prstGeom prst="roundRect">
            <a:avLst>
              <a:gd name="adj" fmla="val 16000"/>
            </a:avLst>
          </a:prstGeom>
          <a:solidFill>
            <a:srgbClr val="B1FF37"/>
          </a:solidFill>
          <a:ln w="12700">
            <a:solidFill>
              <a:srgbClr val="B1FF37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275320" y="19202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Reisen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6858000" y="260604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B5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Der Feed startet mit deinen Themen.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6583680" y="3566160"/>
            <a:ext cx="4937760" cy="2194560"/>
          </a:xfrm>
          <a:prstGeom prst="roundRect">
            <a:avLst>
              <a:gd name="adj" fmla="val 6250"/>
            </a:avLst>
          </a:prstGeom>
          <a:solidFill>
            <a:srgbClr val="FBFFF4"/>
          </a:solidFill>
          <a:ln w="15875">
            <a:solidFill>
              <a:srgbClr val="B8D98A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858000" y="379476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Du wählst nichts</a:t>
            </a:r>
            <a:endParaRPr lang="en-US" sz="2000" dirty="0"/>
          </a:p>
        </p:txBody>
      </p:sp>
      <p:sp>
        <p:nvSpPr>
          <p:cNvPr id="14" name="Text 11"/>
          <p:cNvSpPr txBox="1"/>
          <p:nvPr/>
        </p:nvSpPr>
        <p:spPr>
          <a:xfrm>
            <a:off x="6858000" y="4434840"/>
            <a:ext cx="4389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Zuerst kommen beliebte Videos – und TikTok beobachtet genau, wie du reagierst.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640080" y="6858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B1FF3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Die Schattenseiten</a:t>
            </a:r>
            <a:endParaRPr lang="en-US" sz="18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1097280"/>
            <a:ext cx="10881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4200" dirty="0">
                <a:solidFill>
                  <a:srgbClr val="EFFBD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Klingt praktisch – hat aber </a:t>
            </a:r>
            <a:pPr indent="0" marL="0">
              <a:lnSpc>
                <a:spcPct val="105000"/>
              </a:lnSpc>
              <a:buNone/>
            </a:pPr>
            <a:r>
              <a:rPr lang="en-US" sz="4200" dirty="0">
                <a:solidFill>
                  <a:srgbClr val="B1FF3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große Schattenseiten.</a:t>
            </a:r>
            <a:endParaRPr lang="en-US" sz="4200" dirty="0"/>
          </a:p>
        </p:txBody>
      </p:sp>
      <p:sp>
        <p:nvSpPr>
          <p:cNvPr id="5" name="Shape 2"/>
          <p:cNvSpPr/>
          <p:nvPr/>
        </p:nvSpPr>
        <p:spPr>
          <a:xfrm>
            <a:off x="640080" y="2743200"/>
            <a:ext cx="3474720" cy="2514600"/>
          </a:xfrm>
          <a:prstGeom prst="roundRect">
            <a:avLst>
              <a:gd name="adj" fmla="val 5455"/>
            </a:avLst>
          </a:prstGeom>
          <a:solidFill>
            <a:srgbClr val="1B4527"/>
          </a:solidFill>
          <a:ln w="15875">
            <a:solidFill>
              <a:srgbClr val="2F6B3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914400" y="29718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B1FF3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Filterblase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3566160"/>
            <a:ext cx="29260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EFFBD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Du bekommst immer mehr von dem, was du magst. Andere Themen und Meinungen tauchen kaum noch auf.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4343400" y="2743200"/>
            <a:ext cx="3474720" cy="2514600"/>
          </a:xfrm>
          <a:prstGeom prst="roundRect">
            <a:avLst>
              <a:gd name="adj" fmla="val 5455"/>
            </a:avLst>
          </a:prstGeom>
          <a:solidFill>
            <a:srgbClr val="1B4527"/>
          </a:solidFill>
          <a:ln w="15875">
            <a:solidFill>
              <a:srgbClr val="2F6B3E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617720" y="29718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B1FF3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Rabbit Hole</a:t>
            </a:r>
            <a:endParaRPr lang="en-US" sz="2200" dirty="0"/>
          </a:p>
        </p:txBody>
      </p:sp>
      <p:sp>
        <p:nvSpPr>
          <p:cNvPr id="10" name="Text 7"/>
          <p:cNvSpPr txBox="1"/>
          <p:nvPr/>
        </p:nvSpPr>
        <p:spPr>
          <a:xfrm>
            <a:off x="4617720" y="3566160"/>
            <a:ext cx="29260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EFFBD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Die Videos werden einseitiger, extremer – oder ziehen die Stimmung runter.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8046720" y="2743200"/>
            <a:ext cx="3474720" cy="2514600"/>
          </a:xfrm>
          <a:prstGeom prst="roundRect">
            <a:avLst>
              <a:gd name="adj" fmla="val 5455"/>
            </a:avLst>
          </a:prstGeom>
          <a:solidFill>
            <a:srgbClr val="1B4527"/>
          </a:solidFill>
          <a:ln w="15875">
            <a:solidFill>
              <a:srgbClr val="2F6B3E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321040" y="29718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B1FF3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Zeitgefühl weg</a:t>
            </a:r>
            <a:endParaRPr lang="en-US" sz="2200" dirty="0"/>
          </a:p>
        </p:txBody>
      </p:sp>
      <p:sp>
        <p:nvSpPr>
          <p:cNvPr id="13" name="Text 10"/>
          <p:cNvSpPr txBox="1"/>
          <p:nvPr/>
        </p:nvSpPr>
        <p:spPr>
          <a:xfrm>
            <a:off x="8321040" y="3566160"/>
            <a:ext cx="29260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EFFBD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Weil der Feed nie endet, merkst du kaum, wie viel Zeit vergeht.</a:t>
            </a:r>
            <a:endParaRPr lang="en-US" sz="1700" dirty="0"/>
          </a:p>
        </p:txBody>
      </p:sp>
      <p:sp>
        <p:nvSpPr>
          <p:cNvPr id="14" name="Shape 11"/>
          <p:cNvSpPr/>
          <p:nvPr/>
        </p:nvSpPr>
        <p:spPr>
          <a:xfrm>
            <a:off x="640080" y="5486400"/>
            <a:ext cx="10881360" cy="731520"/>
          </a:xfrm>
          <a:prstGeom prst="roundRect">
            <a:avLst>
              <a:gd name="adj" fmla="val 18750"/>
            </a:avLst>
          </a:prstGeom>
          <a:solidFill>
            <a:srgbClr val="B1FF37"/>
          </a:solidFill>
          <a:ln w="12700">
            <a:solidFill>
              <a:srgbClr val="B1FF37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22960" y="548640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Der Algorithmus prüft nicht, ob dir ein Video guttut. Er berechnet nur, ob du weiterschaust.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640080" y="1097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672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Gegenmaßnahmen</a:t>
            </a:r>
            <a:endParaRPr lang="en-US" sz="18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1600200"/>
            <a:ext cx="56692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4200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TikTok sagt: Wir </a:t>
            </a:r>
            <a:pPr indent="0" marL="0">
              <a:lnSpc>
                <a:spcPct val="105000"/>
              </a:lnSpc>
              <a:buNone/>
            </a:pPr>
            <a:r>
              <a:rPr lang="en-US" sz="4200" dirty="0">
                <a:solidFill>
                  <a:srgbClr val="26720A"/>
                </a:solidFill>
                <a:highlight>
                  <a:srgbClr val="B1FF37"/>
                </a:highlight>
                <a:latin typeface="Poppins" pitchFamily="34" charset="0"/>
                <a:ea typeface="Poppins" pitchFamily="34" charset="-122"/>
                <a:cs typeface="Poppins" pitchFamily="34" charset="-120"/>
              </a:rPr>
              <a:t>steuern dagegen.</a:t>
            </a:r>
            <a:endParaRPr lang="en-US" sz="4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4389120"/>
            <a:ext cx="5486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5B6B5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Ob das reicht, wird viel diskutiert.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6583680" y="1005840"/>
            <a:ext cx="4937760" cy="2148840"/>
          </a:xfrm>
          <a:prstGeom prst="roundRect">
            <a:avLst>
              <a:gd name="adj" fmla="val 6383"/>
            </a:avLst>
          </a:prstGeom>
          <a:solidFill>
            <a:srgbClr val="FBFFF4"/>
          </a:solidFill>
          <a:ln w="15875">
            <a:solidFill>
              <a:srgbClr val="B8D98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858000" y="1234440"/>
            <a:ext cx="2011680" cy="411480"/>
          </a:xfrm>
          <a:prstGeom prst="roundRect">
            <a:avLst>
              <a:gd name="adj" fmla="val 17778"/>
            </a:avLst>
          </a:prstGeom>
          <a:solidFill>
            <a:srgbClr val="B1FF37"/>
          </a:solidFill>
          <a:ln w="12700">
            <a:solidFill>
              <a:srgbClr val="B1FF37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858000" y="12344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Abwechslung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6858000" y="1828800"/>
            <a:ext cx="4389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Derselbe Sound oder derselbe Account sollen nicht direkt hintereinander kommen.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6583680" y="3520440"/>
            <a:ext cx="4937760" cy="2148840"/>
          </a:xfrm>
          <a:prstGeom prst="roundRect">
            <a:avLst>
              <a:gd name="adj" fmla="val 6383"/>
            </a:avLst>
          </a:prstGeom>
          <a:solidFill>
            <a:srgbClr val="FBFFF4"/>
          </a:solidFill>
          <a:ln w="15875">
            <a:solidFill>
              <a:srgbClr val="B8D98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858000" y="3749040"/>
            <a:ext cx="2011680" cy="411480"/>
          </a:xfrm>
          <a:prstGeom prst="roundRect">
            <a:avLst>
              <a:gd name="adj" fmla="val 17778"/>
            </a:avLst>
          </a:prstGeom>
          <a:solidFill>
            <a:srgbClr val="B1FF37"/>
          </a:solidFill>
          <a:ln w="12700">
            <a:solidFill>
              <a:srgbClr val="B1FF37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858000" y="37490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Überraschung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6858000" y="4343400"/>
            <a:ext cx="4389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Ab und zu werden absichtlich Videos eingestreut, die nicht zu deinen Interessen passen.</a:t>
            </a:r>
            <a:endParaRPr lang="en-US" sz="2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640080" y="1097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672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Deine Werkzeuge</a:t>
            </a:r>
            <a:endParaRPr lang="en-US" sz="18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1600200"/>
            <a:ext cx="56692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4600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Du kannst </a:t>
            </a:r>
            <a:pPr indent="0" marL="0">
              <a:lnSpc>
                <a:spcPct val="105000"/>
              </a:lnSpc>
              <a:buNone/>
            </a:pPr>
            <a:r>
              <a:rPr lang="en-US" sz="4600" dirty="0">
                <a:solidFill>
                  <a:srgbClr val="26720A"/>
                </a:solidFill>
                <a:highlight>
                  <a:srgbClr val="B1FF37"/>
                </a:highlight>
                <a:latin typeface="Poppins" pitchFamily="34" charset="0"/>
                <a:ea typeface="Poppins" pitchFamily="34" charset="-122"/>
                <a:cs typeface="Poppins" pitchFamily="34" charset="-120"/>
              </a:rPr>
              <a:t>mitsteuern.</a:t>
            </a:r>
            <a:endParaRPr lang="en-US" sz="46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4114800"/>
            <a:ext cx="5486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5B6B5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Bei uns in der EU geht sogar ein Feed ohne Personalisierung – dank Gesetz über digitale Dienste.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6583680" y="777240"/>
            <a:ext cx="4937760" cy="5440680"/>
          </a:xfrm>
          <a:prstGeom prst="roundRect">
            <a:avLst>
              <a:gd name="adj" fmla="val 2222"/>
            </a:avLst>
          </a:prstGeom>
          <a:solidFill>
            <a:srgbClr val="FBFFF4"/>
          </a:solidFill>
          <a:ln w="15875">
            <a:solidFill>
              <a:srgbClr val="B8D98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583680" y="777240"/>
            <a:ext cx="4937760" cy="822960"/>
          </a:xfrm>
          <a:prstGeom prst="roundRect">
            <a:avLst>
              <a:gd name="adj" fmla="val 13333"/>
            </a:avLst>
          </a:prstGeom>
          <a:solidFill>
            <a:srgbClr val="12301A"/>
          </a:solidFill>
          <a:ln w="12700">
            <a:solidFill>
              <a:srgbClr val="12301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592824" y="1188720"/>
            <a:ext cx="4919472" cy="457200"/>
          </a:xfrm>
          <a:prstGeom prst="rect">
            <a:avLst/>
          </a:prstGeom>
          <a:solidFill>
            <a:srgbClr val="DDF3B8"/>
          </a:solidFill>
          <a:ln w="12700">
            <a:solidFill>
              <a:srgbClr val="DDF3B8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9326880" y="83210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FBFF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Einstellungen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766560" y="1234440"/>
            <a:ext cx="1920240" cy="411480"/>
          </a:xfrm>
          <a:prstGeom prst="roundRect">
            <a:avLst>
              <a:gd name="adj" fmla="val 17778"/>
            </a:avLst>
          </a:prstGeom>
          <a:solidFill>
            <a:srgbClr val="FBFFF4"/>
          </a:solidFill>
          <a:ln w="12700">
            <a:solidFill>
              <a:srgbClr val="FBFFF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894576" y="1362456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DDF3B8"/>
          </a:solidFill>
          <a:ln w="6350">
            <a:solidFill>
              <a:srgbClr val="B8D98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132320" y="123444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Dein Feed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812280" y="1883664"/>
            <a:ext cx="411480" cy="411480"/>
          </a:xfrm>
          <a:prstGeom prst="ellipse">
            <a:avLst/>
          </a:prstGeom>
          <a:solidFill>
            <a:srgbClr val="B1FF37"/>
          </a:solidFill>
          <a:ln w="12700">
            <a:solidFill>
              <a:srgbClr val="B1FF37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812280" y="188366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7406640" y="1828800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„Nicht interessiert“ – lange auf ein Video tippen</a:t>
            </a:r>
            <a:endParaRPr lang="en-US" sz="1700" dirty="0"/>
          </a:p>
        </p:txBody>
      </p:sp>
      <p:sp>
        <p:nvSpPr>
          <p:cNvPr id="16" name="Shape 13"/>
          <p:cNvSpPr/>
          <p:nvPr/>
        </p:nvSpPr>
        <p:spPr>
          <a:xfrm>
            <a:off x="6812280" y="2596896"/>
            <a:ext cx="411480" cy="411480"/>
          </a:xfrm>
          <a:prstGeom prst="ellipse">
            <a:avLst/>
          </a:prstGeom>
          <a:solidFill>
            <a:srgbClr val="B1FF37"/>
          </a:solidFill>
          <a:ln w="12700">
            <a:solidFill>
              <a:srgbClr val="B1FF37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812280" y="259689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7406640" y="2542032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Wörter und Hashtags filtern</a:t>
            </a:r>
            <a:endParaRPr lang="en-US" sz="1700" dirty="0"/>
          </a:p>
        </p:txBody>
      </p:sp>
      <p:sp>
        <p:nvSpPr>
          <p:cNvPr id="19" name="Shape 16"/>
          <p:cNvSpPr/>
          <p:nvPr/>
        </p:nvSpPr>
        <p:spPr>
          <a:xfrm>
            <a:off x="6812280" y="3310128"/>
            <a:ext cx="411480" cy="411480"/>
          </a:xfrm>
          <a:prstGeom prst="ellipse">
            <a:avLst/>
          </a:prstGeom>
          <a:solidFill>
            <a:srgbClr val="B1FF37"/>
          </a:solidFill>
          <a:ln w="12700">
            <a:solidFill>
              <a:srgbClr val="B1FF37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812280" y="331012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8"/>
          <p:cNvSpPr txBox="1"/>
          <p:nvPr/>
        </p:nvSpPr>
        <p:spPr>
          <a:xfrm>
            <a:off x="7406640" y="3255264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Themen verwalten</a:t>
            </a:r>
            <a:endParaRPr lang="en-US" sz="1700" dirty="0"/>
          </a:p>
        </p:txBody>
      </p:sp>
      <p:sp>
        <p:nvSpPr>
          <p:cNvPr id="22" name="Shape 19"/>
          <p:cNvSpPr/>
          <p:nvPr/>
        </p:nvSpPr>
        <p:spPr>
          <a:xfrm>
            <a:off x="6812280" y="4023360"/>
            <a:ext cx="411480" cy="411480"/>
          </a:xfrm>
          <a:prstGeom prst="ellipse">
            <a:avLst/>
          </a:prstGeom>
          <a:solidFill>
            <a:srgbClr val="B1FF37"/>
          </a:solidFill>
          <a:ln w="12700">
            <a:solidFill>
              <a:srgbClr val="B1FF37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812280" y="40233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Text 21"/>
          <p:cNvSpPr txBox="1"/>
          <p:nvPr/>
        </p:nvSpPr>
        <p:spPr>
          <a:xfrm>
            <a:off x="7406640" y="3968496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Für-dich-Feed zurücksetzen</a:t>
            </a:r>
            <a:endParaRPr lang="en-US" sz="1700" dirty="0"/>
          </a:p>
        </p:txBody>
      </p:sp>
      <p:sp>
        <p:nvSpPr>
          <p:cNvPr id="25" name="Shape 22"/>
          <p:cNvSpPr/>
          <p:nvPr/>
        </p:nvSpPr>
        <p:spPr>
          <a:xfrm>
            <a:off x="6812280" y="4736592"/>
            <a:ext cx="411480" cy="411480"/>
          </a:xfrm>
          <a:prstGeom prst="ellipse">
            <a:avLst/>
          </a:prstGeom>
          <a:solidFill>
            <a:srgbClr val="B1FF37"/>
          </a:solidFill>
          <a:ln w="12700">
            <a:solidFill>
              <a:srgbClr val="B1FF3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6812280" y="47365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4"/>
          <p:cNvSpPr txBox="1"/>
          <p:nvPr/>
        </p:nvSpPr>
        <p:spPr>
          <a:xfrm>
            <a:off x="7406640" y="4681728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Teilen-Menü: Warum sehe ich das?</a:t>
            </a:r>
            <a:endParaRPr lang="en-US" sz="1700" dirty="0"/>
          </a:p>
        </p:txBody>
      </p:sp>
      <p:sp>
        <p:nvSpPr>
          <p:cNvPr id="28" name="Shape 25"/>
          <p:cNvSpPr/>
          <p:nvPr/>
        </p:nvSpPr>
        <p:spPr>
          <a:xfrm>
            <a:off x="6812280" y="5449824"/>
            <a:ext cx="411480" cy="411480"/>
          </a:xfrm>
          <a:prstGeom prst="ellipse">
            <a:avLst/>
          </a:prstGeom>
          <a:solidFill>
            <a:srgbClr val="B1FF37"/>
          </a:solidFill>
          <a:ln w="12700">
            <a:solidFill>
              <a:srgbClr val="B1FF37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6812280" y="544982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</a:t>
            </a:r>
            <a:endParaRPr lang="en-US" sz="1600" dirty="0"/>
          </a:p>
        </p:txBody>
      </p:sp>
      <p:sp>
        <p:nvSpPr>
          <p:cNvPr id="30" name="Text 27"/>
          <p:cNvSpPr txBox="1"/>
          <p:nvPr/>
        </p:nvSpPr>
        <p:spPr>
          <a:xfrm>
            <a:off x="7406640" y="5394960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Feed ohne Personalisierung einschalten</a:t>
            </a:r>
            <a:endParaRPr lang="en-US" sz="1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640080" y="6858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672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Kurzer Check</a:t>
            </a:r>
            <a:endParaRPr lang="en-US" sz="18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1097280"/>
            <a:ext cx="10881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4400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Pausiere das Video und </a:t>
            </a:r>
            <a:pPr indent="0" marL="0">
              <a:lnSpc>
                <a:spcPct val="105000"/>
              </a:lnSpc>
              <a:buNone/>
            </a:pPr>
            <a:r>
              <a:rPr lang="en-US" sz="4400" dirty="0">
                <a:solidFill>
                  <a:srgbClr val="26720A"/>
                </a:solidFill>
                <a:highlight>
                  <a:srgbClr val="B1FF37"/>
                </a:highlight>
                <a:latin typeface="Poppins" pitchFamily="34" charset="0"/>
                <a:ea typeface="Poppins" pitchFamily="34" charset="-122"/>
                <a:cs typeface="Poppins" pitchFamily="34" charset="-120"/>
              </a:rPr>
              <a:t>überlege kurz.</a:t>
            </a:r>
            <a:endParaRPr lang="en-US" sz="4400" dirty="0"/>
          </a:p>
        </p:txBody>
      </p:sp>
      <p:sp>
        <p:nvSpPr>
          <p:cNvPr id="5" name="Shape 2"/>
          <p:cNvSpPr/>
          <p:nvPr/>
        </p:nvSpPr>
        <p:spPr>
          <a:xfrm>
            <a:off x="640080" y="2743200"/>
            <a:ext cx="3474720" cy="3017520"/>
          </a:xfrm>
          <a:prstGeom prst="roundRect">
            <a:avLst>
              <a:gd name="adj" fmla="val 4545"/>
            </a:avLst>
          </a:prstGeom>
          <a:solidFill>
            <a:srgbClr val="FBFFF4"/>
          </a:solidFill>
          <a:ln w="15875">
            <a:solidFill>
              <a:srgbClr val="B8D98A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914400" y="3017520"/>
            <a:ext cx="548640" cy="548640"/>
          </a:xfrm>
          <a:prstGeom prst="ellipse">
            <a:avLst/>
          </a:prstGeom>
          <a:solidFill>
            <a:srgbClr val="B1FF37"/>
          </a:solidFill>
          <a:ln w="12700">
            <a:solidFill>
              <a:srgbClr val="B1FF37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914400" y="3017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3840480"/>
            <a:ext cx="2971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Welches Signal ist stärker: ein Video bis zum Ende schauen oder im selben Land wohnen?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4343400" y="2743200"/>
            <a:ext cx="3474720" cy="3017520"/>
          </a:xfrm>
          <a:prstGeom prst="roundRect">
            <a:avLst>
              <a:gd name="adj" fmla="val 4545"/>
            </a:avLst>
          </a:prstGeom>
          <a:solidFill>
            <a:srgbClr val="FBFFF4"/>
          </a:solidFill>
          <a:ln w="15875">
            <a:solidFill>
              <a:srgbClr val="B8D98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617720" y="3017520"/>
            <a:ext cx="548640" cy="548640"/>
          </a:xfrm>
          <a:prstGeom prst="ellipse">
            <a:avLst/>
          </a:prstGeom>
          <a:solidFill>
            <a:srgbClr val="B1FF37"/>
          </a:solidFill>
          <a:ln w="12700">
            <a:solidFill>
              <a:srgbClr val="B1FF37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617720" y="3017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9"/>
          <p:cNvSpPr txBox="1"/>
          <p:nvPr/>
        </p:nvSpPr>
        <p:spPr>
          <a:xfrm>
            <a:off x="4617720" y="3840480"/>
            <a:ext cx="2971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Warum ist TikTok kostenlos – und was hat das mit deinem Feed zu tun?</a:t>
            </a:r>
            <a:endParaRPr lang="en-US" sz="2000" dirty="0"/>
          </a:p>
        </p:txBody>
      </p:sp>
      <p:sp>
        <p:nvSpPr>
          <p:cNvPr id="13" name="Shape 10"/>
          <p:cNvSpPr/>
          <p:nvPr/>
        </p:nvSpPr>
        <p:spPr>
          <a:xfrm>
            <a:off x="8046720" y="2743200"/>
            <a:ext cx="3474720" cy="3017520"/>
          </a:xfrm>
          <a:prstGeom prst="roundRect">
            <a:avLst>
              <a:gd name="adj" fmla="val 4545"/>
            </a:avLst>
          </a:prstGeom>
          <a:solidFill>
            <a:srgbClr val="FBFFF4"/>
          </a:solidFill>
          <a:ln w="15875">
            <a:solidFill>
              <a:srgbClr val="B8D98A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8321040" y="3017520"/>
            <a:ext cx="548640" cy="548640"/>
          </a:xfrm>
          <a:prstGeom prst="ellipse">
            <a:avLst/>
          </a:prstGeom>
          <a:solidFill>
            <a:srgbClr val="B1FF37"/>
          </a:solidFill>
          <a:ln w="12700">
            <a:solidFill>
              <a:srgbClr val="B1FF37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321040" y="3017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3"/>
          <p:cNvSpPr txBox="1"/>
          <p:nvPr/>
        </p:nvSpPr>
        <p:spPr>
          <a:xfrm>
            <a:off x="8321040" y="3840480"/>
            <a:ext cx="2971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Was kannst du tun, wenn dein Feed dir nicht guttut?</a:t>
            </a:r>
            <a:endParaRPr lang="en-US" sz="2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9875520" y="-1280160"/>
            <a:ext cx="3840480" cy="3840480"/>
          </a:xfrm>
          <a:prstGeom prst="ellipse">
            <a:avLst/>
          </a:prstGeom>
          <a:solidFill>
            <a:srgbClr val="B1FF37">
              <a:alpha val="0"/>
            </a:srgbClr>
          </a:solidFill>
          <a:ln w="25400">
            <a:solidFill>
              <a:srgbClr val="12301A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10607040" y="4297680"/>
            <a:ext cx="3291840" cy="3291840"/>
          </a:xfrm>
          <a:prstGeom prst="ellipse">
            <a:avLst/>
          </a:prstGeom>
          <a:solidFill>
            <a:srgbClr val="B1FF37">
              <a:alpha val="0"/>
            </a:srgbClr>
          </a:solidFill>
          <a:ln w="25400">
            <a:solidFill>
              <a:srgbClr val="12301A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40080" y="6858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672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Merk dir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1143000"/>
            <a:ext cx="84124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4800" dirty="0">
                <a:solidFill>
                  <a:srgbClr val="1230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Dein Feed ist kein Zufall und kein Spiegel der Welt.</a:t>
            </a:r>
            <a:endParaRPr lang="en-US" sz="48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3657600"/>
            <a:ext cx="7863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2400" dirty="0">
                <a:solidFill>
                  <a:srgbClr val="1230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Er ist eine Berechnung aus deinem Verhalten. Wer das weiß, kann bewusster scrollen.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640080" y="5120640"/>
            <a:ext cx="7680960" cy="868680"/>
          </a:xfrm>
          <a:prstGeom prst="roundRect">
            <a:avLst>
              <a:gd name="adj" fmla="val 21053"/>
            </a:avLst>
          </a:prstGeom>
          <a:solidFill>
            <a:srgbClr val="12301A"/>
          </a:solidFill>
          <a:ln w="12700">
            <a:solidFill>
              <a:srgbClr val="12301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40080" y="5120640"/>
            <a:ext cx="7680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1FF3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Mehr Videos zur Digitalen Grundbildung auf Cleverbox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leverbox Gruen">
  <a:themeElements>
    <a:clrScheme name="Cleverbox Gruen">
      <a:dk1>
        <a:srgbClr val="0E1F0C"/>
      </a:dk1>
      <a:lt1>
        <a:srgbClr val="FBFFF4"/>
      </a:lt1>
      <a:dk2>
        <a:srgbClr val="12301A"/>
      </a:dk2>
      <a:lt2>
        <a:srgbClr val="EFFBDC"/>
      </a:lt2>
      <a:accent1>
        <a:srgbClr val="B1FF37"/>
      </a:accent1>
      <a:accent2>
        <a:srgbClr val="26720A"/>
      </a:accent2>
      <a:accent3>
        <a:srgbClr val="DDF3B8"/>
      </a:accent3>
      <a:accent4>
        <a:srgbClr val="5B6B50"/>
      </a:accent4>
      <a:accent5>
        <a:srgbClr val="FF7A45"/>
      </a:accent5>
      <a:accent6>
        <a:srgbClr val="B8D98A"/>
      </a:accent6>
      <a:hlink>
        <a:srgbClr val="26720A"/>
      </a:hlink>
      <a:folHlink>
        <a:srgbClr val="5B6B50"/>
      </a:folHlink>
    </a:clrScheme>
    <a:fontScheme name="Cleverbox Gruen">
      <a:majorFont>
        <a:latin typeface="Poppi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oppi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TikTok-Algorithmus – Erklärvideo Slides</dc:title>
  <dc:subject>PptxGenJS Presentation</dc:subject>
  <dc:creator>Cleverbox</dc:creator>
  <cp:lastModifiedBy>Cleverbox</cp:lastModifiedBy>
  <cp:revision>1</cp:revision>
  <dcterms:created xsi:type="dcterms:W3CDTF">2026-10-07T13:47:59Z</dcterms:created>
  <dcterms:modified xsi:type="dcterms:W3CDTF">2026-10-07T13:47:59Z</dcterms:modified>
</cp:coreProperties>
</file>