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1 – Hook (0:00)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2 – Gedankenexperiment (0:20)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3 – Was ist ein Algorithmus? (0:45)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4 – Das Ziel: Geld (1:20)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4 – Das Design (1:35)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4 – EU-Kommission (2:00)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4 – Aufmerksamkeit ist die Währung (2:25)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5 – Die Signale (1:50)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6 – Gewichtung (2:50)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7 – Der Kreislauf (3:25)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8 – Der Start (4:00)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9 – Die Schattenseiten (4:25)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10 – Gegenmaßnahmen (5:15)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11 – Deine Werkzeuge (5:40)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12 – Kurzer Check (6:45) – 3–5 Sekunden Pause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13 – Outro (7:10)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EFFB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Digitale Grundbildung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3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C7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Digitale Grundbildung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N">
    <p:bg>
      <p:bgPr>
        <a:solidFill>
          <a:srgbClr val="B1FF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Digitale Grundbildung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Digitale Grundbildung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Woher weiß TikTok eigentlich, was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du magst?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463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Schon nach drei Videos wirkt der Feed, als würde er dich kennen.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772400" y="731520"/>
            <a:ext cx="2377440" cy="5303520"/>
          </a:xfrm>
          <a:prstGeom prst="roundRect">
            <a:avLst>
              <a:gd name="adj" fmla="val 11538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863840" y="822960"/>
            <a:ext cx="2194560" cy="5120640"/>
          </a:xfrm>
          <a:prstGeom prst="roundRect">
            <a:avLst>
              <a:gd name="adj" fmla="val 9167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046720" y="1188720"/>
            <a:ext cx="1828800" cy="4389120"/>
          </a:xfrm>
          <a:prstGeom prst="roundRect">
            <a:avLst>
              <a:gd name="adj" fmla="val 6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46720" y="1188720"/>
            <a:ext cx="1828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9600" dirty="0"/>
          </a:p>
        </p:txBody>
      </p:sp>
      <p:sp>
        <p:nvSpPr>
          <p:cNvPr id="10" name="Shape 7"/>
          <p:cNvSpPr/>
          <p:nvPr/>
        </p:nvSpPr>
        <p:spPr>
          <a:xfrm>
            <a:off x="6309360" y="1188720"/>
            <a:ext cx="1737360" cy="640080"/>
          </a:xfrm>
          <a:prstGeom prst="wedgeRoundRectCallout">
            <a:avLst>
              <a:gd name="adj" fmla="val 28571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09360" y="11887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Tanzvideos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10332720" y="2011680"/>
            <a:ext cx="1280160" cy="640080"/>
          </a:xfrm>
          <a:prstGeom prst="wedgeRoundRectCallout">
            <a:avLst>
              <a:gd name="adj" fmla="val 28571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332720" y="20116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Fußball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126480" y="2743200"/>
            <a:ext cx="1463040" cy="640080"/>
          </a:xfrm>
          <a:prstGeom prst="wedgeRoundRectCallout">
            <a:avLst>
              <a:gd name="adj" fmla="val 2857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Katzen?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10241280" y="3291840"/>
            <a:ext cx="1737360" cy="640080"/>
          </a:xfrm>
          <a:prstGeom prst="wedgeRoundRectCallout">
            <a:avLst>
              <a:gd name="adj" fmla="val 2857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241280" y="3291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Minecraft?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035040" y="4297680"/>
            <a:ext cx="2011680" cy="640080"/>
          </a:xfrm>
          <a:prstGeom prst="wedgeRoundRectCallout">
            <a:avLst>
              <a:gd name="adj" fmla="val 2857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035040" y="42976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Kochrezepte?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Gedankenexperiment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Zwei Handys. Dieselbe App. </a:t>
            </a:r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Zwei völlig verschiedene Feeds.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463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Kein Zufall: Ein Algorithmus stellt jeden Feed einzeln zusammen.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583680" y="822960"/>
            <a:ext cx="2286000" cy="4297680"/>
          </a:xfrm>
          <a:prstGeom prst="roundRect">
            <a:avLst>
              <a:gd name="adj" fmla="val 1200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675120" y="914400"/>
            <a:ext cx="2103120" cy="4114800"/>
          </a:xfrm>
          <a:prstGeom prst="roundRect">
            <a:avLst>
              <a:gd name="adj" fmla="val 9565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12280" y="114300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49440" y="1325880"/>
            <a:ext cx="457200" cy="411480"/>
          </a:xfrm>
          <a:prstGeom prst="heart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03720" y="176479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Tanz-Challenge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812280" y="242316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949440" y="2606040"/>
            <a:ext cx="457200" cy="411480"/>
          </a:xfrm>
          <a:prstGeom prst="heart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903720" y="304495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Choreo lernen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812280" y="370332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49440" y="3886200"/>
            <a:ext cx="457200" cy="411480"/>
          </a:xfrm>
          <a:prstGeom prst="heart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03720" y="432511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Duett-Tanz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5257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 A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9235440" y="1371600"/>
            <a:ext cx="2286000" cy="4297680"/>
          </a:xfrm>
          <a:prstGeom prst="roundRect">
            <a:avLst>
              <a:gd name="adj" fmla="val 1200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326880" y="1463040"/>
            <a:ext cx="2103120" cy="4114800"/>
          </a:xfrm>
          <a:prstGeom prst="roundRect">
            <a:avLst>
              <a:gd name="adj" fmla="val 9565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464040" y="169164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601200" y="1847088"/>
            <a:ext cx="457200" cy="4572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555480" y="231343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Elfmeter-Highlights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464040" y="297180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601200" y="3127248"/>
            <a:ext cx="457200" cy="45720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555480" y="359359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Tor des Monats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9464040" y="425196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601200" y="4407408"/>
            <a:ext cx="457200" cy="45720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555480" y="487375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Fußball-Tricks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9235440" y="5806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 B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8686800" y="2880360"/>
            <a:ext cx="640080" cy="64008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86800" y="2880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≠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Begriffsklärung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 Algorithmus ist ein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Rezept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– Schritt für Schritt.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4632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Besondere: Er lernt ständig dazu. Darum spricht man von einem Empfehlungssystem.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315200" y="868680"/>
            <a:ext cx="1645920" cy="640080"/>
          </a:xfrm>
          <a:prstGeom prst="roundRect">
            <a:avLst>
              <a:gd name="adj" fmla="val 17143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0" y="868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Infos über dich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144000" y="868680"/>
            <a:ext cx="1645920" cy="640080"/>
          </a:xfrm>
          <a:prstGeom prst="roundRect">
            <a:avLst>
              <a:gd name="adj" fmla="val 17143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0" y="868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Millionen Videos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955280" y="1600200"/>
            <a:ext cx="365760" cy="548640"/>
          </a:xfrm>
          <a:prstGeom prst="downArrow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784080" y="1600200"/>
            <a:ext cx="365760" cy="548640"/>
          </a:xfrm>
          <a:prstGeom prst="downArrow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06640" y="2240280"/>
            <a:ext cx="3291840" cy="274320"/>
          </a:xfrm>
          <a:prstGeom prst="roundRect">
            <a:avLst>
              <a:gd name="adj" fmla="val 33333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589520" y="2423160"/>
            <a:ext cx="2926080" cy="1554480"/>
          </a:xfrm>
          <a:prstGeom prst="roundRect">
            <a:avLst>
              <a:gd name="adj" fmla="val 29412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086600" y="2651760"/>
            <a:ext cx="502920" cy="228600"/>
          </a:xfrm>
          <a:prstGeom prst="roundRect">
            <a:avLst>
              <a:gd name="adj" fmla="val 4000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515600" y="2651760"/>
            <a:ext cx="502920" cy="228600"/>
          </a:xfrm>
          <a:prstGeom prst="roundRect">
            <a:avLst>
              <a:gd name="adj" fmla="val 4000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89520" y="24231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Algorithmus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869680" y="4069080"/>
            <a:ext cx="365760" cy="457200"/>
          </a:xfrm>
          <a:prstGeom prst="downArrow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122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122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9050">
            <a:solidFill>
              <a:srgbClr val="B8D98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903720" y="4709160"/>
            <a:ext cx="365760" cy="3657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90372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0" y="4709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Video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4124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4124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9050">
            <a:solidFill>
              <a:srgbClr val="B8D98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503920" y="4709160"/>
            <a:ext cx="365760" cy="3657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50392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915400" y="4709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Video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00126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0126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9050">
            <a:solidFill>
              <a:srgbClr val="B8D98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104120" y="4709160"/>
            <a:ext cx="365760" cy="3657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10412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0" y="4709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Video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812280" y="5623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Deine Reihenfolge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Ziel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143000"/>
            <a:ext cx="1088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TikTok ist kostenlos. Bezahlt wird mit </a:t>
            </a:r>
            <a:pPr indent="0" marL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deiner Zeit.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743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Geld verdient TikTok vor allem mit Werbung.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1371600" y="3429000"/>
            <a:ext cx="1737360" cy="1737360"/>
          </a:xfrm>
          <a:prstGeom prst="ellipse">
            <a:avLst/>
          </a:prstGeom>
          <a:solidFill>
            <a:srgbClr val="FBFFF4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240280" y="3611880"/>
            <a:ext cx="0" cy="685800"/>
          </a:xfrm>
          <a:prstGeom prst="line">
            <a:avLst/>
          </a:prstGeom>
          <a:noFill/>
          <a:ln w="50800">
            <a:solidFill>
              <a:srgbClr val="12301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40280" y="4297680"/>
            <a:ext cx="502920" cy="0"/>
          </a:xfrm>
          <a:prstGeom prst="line">
            <a:avLst/>
          </a:prstGeom>
          <a:noFill/>
          <a:ln w="50800">
            <a:solidFill>
              <a:srgbClr val="12301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157984" y="4215384"/>
            <a:ext cx="164592" cy="164592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5349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 bleibst länger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023360" y="4069080"/>
            <a:ext cx="548640" cy="457200"/>
          </a:xfrm>
          <a:prstGeom prst="rightArrow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92040" y="3520440"/>
            <a:ext cx="2377440" cy="502920"/>
          </a:xfrm>
          <a:prstGeom prst="roundRect">
            <a:avLst>
              <a:gd name="adj" fmla="val 21818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83480" y="3602736"/>
            <a:ext cx="1005840" cy="338328"/>
          </a:xfrm>
          <a:prstGeom prst="roundRect">
            <a:avLst>
              <a:gd name="adj" fmla="val 21622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3602736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Anzeige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0" y="35204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Werbung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892040" y="4142232"/>
            <a:ext cx="2377440" cy="502920"/>
          </a:xfrm>
          <a:prstGeom prst="roundRect">
            <a:avLst>
              <a:gd name="adj" fmla="val 21818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83480" y="4224528"/>
            <a:ext cx="1005840" cy="338328"/>
          </a:xfrm>
          <a:prstGeom prst="roundRect">
            <a:avLst>
              <a:gd name="adj" fmla="val 21622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83480" y="4224528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Anzeige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26480" y="414223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Werbung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892040" y="4764024"/>
            <a:ext cx="2377440" cy="502920"/>
          </a:xfrm>
          <a:prstGeom prst="roundRect">
            <a:avLst>
              <a:gd name="adj" fmla="val 21818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983480" y="4846320"/>
            <a:ext cx="1005840" cy="338328"/>
          </a:xfrm>
          <a:prstGeom prst="roundRect">
            <a:avLst>
              <a:gd name="adj" fmla="val 21622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983480" y="484632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Anzeige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126480" y="476402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Werbung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480560" y="5349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Mehr Werbung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7863840" y="4069080"/>
            <a:ext cx="548640" cy="457200"/>
          </a:xfrm>
          <a:prstGeom prst="rightArrow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144000" y="3483864"/>
            <a:ext cx="1554480" cy="54864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144000" y="3831336"/>
            <a:ext cx="1554480" cy="54864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144000" y="4178808"/>
            <a:ext cx="1554480" cy="54864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144000" y="4526280"/>
            <a:ext cx="1554480" cy="54864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0" y="348386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€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8321040" y="5349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Mehr Geld für TikTok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Design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 Feed hat </a:t>
            </a:r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kein Ende.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11480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A9C7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Genau darauf ist die ganze App ausgelegt.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492240" y="548640"/>
            <a:ext cx="2468880" cy="6583680"/>
          </a:xfrm>
          <a:prstGeom prst="roundRect">
            <a:avLst>
              <a:gd name="adj" fmla="val 11111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583680" y="640080"/>
            <a:ext cx="2286000" cy="6400800"/>
          </a:xfrm>
          <a:prstGeom prst="roundRect">
            <a:avLst>
              <a:gd name="adj" fmla="val 8800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20840" y="91440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49440" y="1097280"/>
            <a:ext cx="365760" cy="36576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720840" y="219456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949440" y="2377440"/>
            <a:ext cx="365760" cy="36576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720840" y="347472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949440" y="3657600"/>
            <a:ext cx="365760" cy="36576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720840" y="475488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49440" y="4937760"/>
            <a:ext cx="365760" cy="36576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720840" y="603504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949440" y="6217920"/>
            <a:ext cx="365760" cy="36576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326880" y="822960"/>
            <a:ext cx="2194560" cy="1737360"/>
          </a:xfrm>
          <a:prstGeom prst="roundRect">
            <a:avLst>
              <a:gd name="adj" fmla="val 10526"/>
            </a:avLst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509760" y="1097280"/>
            <a:ext cx="548640" cy="822960"/>
          </a:xfrm>
          <a:prstGeom prst="roundRect">
            <a:avLst>
              <a:gd name="adj" fmla="val 20000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509760" y="10972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10149840" y="1097280"/>
            <a:ext cx="548640" cy="822960"/>
          </a:xfrm>
          <a:prstGeom prst="roundRect">
            <a:avLst>
              <a:gd name="adj" fmla="val 20000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149840" y="10972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10789920" y="1097280"/>
            <a:ext cx="548640" cy="822960"/>
          </a:xfrm>
          <a:prstGeom prst="roundRect">
            <a:avLst>
              <a:gd name="adj" fmla="val 20000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789920" y="10972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932688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Spielautomat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9326880" y="2651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Ungewissheit hält dich beim Wischen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9326880" y="3840480"/>
            <a:ext cx="2194560" cy="822960"/>
          </a:xfrm>
          <a:prstGeom prst="wedgeRoundRectCallout">
            <a:avLst>
              <a:gd name="adj" fmla="val 22222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326880" y="3840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Neues Video für dich!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9326880" y="4892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Push-Mitteilungen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9326880" y="5486400"/>
            <a:ext cx="2194560" cy="731520"/>
          </a:xfrm>
          <a:prstGeom prst="roundRect">
            <a:avLst>
              <a:gd name="adj" fmla="val 50000"/>
            </a:avLst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9555480" y="5669280"/>
            <a:ext cx="365760" cy="365760"/>
          </a:xfrm>
          <a:prstGeom prst="triangl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058400" y="5486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Autoplay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Anfang 2026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EU-Kommission sieht einen </a:t>
            </a:r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Verstoß</a:t>
            </a:r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gegen EU-Recht.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463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A9C7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Vorläufige Feststellung. TikTok weist die Vorwürfe zurück.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8869680" y="64008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829800" y="897343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532657" y="160020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789920" y="256032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532657" y="352044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29800" y="4223297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869680" y="448056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909560" y="4223297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206703" y="352044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49440" y="256032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206703" y="160020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909560" y="897343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0" y="1783080"/>
            <a:ext cx="2743200" cy="1920240"/>
          </a:xfrm>
          <a:prstGeom prst="roundRect">
            <a:avLst>
              <a:gd name="adj" fmla="val 9524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778240" y="1965960"/>
            <a:ext cx="548640" cy="502920"/>
          </a:xfrm>
          <a:prstGeom prst="triangl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778240" y="20299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!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7818120" y="26060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Vorläufig: Verstoß gegen EU-Recht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583680" y="5029200"/>
            <a:ext cx="2377440" cy="411480"/>
          </a:xfrm>
          <a:prstGeom prst="roundRect">
            <a:avLst>
              <a:gd name="adj" fmla="val 44444"/>
            </a:avLst>
          </a:prstGeom>
          <a:solidFill>
            <a:srgbClr val="1B4527"/>
          </a:solidFill>
          <a:ln w="19050">
            <a:solidFill>
              <a:srgbClr val="B1FF3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83680" y="5029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Endloses Scrollen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9098280" y="5029200"/>
            <a:ext cx="2377440" cy="411480"/>
          </a:xfrm>
          <a:prstGeom prst="roundRect">
            <a:avLst>
              <a:gd name="adj" fmla="val 44444"/>
            </a:avLst>
          </a:prstGeom>
          <a:solidFill>
            <a:srgbClr val="1B4527"/>
          </a:solidFill>
          <a:ln w="19050">
            <a:solidFill>
              <a:srgbClr val="B1FF3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098280" y="5029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Autoplay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583680" y="5532120"/>
            <a:ext cx="2377440" cy="411480"/>
          </a:xfrm>
          <a:prstGeom prst="roundRect">
            <a:avLst>
              <a:gd name="adj" fmla="val 44444"/>
            </a:avLst>
          </a:prstGeom>
          <a:solidFill>
            <a:srgbClr val="1B4527"/>
          </a:solidFill>
          <a:ln w="19050">
            <a:solidFill>
              <a:srgbClr val="B1FF3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0" y="5532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Push-Mitteilungen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9098280" y="5532120"/>
            <a:ext cx="2377440" cy="411480"/>
          </a:xfrm>
          <a:prstGeom prst="roundRect">
            <a:avLst>
              <a:gd name="adj" fmla="val 44444"/>
            </a:avLst>
          </a:prstGeom>
          <a:solidFill>
            <a:srgbClr val="1B4527"/>
          </a:solidFill>
          <a:ln w="19050">
            <a:solidFill>
              <a:srgbClr val="B1FF3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98280" y="5532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Empfehlungssystem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Ziel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188720"/>
            <a:ext cx="7498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Ziel ist nicht, dass du dich gut fühlst. </a:t>
            </a:r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Ziel ist, dass du bleibst.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640080" y="4572000"/>
            <a:ext cx="7498080" cy="914400"/>
          </a:xfrm>
          <a:prstGeom prst="roundRect">
            <a:avLst>
              <a:gd name="adj" fmla="val 2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57200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Deine Aufmerksamkeit ist die Währung.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8412480" y="2011680"/>
            <a:ext cx="3200400" cy="2011680"/>
          </a:xfrm>
          <a:prstGeom prst="ellipse">
            <a:avLst/>
          </a:prstGeom>
          <a:solidFill>
            <a:srgbClr val="FBFFF4"/>
          </a:solidFill>
          <a:ln w="38100">
            <a:solidFill>
              <a:srgbClr val="B1FF3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281160" y="2286000"/>
            <a:ext cx="1463040" cy="146304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69780" y="2674620"/>
            <a:ext cx="685800" cy="6858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140696" y="2688336"/>
            <a:ext cx="201168" cy="201168"/>
          </a:xfrm>
          <a:prstGeom prst="ellipse">
            <a:avLst/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052560" y="1554480"/>
            <a:ext cx="0" cy="320040"/>
          </a:xfrm>
          <a:prstGeom prst="line">
            <a:avLst/>
          </a:prstGeom>
          <a:noFill/>
          <a:ln w="38100">
            <a:solidFill>
              <a:srgbClr val="B1FF3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058400" y="1325880"/>
            <a:ext cx="0" cy="320040"/>
          </a:xfrm>
          <a:prstGeom prst="line">
            <a:avLst/>
          </a:prstGeom>
          <a:noFill/>
          <a:ln w="38100">
            <a:solidFill>
              <a:srgbClr val="B1FF3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064240" y="1554480"/>
            <a:ext cx="0" cy="320040"/>
          </a:xfrm>
          <a:prstGeom prst="line">
            <a:avLst/>
          </a:prstGeom>
          <a:noFill/>
          <a:ln w="38100">
            <a:solidFill>
              <a:srgbClr val="B1FF37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Signale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0972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TikTok sammelt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drei Arten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von Signalen.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40080" y="2194560"/>
            <a:ext cx="3474720" cy="3108960"/>
          </a:xfrm>
          <a:prstGeom prst="roundRect">
            <a:avLst>
              <a:gd name="adj" fmla="val 4412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2423160"/>
            <a:ext cx="914400" cy="9144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97280" y="2697480"/>
            <a:ext cx="457200" cy="411480"/>
          </a:xfrm>
          <a:prstGeom prst="heart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965960" y="24688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Deine Aktionen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61188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Liken &amp; Teilen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Kommentieren &amp; Folgen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Wie lange du schaust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Was du wegwischst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474720" cy="3108960"/>
          </a:xfrm>
          <a:prstGeom prst="roundRect">
            <a:avLst>
              <a:gd name="adj" fmla="val 4412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0" y="2423160"/>
            <a:ext cx="914400" cy="9144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0" y="2423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0" y="24688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Infos zum Video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617720" y="361188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Beschreibung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Hashtags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 verwendete Sound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0" y="2194560"/>
            <a:ext cx="3474720" cy="3108960"/>
          </a:xfrm>
          <a:prstGeom prst="roundRect">
            <a:avLst>
              <a:gd name="adj" fmla="val 4412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75320" y="2423160"/>
            <a:ext cx="914400" cy="9144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595360" y="2606040"/>
            <a:ext cx="274320" cy="548640"/>
          </a:xfrm>
          <a:prstGeom prst="roundRect">
            <a:avLst>
              <a:gd name="adj" fmla="val 2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372600" y="24688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Gerät &amp; Konto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361188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Sprache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Land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Handymodell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40080" y="5486400"/>
            <a:ext cx="10881360" cy="731520"/>
          </a:xfrm>
          <a:prstGeom prst="roundRect">
            <a:avLst>
              <a:gd name="adj" fmla="val 5000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Daraus berechnet TikTok für jedes Video: Wie wahrscheinlich gefällt es dir?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Gewichtung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486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Nicht jedes Signal zählt </a:t>
            </a:r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gleich viel.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3891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 musst nichts liken: Zuschauen ist quasi ein stilles Like.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8887968" y="2011680"/>
            <a:ext cx="146304" cy="3840480"/>
          </a:xfrm>
          <a:prstGeom prst="rect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5852160"/>
            <a:ext cx="1828800" cy="274320"/>
          </a:xfrm>
          <a:prstGeom prst="roundRect">
            <a:avLst>
              <a:gd name="adj" fmla="val 33333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1120000">
            <a:off x="7040880" y="1929384"/>
            <a:ext cx="3840480" cy="164592"/>
          </a:xfrm>
          <a:prstGeom prst="roundRect">
            <a:avLst>
              <a:gd name="adj" fmla="val 44444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1828800"/>
            <a:ext cx="365760" cy="36576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059568" y="2278926"/>
            <a:ext cx="0" cy="1828800"/>
          </a:xfrm>
          <a:prstGeom prst="line">
            <a:avLst/>
          </a:prstGeom>
          <a:noFill/>
          <a:ln w="25400">
            <a:solidFill>
              <a:srgbClr val="1230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862672" y="1744434"/>
            <a:ext cx="0" cy="1280160"/>
          </a:xfrm>
          <a:prstGeom prst="line">
            <a:avLst/>
          </a:prstGeom>
          <a:noFill/>
          <a:ln w="25400">
            <a:solidFill>
              <a:srgbClr val="12301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145168" y="4107726"/>
            <a:ext cx="1828800" cy="146304"/>
          </a:xfrm>
          <a:prstGeom prst="roundRect">
            <a:avLst>
              <a:gd name="adj" fmla="val 4375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948272" y="3024594"/>
            <a:ext cx="1828800" cy="146304"/>
          </a:xfrm>
          <a:prstGeom prst="roundRect">
            <a:avLst>
              <a:gd name="adj" fmla="val 4375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328048" y="2644686"/>
            <a:ext cx="1463040" cy="146304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19488" y="2873286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F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Video bis zum Ende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0588352" y="2475954"/>
            <a:ext cx="548640" cy="548640"/>
          </a:xfrm>
          <a:prstGeom prst="ellipse">
            <a:avLst/>
          </a:prstGeom>
          <a:solidFill>
            <a:srgbClr val="B8D98A"/>
          </a:solidFill>
          <a:ln w="12700">
            <a:solidFill>
              <a:srgbClr val="B8D98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510928" y="4382046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10928" y="438204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stark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0222592" y="3298914"/>
            <a:ext cx="1280160" cy="365760"/>
          </a:xfrm>
          <a:prstGeom prst="roundRect">
            <a:avLst>
              <a:gd name="adj" fmla="val 2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222592" y="329891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schwach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948272" y="375611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Gleiches Land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 Kreislauf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486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passiert bei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jedem einzelnen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Video.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38912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Darum wirkt der Feed schon nach kurzer Zeit so, als würde er dich richtig gut kennen.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269480" y="1508760"/>
            <a:ext cx="3566160" cy="3566160"/>
          </a:xfrm>
          <a:prstGeom prst="ellipse">
            <a:avLst/>
          </a:prstGeom>
          <a:noFill/>
          <a:ln w="38100">
            <a:solidFill>
              <a:srgbClr val="26720A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 rot="8100000">
            <a:off x="10130508" y="1848132"/>
            <a:ext cx="365760" cy="365760"/>
          </a:xfrm>
          <a:prstGeom prst="triangl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13500000">
            <a:off x="10130508" y="4369788"/>
            <a:ext cx="365760" cy="365760"/>
          </a:xfrm>
          <a:prstGeom prst="triangl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18900000">
            <a:off x="7608852" y="4369788"/>
            <a:ext cx="365760" cy="365760"/>
          </a:xfrm>
          <a:prstGeom prst="triangl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2700000">
            <a:off x="7608852" y="1848132"/>
            <a:ext cx="365760" cy="365760"/>
          </a:xfrm>
          <a:prstGeom prst="triangl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52460" y="708660"/>
            <a:ext cx="1600200" cy="160020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89620" y="708660"/>
            <a:ext cx="1325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Video sehen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298180" y="754380"/>
            <a:ext cx="411480" cy="41148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98180" y="7543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10035540" y="2491740"/>
            <a:ext cx="1600200" cy="1600200"/>
          </a:xfrm>
          <a:prstGeom prst="ellipse">
            <a:avLst/>
          </a:prstGeom>
          <a:solidFill>
            <a:srgbClr val="FBFFF4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172700" y="2491740"/>
            <a:ext cx="1325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Reagieren – oder nicht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081260" y="2537460"/>
            <a:ext cx="411480" cy="41148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81260" y="25374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252460" y="4274820"/>
            <a:ext cx="1600200" cy="160020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389620" y="4274820"/>
            <a:ext cx="1325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Vorhersage anpassen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298180" y="4320540"/>
            <a:ext cx="411480" cy="41148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98180" y="43205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469380" y="2491740"/>
            <a:ext cx="1600200" cy="1600200"/>
          </a:xfrm>
          <a:prstGeom prst="ellipse">
            <a:avLst/>
          </a:prstGeom>
          <a:solidFill>
            <a:srgbClr val="FBFFF4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606540" y="2491740"/>
            <a:ext cx="1325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Nächstes Video wählen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515100" y="2537460"/>
            <a:ext cx="411480" cy="41148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515100" y="25374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0" y="28803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wieder und wieder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 Start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Und ganz am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Anfang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wenn TikTok noch nichts weiß?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492240" y="2560320"/>
            <a:ext cx="1463040" cy="146304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92240" y="256032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Neues Konto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955280" y="3291840"/>
            <a:ext cx="457200" cy="0"/>
          </a:xfrm>
          <a:prstGeom prst="line">
            <a:avLst/>
          </a:prstGeom>
          <a:noFill/>
          <a:ln w="38100">
            <a:solidFill>
              <a:srgbClr val="26720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12480" y="2103120"/>
            <a:ext cx="0" cy="2377440"/>
          </a:xfrm>
          <a:prstGeom prst="line">
            <a:avLst/>
          </a:prstGeom>
          <a:noFill/>
          <a:ln w="38100">
            <a:solidFill>
              <a:srgbClr val="26720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2103120"/>
            <a:ext cx="457200" cy="0"/>
          </a:xfrm>
          <a:prstGeom prst="line">
            <a:avLst/>
          </a:prstGeom>
          <a:noFill/>
          <a:ln w="38100">
            <a:solidFill>
              <a:srgbClr val="26720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8412480" y="4480560"/>
            <a:ext cx="457200" cy="0"/>
          </a:xfrm>
          <a:prstGeom prst="line">
            <a:avLst/>
          </a:prstGeom>
          <a:noFill/>
          <a:ln w="38100">
            <a:solidFill>
              <a:srgbClr val="26720A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961120" y="1234440"/>
            <a:ext cx="2606040" cy="1737360"/>
          </a:xfrm>
          <a:prstGeom prst="roundRect">
            <a:avLst>
              <a:gd name="adj" fmla="val 7895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0" y="1371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Interessen wählen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9144000" y="2011680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0" y="20116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Tiere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10287000" y="201168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287000" y="2011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Reisen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961120" y="3611880"/>
            <a:ext cx="2606040" cy="1737360"/>
          </a:xfrm>
          <a:prstGeom prst="roundRect">
            <a:avLst>
              <a:gd name="adj" fmla="val 7895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Nichts wählen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0" y="42519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Zuerst beliebte Videos – TikTok beobachtet, wie du reagierst.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594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Schattenseiten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0058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Klingt praktisch – hat aber </a:t>
            </a:r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große Schattenseiten.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640080" y="2468880"/>
            <a:ext cx="3474720" cy="2880360"/>
          </a:xfrm>
          <a:prstGeom prst="roundRect">
            <a:avLst>
              <a:gd name="adj" fmla="val 4762"/>
            </a:avLst>
          </a:prstGeom>
          <a:solidFill>
            <a:srgbClr val="1B4527"/>
          </a:solidFill>
          <a:ln w="15875">
            <a:solidFill>
              <a:srgbClr val="2F6B3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874520" y="2560320"/>
            <a:ext cx="1005840" cy="1005840"/>
          </a:xfrm>
          <a:prstGeom prst="ellipse">
            <a:avLst/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125980" y="2857500"/>
            <a:ext cx="137160" cy="1371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46020" y="2811780"/>
            <a:ext cx="137160" cy="1371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91740" y="3131820"/>
            <a:ext cx="137160" cy="1371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171700" y="3177540"/>
            <a:ext cx="137160" cy="1371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08860" y="2994660"/>
            <a:ext cx="137160" cy="1371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40180" y="2720340"/>
            <a:ext cx="137160" cy="137160"/>
          </a:xfrm>
          <a:prstGeom prst="ellipse">
            <a:avLst/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23260" y="3314700"/>
            <a:ext cx="137160" cy="137160"/>
          </a:xfrm>
          <a:prstGeom prst="ellipse">
            <a:avLst/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131820" y="2583180"/>
            <a:ext cx="137160" cy="137160"/>
          </a:xfrm>
          <a:prstGeom prst="ellipse">
            <a:avLst/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Filterblase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416052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Immer mehr vom Gleichen. Andere Themen und Meinungen tauchen kaum noch auf.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343400" y="2468880"/>
            <a:ext cx="3474720" cy="2880360"/>
          </a:xfrm>
          <a:prstGeom prst="roundRect">
            <a:avLst>
              <a:gd name="adj" fmla="val 4762"/>
            </a:avLst>
          </a:prstGeom>
          <a:solidFill>
            <a:srgbClr val="1B4527"/>
          </a:solidFill>
          <a:ln w="15875">
            <a:solidFill>
              <a:srgbClr val="2F6B3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212080" y="2743200"/>
            <a:ext cx="1737360" cy="502920"/>
          </a:xfrm>
          <a:prstGeom prst="ellipse">
            <a:avLst/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417820" y="2852928"/>
            <a:ext cx="1325880" cy="384048"/>
          </a:xfrm>
          <a:prstGeom prst="ellipse">
            <a:avLst/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23560" y="2962656"/>
            <a:ext cx="914400" cy="274320"/>
          </a:xfrm>
          <a:prstGeom prst="ellipse">
            <a:avLst/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29300" y="3072384"/>
            <a:ext cx="502920" cy="182880"/>
          </a:xfrm>
          <a:prstGeom prst="ellipse">
            <a:avLst/>
          </a:prstGeom>
          <a:solidFill>
            <a:srgbClr val="0A1C10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61772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Rabbit Hole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4617720" y="416052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Videos werden einseitiger, extremer – oder ziehen die Stimmung runter.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46720" y="2468880"/>
            <a:ext cx="3474720" cy="2880360"/>
          </a:xfrm>
          <a:prstGeom prst="roundRect">
            <a:avLst>
              <a:gd name="adj" fmla="val 4762"/>
            </a:avLst>
          </a:prstGeom>
          <a:solidFill>
            <a:srgbClr val="1B4527"/>
          </a:solidFill>
          <a:ln w="15875">
            <a:solidFill>
              <a:srgbClr val="2F6B3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81160" y="2560320"/>
            <a:ext cx="1005840" cy="1005840"/>
          </a:xfrm>
          <a:prstGeom prst="ellipse">
            <a:avLst/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784080" y="2651760"/>
            <a:ext cx="0" cy="411480"/>
          </a:xfrm>
          <a:prstGeom prst="line">
            <a:avLst/>
          </a:prstGeom>
          <a:noFill/>
          <a:ln w="38100">
            <a:solidFill>
              <a:srgbClr val="B1FF3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784080" y="3063240"/>
            <a:ext cx="274320" cy="137160"/>
          </a:xfrm>
          <a:prstGeom prst="line">
            <a:avLst/>
          </a:prstGeom>
          <a:noFill/>
          <a:ln w="38100">
            <a:solidFill>
              <a:srgbClr val="B1FF3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287000" y="2514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832104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Zeitgefühl weg</a:t>
            </a:r>
            <a:endParaRPr lang="en-US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8321040" y="416052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Weil der Feed nie endet, merkst du kaum, wie viel Zeit vergeht.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640080" y="5532120"/>
            <a:ext cx="10881360" cy="731520"/>
          </a:xfrm>
          <a:prstGeom prst="roundRect">
            <a:avLst>
              <a:gd name="adj" fmla="val 5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532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 Algorithmus prüft nicht, ob dir ein Video guttut. Er berechnet nur, ob du weiterschaust.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Gegenmaßnahmen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TikTok sagt: Wir </a:t>
            </a:r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steuern dagegen.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3891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 das reicht, wird viel diskutiert.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583680" y="914400"/>
            <a:ext cx="4937760" cy="2377440"/>
          </a:xfrm>
          <a:prstGeom prst="roundRect">
            <a:avLst>
              <a:gd name="adj" fmla="val 5769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0" y="128016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0" y="1280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Sound 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321040" y="128016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21040" y="1280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Sound A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9784080" y="128016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784080" y="1280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Sound B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9235440" y="960120"/>
            <a:ext cx="594360" cy="594360"/>
          </a:xfrm>
          <a:prstGeom prst="mathMultiply">
            <a:avLst/>
          </a:prstGeom>
          <a:solidFill>
            <a:srgbClr val="FF7A45"/>
          </a:solidFill>
          <a:ln w="12700">
            <a:solidFill>
              <a:srgbClr val="FF7A4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0" y="22402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Derselbe Sound oder Account nie direkt hintereinander.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583680" y="3611880"/>
            <a:ext cx="4937760" cy="2377440"/>
          </a:xfrm>
          <a:prstGeom prst="roundRect">
            <a:avLst>
              <a:gd name="adj" fmla="val 5769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0" y="397764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0" y="39776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Katzen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321040" y="397764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21040" y="39776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Minecraft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9784080" y="397764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784080" y="39776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Segeln?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0927080" y="3794760"/>
            <a:ext cx="457200" cy="457200"/>
          </a:xfrm>
          <a:prstGeom prst="star5">
            <a:avLst/>
          </a:prstGeom>
          <a:solidFill>
            <a:srgbClr val="12301A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0" y="49377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 und zu absichtlich: Videos, die nicht zu deinen Interessen passen.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Deine Werkzeuge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 kannst </a:t>
            </a:r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mitsteuern.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8328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„Nicht interessiert“ – lange tippen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Wörter &amp; Hashtags filtern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Themen verwalten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Feed zurücksetzen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Teilen-Menü: „Warum sehe ich das?“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Feed ohne Personalisierung (EU)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583680" y="822960"/>
            <a:ext cx="4937760" cy="5394960"/>
          </a:xfrm>
          <a:prstGeom prst="roundRect">
            <a:avLst>
              <a:gd name="adj" fmla="val 463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0" y="10058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Themen verwalten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168896" y="1600200"/>
            <a:ext cx="109728" cy="2377440"/>
          </a:xfrm>
          <a:prstGeom prst="roundRect">
            <a:avLst>
              <a:gd name="adj" fmla="val 41667"/>
            </a:avLst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49440" y="1920240"/>
            <a:ext cx="548640" cy="320040"/>
          </a:xfrm>
          <a:prstGeom prst="roundRect">
            <a:avLst>
              <a:gd name="adj" fmla="val 2857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20840" y="40690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Tanz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266176" y="1600200"/>
            <a:ext cx="109728" cy="2377440"/>
          </a:xfrm>
          <a:prstGeom prst="roundRect">
            <a:avLst>
              <a:gd name="adj" fmla="val 41667"/>
            </a:avLst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046720" y="3063240"/>
            <a:ext cx="548640" cy="320040"/>
          </a:xfrm>
          <a:prstGeom prst="roundRect">
            <a:avLst>
              <a:gd name="adj" fmla="val 2857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40690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Fußball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9363456" y="1600200"/>
            <a:ext cx="109728" cy="2377440"/>
          </a:xfrm>
          <a:prstGeom prst="roundRect">
            <a:avLst>
              <a:gd name="adj" fmla="val 41667"/>
            </a:avLst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144000" y="1783080"/>
            <a:ext cx="548640" cy="320040"/>
          </a:xfrm>
          <a:prstGeom prst="roundRect">
            <a:avLst>
              <a:gd name="adj" fmla="val 2857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915400" y="40690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Katzen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460736" y="1600200"/>
            <a:ext cx="109728" cy="2377440"/>
          </a:xfrm>
          <a:prstGeom prst="roundRect">
            <a:avLst>
              <a:gd name="adj" fmla="val 41667"/>
            </a:avLst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241280" y="2514600"/>
            <a:ext cx="548640" cy="320040"/>
          </a:xfrm>
          <a:prstGeom prst="roundRect">
            <a:avLst>
              <a:gd name="adj" fmla="val 2857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012680" y="40690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Kochen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812280" y="4617720"/>
            <a:ext cx="2240280" cy="502920"/>
          </a:xfrm>
          <a:prstGeom prst="roundRect">
            <a:avLst>
              <a:gd name="adj" fmla="val 49091"/>
            </a:avLst>
          </a:prstGeom>
          <a:solidFill>
            <a:srgbClr val="1B4527"/>
          </a:solidFill>
          <a:ln w="19050">
            <a:solidFill>
              <a:srgbClr val="B1FF3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12280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Nicht interessiert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9720" y="4617720"/>
            <a:ext cx="2148840" cy="502920"/>
          </a:xfrm>
          <a:prstGeom prst="roundRect">
            <a:avLst>
              <a:gd name="adj" fmla="val 4909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89720" y="46177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Feed zurücksetzen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812280" y="54406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Ohne Personalisierung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10332720" y="5486400"/>
            <a:ext cx="914400" cy="457200"/>
          </a:xfrm>
          <a:prstGeom prst="roundRect">
            <a:avLst>
              <a:gd name="adj" fmla="val 5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835640" y="5532120"/>
            <a:ext cx="365760" cy="36576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Kurzer Check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0972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Pausiere das Video und </a:t>
            </a:r>
            <a:pPr indent="0" marL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überlege kurz.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10104120" y="777240"/>
            <a:ext cx="1371600" cy="13716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515600" y="1188720"/>
            <a:ext cx="182880" cy="548640"/>
          </a:xfrm>
          <a:prstGeom prst="roundRect">
            <a:avLst>
              <a:gd name="adj" fmla="val 2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881360" y="1188720"/>
            <a:ext cx="182880" cy="548640"/>
          </a:xfrm>
          <a:prstGeom prst="roundRect">
            <a:avLst>
              <a:gd name="adj" fmla="val 2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2926080"/>
            <a:ext cx="3474720" cy="3200400"/>
          </a:xfrm>
          <a:prstGeom prst="roundRect">
            <a:avLst>
              <a:gd name="adj" fmla="val 4286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743200" y="283464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DDF3B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11000" dirty="0"/>
          </a:p>
        </p:txBody>
      </p:sp>
      <p:sp>
        <p:nvSpPr>
          <p:cNvPr id="10" name="Shape 7"/>
          <p:cNvSpPr/>
          <p:nvPr/>
        </p:nvSpPr>
        <p:spPr>
          <a:xfrm>
            <a:off x="914400" y="3200400"/>
            <a:ext cx="548640" cy="54864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1440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402336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Welches Signal ist stärker: ein Video bis zum Ende schauen oder im selben Land wohnen?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343400" y="2926080"/>
            <a:ext cx="3474720" cy="3200400"/>
          </a:xfrm>
          <a:prstGeom prst="roundRect">
            <a:avLst>
              <a:gd name="adj" fmla="val 4286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6520" y="283464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DDF3B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11000" dirty="0"/>
          </a:p>
        </p:txBody>
      </p:sp>
      <p:sp>
        <p:nvSpPr>
          <p:cNvPr id="15" name="Shape 12"/>
          <p:cNvSpPr/>
          <p:nvPr/>
        </p:nvSpPr>
        <p:spPr>
          <a:xfrm>
            <a:off x="4617720" y="3200400"/>
            <a:ext cx="548640" cy="54864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1772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617720" y="402336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Warum ist TikTok kostenlos – und was hat das mit deinem Feed zu tun?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8046720" y="2926080"/>
            <a:ext cx="3474720" cy="3200400"/>
          </a:xfrm>
          <a:prstGeom prst="roundRect">
            <a:avLst>
              <a:gd name="adj" fmla="val 4286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149840" y="283464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DDF3B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11000" dirty="0"/>
          </a:p>
        </p:txBody>
      </p:sp>
      <p:sp>
        <p:nvSpPr>
          <p:cNvPr id="20" name="Shape 17"/>
          <p:cNvSpPr/>
          <p:nvPr/>
        </p:nvSpPr>
        <p:spPr>
          <a:xfrm>
            <a:off x="8321040" y="3200400"/>
            <a:ext cx="548640" cy="54864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3210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0" y="402336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Was kannst du tun, wenn dein Feed dir nicht guttut?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9875520" y="-182880"/>
            <a:ext cx="2926080" cy="292608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0515600" y="457200"/>
            <a:ext cx="1645920" cy="164592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1109960" y="1051560"/>
            <a:ext cx="457200" cy="4572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Merk dir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14300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 Feed ist kein Zufall und kein Spiegel der Welt.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6576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 ist eine Berechnung aus deinem Verhalten. Wer das weiß, kann bewusster scrollen.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640080" y="5120640"/>
            <a:ext cx="7680960" cy="868680"/>
          </a:xfrm>
          <a:prstGeom prst="roundRect">
            <a:avLst>
              <a:gd name="adj" fmla="val 21053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512064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Mehr Videos zur Digitalen Grundbildung auf Cleverbox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everbox Gruen">
  <a:themeElements>
    <a:clrScheme name="Cleverbox Gruen">
      <a:dk1>
        <a:srgbClr val="0E1F0C"/>
      </a:dk1>
      <a:lt1>
        <a:srgbClr val="FBFFF4"/>
      </a:lt1>
      <a:dk2>
        <a:srgbClr val="12301A"/>
      </a:dk2>
      <a:lt2>
        <a:srgbClr val="EFFBDC"/>
      </a:lt2>
      <a:accent1>
        <a:srgbClr val="B1FF37"/>
      </a:accent1>
      <a:accent2>
        <a:srgbClr val="26720A"/>
      </a:accent2>
      <a:accent3>
        <a:srgbClr val="DDF3B8"/>
      </a:accent3>
      <a:accent4>
        <a:srgbClr val="5B6B50"/>
      </a:accent4>
      <a:accent5>
        <a:srgbClr val="FF7A45"/>
      </a:accent5>
      <a:accent6>
        <a:srgbClr val="B8D98A"/>
      </a:accent6>
      <a:hlink>
        <a:srgbClr val="26720A"/>
      </a:hlink>
      <a:folHlink>
        <a:srgbClr val="5B6B50"/>
      </a:folHlink>
    </a:clrScheme>
    <a:fontScheme name="Cleverbox Gruen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TikTok-Algorithmus – Erklärvideo Slides</dc:title>
  <dc:subject>PptxGenJS Presentation</dc:subject>
  <dc:creator>Cleverbox</dc:creator>
  <cp:lastModifiedBy>Cleverbox</cp:lastModifiedBy>
  <cp:revision>1</cp:revision>
  <dcterms:created xsi:type="dcterms:W3CDTF">2026-10-07T16:04:25Z</dcterms:created>
  <dcterms:modified xsi:type="dcterms:W3CDTF">2026-10-07T16:04:25Z</dcterms:modified>
</cp:coreProperties>
</file>