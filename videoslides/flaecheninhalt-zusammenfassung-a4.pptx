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8DB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Zusammenfassung · Flächeninhalt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64648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Flächeninhalt aller
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4459A"/>
                </a:solidFill>
                <a:highlight>
                  <a:srgbClr val="8DBBF2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Grundfiguren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2834640"/>
            <a:ext cx="6464808" cy="1965960"/>
          </a:xfrm>
          <a:prstGeom prst="roundRect">
            <a:avLst>
              <a:gd name="adj" fmla="val 6977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Grundidee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429000"/>
            <a:ext cx="5824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Alle Flächenformeln lassen sich vom Rechteck herleiten.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31920"/>
            <a:ext cx="5824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 verwandelt jede Figur durch Verdoppeln, Zerschneiden oder Umlegen in ein Rechteck oder ein Parallelogramm und rechnet dann mit bekannten Formeln.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07492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Ausgangspunkt: das Rechteck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5623560"/>
            <a:ext cx="6464808" cy="4572000"/>
          </a:xfrm>
          <a:prstGeom prst="roundRect">
            <a:avLst>
              <a:gd name="adj" fmla="val 300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71600" y="6172200"/>
            <a:ext cx="566928" cy="566928"/>
          </a:xfrm>
          <a:prstGeom prst="rect">
            <a:avLst/>
          </a:prstGeom>
          <a:solidFill>
            <a:srgbClr val="D9E8FA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38528" y="6172200"/>
            <a:ext cx="566928" cy="566928"/>
          </a:xfrm>
          <a:prstGeom prst="rect">
            <a:avLst/>
          </a:prstGeom>
          <a:solidFill>
            <a:srgbClr val="C9DDF5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05456" y="6172200"/>
            <a:ext cx="566928" cy="566928"/>
          </a:xfrm>
          <a:prstGeom prst="rect">
            <a:avLst/>
          </a:prstGeom>
          <a:solidFill>
            <a:srgbClr val="D9E8FA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72384" y="6172200"/>
            <a:ext cx="566928" cy="566928"/>
          </a:xfrm>
          <a:prstGeom prst="rect">
            <a:avLst/>
          </a:prstGeom>
          <a:solidFill>
            <a:srgbClr val="C9DDF5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39312" y="6172200"/>
            <a:ext cx="566928" cy="566928"/>
          </a:xfrm>
          <a:prstGeom prst="rect">
            <a:avLst/>
          </a:prstGeom>
          <a:solidFill>
            <a:srgbClr val="D9E8FA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71600" y="6739128"/>
            <a:ext cx="566928" cy="566928"/>
          </a:xfrm>
          <a:prstGeom prst="rect">
            <a:avLst/>
          </a:prstGeom>
          <a:solidFill>
            <a:srgbClr val="C9DDF5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938528" y="6739128"/>
            <a:ext cx="566928" cy="566928"/>
          </a:xfrm>
          <a:prstGeom prst="rect">
            <a:avLst/>
          </a:prstGeom>
          <a:solidFill>
            <a:srgbClr val="D9E8FA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05456" y="6739128"/>
            <a:ext cx="566928" cy="566928"/>
          </a:xfrm>
          <a:prstGeom prst="rect">
            <a:avLst/>
          </a:prstGeom>
          <a:solidFill>
            <a:srgbClr val="C9DDF5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72384" y="6739128"/>
            <a:ext cx="566928" cy="566928"/>
          </a:xfrm>
          <a:prstGeom prst="rect">
            <a:avLst/>
          </a:prstGeom>
          <a:solidFill>
            <a:srgbClr val="D9E8FA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39312" y="6739128"/>
            <a:ext cx="566928" cy="566928"/>
          </a:xfrm>
          <a:prstGeom prst="rect">
            <a:avLst/>
          </a:prstGeom>
          <a:solidFill>
            <a:srgbClr val="C9DDF5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71600" y="7306056"/>
            <a:ext cx="566928" cy="566928"/>
          </a:xfrm>
          <a:prstGeom prst="rect">
            <a:avLst/>
          </a:prstGeom>
          <a:solidFill>
            <a:srgbClr val="D9E8FA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938528" y="7306056"/>
            <a:ext cx="566928" cy="566928"/>
          </a:xfrm>
          <a:prstGeom prst="rect">
            <a:avLst/>
          </a:prstGeom>
          <a:solidFill>
            <a:srgbClr val="C9DDF5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05456" y="7306056"/>
            <a:ext cx="566928" cy="566928"/>
          </a:xfrm>
          <a:prstGeom prst="rect">
            <a:avLst/>
          </a:prstGeom>
          <a:solidFill>
            <a:srgbClr val="D9E8FA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72384" y="7306056"/>
            <a:ext cx="566928" cy="566928"/>
          </a:xfrm>
          <a:prstGeom prst="rect">
            <a:avLst/>
          </a:prstGeom>
          <a:solidFill>
            <a:srgbClr val="C9DDF5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39312" y="7306056"/>
            <a:ext cx="566928" cy="566928"/>
          </a:xfrm>
          <a:prstGeom prst="rect">
            <a:avLst/>
          </a:prstGeom>
          <a:solidFill>
            <a:srgbClr val="D9E8FA"/>
          </a:solidFill>
          <a:ln w="12700">
            <a:solidFill>
              <a:srgbClr val="14459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371600" y="5715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Länge a = 5 cm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6172200"/>
            <a:ext cx="5943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cm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371600" y="79644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Kästchen = 1 cm²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68680" y="8275320"/>
            <a:ext cx="5824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Flächeninhalt gibt an, wie oft eine Einheitsfläche (z. B. 1 cm²) in die Figur passt.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617720" y="5989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Rechnung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617720" y="6355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cm² pro Reihe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Reihen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5 cm² = 15 cm²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68680" y="8961120"/>
            <a:ext cx="5824728" cy="914400"/>
          </a:xfrm>
          <a:prstGeom prst="roundRect">
            <a:avLst>
              <a:gd name="adj" fmla="val 15000"/>
            </a:avLst>
          </a:prstGeom>
          <a:solidFill>
            <a:srgbClr val="8DBBF2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97280" y="8961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a · b</a:t>
            </a:r>
            <a:endParaRPr lang="en-US" sz="3000" dirty="0"/>
          </a:p>
        </p:txBody>
      </p:sp>
      <p:sp>
        <p:nvSpPr>
          <p:cNvPr id="34" name="Text 31"/>
          <p:cNvSpPr txBox="1"/>
          <p:nvPr/>
        </p:nvSpPr>
        <p:spPr>
          <a:xfrm>
            <a:off x="4114800" y="8961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Länge = Kästchen pro Reihe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Breite = Zahl der Reihen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Herleitungen im Überblick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6464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Alles vom </a:t>
            </a:r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459A"/>
                </a:solidFill>
                <a:highlight>
                  <a:srgbClr val="8DBBF2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Rechteck</a:t>
            </a:r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abgeleitet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6464808" cy="960120"/>
          </a:xfrm>
          <a:prstGeom prst="roundRect">
            <a:avLst>
              <a:gd name="adj" fmla="val 1428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71116"/>
            <a:ext cx="868680" cy="566928"/>
          </a:xfrm>
          <a:prstGeom prst="rect">
            <a:avLst/>
          </a:prstGeom>
          <a:solidFill>
            <a:srgbClr val="C9DDF5"/>
          </a:solidFill>
          <a:ln w="19050">
            <a:solidFill>
              <a:srgbClr val="0F2A5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920240" y="19476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Rechteck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240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Einheitsquadrate zählen: Länge mal Breite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2011680"/>
            <a:ext cx="2148840" cy="685800"/>
          </a:xfrm>
          <a:prstGeom prst="roundRect">
            <a:avLst>
              <a:gd name="adj" fmla="val 20000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09160" y="2011680"/>
            <a:ext cx="21488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a · b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916936"/>
            <a:ext cx="6464808" cy="960120"/>
          </a:xfrm>
          <a:prstGeom prst="roundRect">
            <a:avLst>
              <a:gd name="adj" fmla="val 1428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3113532"/>
            <a:ext cx="566928" cy="566928"/>
          </a:xfrm>
          <a:prstGeom prst="rect">
            <a:avLst/>
          </a:prstGeom>
          <a:solidFill>
            <a:srgbClr val="8DBBF2"/>
          </a:solidFill>
          <a:ln w="19050">
            <a:solidFill>
              <a:srgbClr val="0F2A5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20240" y="29900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Quadrat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328269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Sonderfall des Rechtecks (Länge = Breite)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09160" y="3054096"/>
            <a:ext cx="2148840" cy="685800"/>
          </a:xfrm>
          <a:prstGeom prst="roundRect">
            <a:avLst>
              <a:gd name="adj" fmla="val 20000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09160" y="3054096"/>
            <a:ext cx="21488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a · 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3959352"/>
            <a:ext cx="6464808" cy="960120"/>
          </a:xfrm>
          <a:prstGeom prst="roundRect">
            <a:avLst>
              <a:gd name="adj" fmla="val 1428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4155948"/>
            <a:ext cx="868680" cy="566928"/>
          </a:xfrm>
          <a:prstGeom prst="rtTriangle">
            <a:avLst/>
          </a:prstGeom>
          <a:solidFill>
            <a:srgbClr val="C9DDF5"/>
          </a:solidFill>
          <a:ln w="19050">
            <a:solidFill>
              <a:srgbClr val="0F2A5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920240" y="40325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Rechtwinkeliges Dreieck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920240" y="43251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Verdoppeln ergibt ein Rechteck, das Dreieck ist die Hälfte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09160" y="4096512"/>
            <a:ext cx="2148840" cy="685800"/>
          </a:xfrm>
          <a:prstGeom prst="roundRect">
            <a:avLst>
              <a:gd name="adj" fmla="val 20000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09160" y="4096512"/>
            <a:ext cx="21488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a · b : 2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5001768"/>
            <a:ext cx="6464808" cy="960120"/>
          </a:xfrm>
          <a:prstGeom prst="roundRect">
            <a:avLst>
              <a:gd name="adj" fmla="val 1428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2960" y="5198364"/>
            <a:ext cx="868680" cy="566928"/>
          </a:xfrm>
          <a:prstGeom prst="parallelogram">
            <a:avLst/>
          </a:prstGeom>
          <a:solidFill>
            <a:srgbClr val="8DBBF2"/>
          </a:solidFill>
          <a:ln w="19050">
            <a:solidFill>
              <a:srgbClr val="0F2A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920240" y="5074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Parallelogramm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920240" y="53675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Höhe einzeichnen, Dreieck links abschneiden und rechts anlegen: Rechteck mit Länge a und Breite h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09160" y="5138928"/>
            <a:ext cx="2148840" cy="685800"/>
          </a:xfrm>
          <a:prstGeom prst="roundRect">
            <a:avLst>
              <a:gd name="adj" fmla="val 20000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09160" y="5138928"/>
            <a:ext cx="214884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a · </a:t>
            </a:r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709160" y="5481828"/>
            <a:ext cx="214884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oder A = b · </a:t>
            </a:r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6044184"/>
            <a:ext cx="6464808" cy="960120"/>
          </a:xfrm>
          <a:prstGeom prst="roundRect">
            <a:avLst>
              <a:gd name="adj" fmla="val 1428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2960" y="6240780"/>
            <a:ext cx="868680" cy="566928"/>
          </a:xfrm>
          <a:prstGeom prst="diamond">
            <a:avLst/>
          </a:prstGeom>
          <a:solidFill>
            <a:srgbClr val="C9DDF5"/>
          </a:solidFill>
          <a:ln w="19050">
            <a:solidFill>
              <a:srgbClr val="0F2A5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920240" y="61173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Raute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920240" y="640994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Sonderfall des Parallelogramms (alle Seiten gleich lang, nur eine Höhe) oder Deltoid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709160" y="6181344"/>
            <a:ext cx="2148840" cy="685800"/>
          </a:xfrm>
          <a:prstGeom prst="roundRect">
            <a:avLst>
              <a:gd name="adj" fmla="val 20000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709160" y="6181344"/>
            <a:ext cx="214884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a · h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4709160" y="6524244"/>
            <a:ext cx="214884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oder A = e · f : 2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8640" y="7086600"/>
            <a:ext cx="6464808" cy="960120"/>
          </a:xfrm>
          <a:prstGeom prst="roundRect">
            <a:avLst>
              <a:gd name="adj" fmla="val 1428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2960" y="7283196"/>
            <a:ext cx="868680" cy="566928"/>
          </a:xfrm>
          <a:prstGeom prst="trapezoid">
            <a:avLst/>
          </a:prstGeom>
          <a:solidFill>
            <a:srgbClr val="8DBBF2"/>
          </a:solidFill>
          <a:ln w="19050">
            <a:solidFill>
              <a:srgbClr val="0F2A5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920240" y="7159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Trapez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920240" y="74523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Zweites, umgedrehtes Trapez danebenlegen: Parallelogramm mit Seite (a + c), das Trapez ist die Hälfte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709160" y="7223760"/>
            <a:ext cx="2148840" cy="685800"/>
          </a:xfrm>
          <a:prstGeom prst="roundRect">
            <a:avLst>
              <a:gd name="adj" fmla="val 20000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709160" y="7223760"/>
            <a:ext cx="21488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(a + c) · h : 2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48640" y="8129016"/>
            <a:ext cx="6464808" cy="960120"/>
          </a:xfrm>
          <a:prstGeom prst="roundRect">
            <a:avLst>
              <a:gd name="adj" fmla="val 1428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22960" y="8325612"/>
            <a:ext cx="640080" cy="566928"/>
          </a:xfrm>
          <a:custGeom>
            <a:avLst/>
            <a:gdLst/>
            <a:ahLst/>
            <a:cxnLst/>
            <a:rect l="l" t="t" r="r" b="b"/>
            <a:pathLst>
              <a:path w="640080" h="566928">
                <a:moveTo>
                  <a:pt x="0" y="215433"/>
                </a:moveTo>
                <a:lnTo>
                  <a:pt x="320040" y="0"/>
                </a:lnTo>
                <a:lnTo>
                  <a:pt x="640080" y="215433"/>
                </a:lnTo>
                <a:lnTo>
                  <a:pt x="320040" y="566928"/>
                </a:lnTo>
                <a:close/>
              </a:path>
            </a:pathLst>
          </a:custGeom>
          <a:solidFill>
            <a:srgbClr val="C9DDF5"/>
          </a:solidFill>
          <a:ln w="19050">
            <a:solidFill>
              <a:srgbClr val="0F2A5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920240" y="82021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Deltoid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1920240" y="849477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Diagonalen teilen es in 4 Dreiecke, verdoppelt ergibt sich ein Rechteck mit e und f, das Deltoid ist die Hälfte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709160" y="8266176"/>
            <a:ext cx="2148840" cy="685800"/>
          </a:xfrm>
          <a:prstGeom prst="roundRect">
            <a:avLst>
              <a:gd name="adj" fmla="val 20000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709160" y="8266176"/>
            <a:ext cx="21488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e · f : 2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548640" y="9171432"/>
            <a:ext cx="6464808" cy="960120"/>
          </a:xfrm>
          <a:prstGeom prst="roundRect">
            <a:avLst>
              <a:gd name="adj" fmla="val 1428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22960" y="9368028"/>
            <a:ext cx="868680" cy="566928"/>
          </a:xfrm>
          <a:prstGeom prst="triangle">
            <a:avLst/>
          </a:prstGeom>
          <a:solidFill>
            <a:srgbClr val="8DBBF2"/>
          </a:solidFill>
          <a:ln w="19050">
            <a:solidFill>
              <a:srgbClr val="0F2A52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920240" y="924458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Allgemeines Dreieck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1920240" y="95371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Verdoppeln ergibt ein Parallelogramm, das Dreieck ist die Hälfte (ebenso a · 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indent="0" marL="0">
              <a:lnSpc>
                <a:spcPct val="110000"/>
              </a:lnSpc>
              <a:buNone/>
            </a:pPr>
            <a:r>
              <a:rPr lang="en-US" sz="900" baseline="-40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: 2 und b · 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indent="0" marL="0">
              <a:lnSpc>
                <a:spcPct val="110000"/>
              </a:lnSpc>
              <a:buNone/>
            </a:pPr>
            <a:r>
              <a:rPr lang="en-US" sz="900" baseline="-40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: 2)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709160" y="9308592"/>
            <a:ext cx="2148840" cy="685800"/>
          </a:xfrm>
          <a:prstGeom prst="roundRect">
            <a:avLst>
              <a:gd name="adj" fmla="val 20000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709160" y="9308592"/>
            <a:ext cx="21488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c · </a:t>
            </a:r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pPr algn="ctr" indent="0" marL="0">
              <a:buNone/>
            </a:pPr>
            <a:r>
              <a:rPr lang="en-US" sz="105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: 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Wichtige Zusätze und Merksätze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6464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solltest du
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wissen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154680" cy="1828800"/>
          </a:xfrm>
          <a:prstGeom prst="roundRect">
            <a:avLst>
              <a:gd name="adj" fmla="val 7500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Parallelogramm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546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Beide Formeln sind richtig. Man verwendet immer die Seite mit der dazugehörigen Höhe: a mit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indent="0" marL="0">
              <a:lnSpc>
                <a:spcPct val="120000"/>
              </a:lnSpc>
              <a:buNone/>
            </a:pPr>
            <a:r>
              <a:rPr lang="en-US" sz="1050" baseline="-400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oder b mit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indent="0" marL="0">
              <a:lnSpc>
                <a:spcPct val="120000"/>
              </a:lnSpc>
              <a:buNone/>
            </a:pPr>
            <a:r>
              <a:rPr lang="en-US" sz="1050" baseline="-400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858768" y="2606040"/>
            <a:ext cx="3154680" cy="1828800"/>
          </a:xfrm>
          <a:prstGeom prst="roundRect">
            <a:avLst>
              <a:gd name="adj" fmla="val 7500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87368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Raute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087368" y="31546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Parallelogramm mit vier gleich langen Seiten. Weil die Diagonalen normal aufeinander stehen, ist sie zugleich ein Deltoid. Beide Formeln sind erlaubt.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4572000"/>
            <a:ext cx="3154680" cy="1828800"/>
          </a:xfrm>
          <a:prstGeom prst="roundRect">
            <a:avLst>
              <a:gd name="adj" fmla="val 7500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709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Formel e · f : 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1206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Gilt für alle Vierecke, deren Diagonalen normal aufeinander stehen, nicht nur für Deltoide.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58768" y="4572000"/>
            <a:ext cx="3154680" cy="1828800"/>
          </a:xfrm>
          <a:prstGeom prst="roundRect">
            <a:avLst>
              <a:gd name="adj" fmla="val 7500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87368" y="4709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Dreieck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087368" y="51206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 kann jede der drei Seiten als Grundseite nehmen, muss aber die dazugehörige Höhe verwenden.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67512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Merksätze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7223760"/>
            <a:ext cx="6464808" cy="658368"/>
          </a:xfrm>
          <a:prstGeom prst="roundRect">
            <a:avLst>
              <a:gd name="adj" fmla="val 20833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7379208"/>
            <a:ext cx="347472" cy="347472"/>
          </a:xfrm>
          <a:prstGeom prst="ellipse">
            <a:avLst/>
          </a:prstGeom>
          <a:solidFill>
            <a:srgbClr val="8DBBF2"/>
          </a:solidFill>
          <a:ln w="12700">
            <a:solidFill>
              <a:srgbClr val="8DBB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2940000">
            <a:off x="790590" y="7563368"/>
            <a:ext cx="104242" cy="45171"/>
          </a:xfrm>
          <a:prstGeom prst="rect">
            <a:avLst/>
          </a:prstGeom>
          <a:solidFill>
            <a:srgbClr val="0B1E3A"/>
          </a:solidFill>
          <a:ln w="12700">
            <a:solidFill>
              <a:srgbClr val="0B1E3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18660000">
            <a:off x="835762" y="7518197"/>
            <a:ext cx="191110" cy="45171"/>
          </a:xfrm>
          <a:prstGeom prst="rect">
            <a:avLst/>
          </a:prstGeom>
          <a:solidFill>
            <a:srgbClr val="0B1E3A"/>
          </a:solidFill>
          <a:ln w="12700">
            <a:solidFill>
              <a:srgbClr val="0B1E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80160" y="7223760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Parallelogramm und Dreieck: Seite mal dazugehörige Höhe (beim Dreieck durch 2).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7973568"/>
            <a:ext cx="6464808" cy="658368"/>
          </a:xfrm>
          <a:prstGeom prst="roundRect">
            <a:avLst>
              <a:gd name="adj" fmla="val 20833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8129016"/>
            <a:ext cx="347472" cy="347472"/>
          </a:xfrm>
          <a:prstGeom prst="ellipse">
            <a:avLst/>
          </a:prstGeom>
          <a:solidFill>
            <a:srgbClr val="8DBBF2"/>
          </a:solidFill>
          <a:ln w="12700">
            <a:solidFill>
              <a:srgbClr val="8DBB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rot="2940000">
            <a:off x="790590" y="8313176"/>
            <a:ext cx="104242" cy="45171"/>
          </a:xfrm>
          <a:prstGeom prst="rect">
            <a:avLst/>
          </a:prstGeom>
          <a:solidFill>
            <a:srgbClr val="0B1E3A"/>
          </a:solidFill>
          <a:ln w="12700">
            <a:solidFill>
              <a:srgbClr val="0B1E3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18660000">
            <a:off x="835762" y="8268005"/>
            <a:ext cx="191110" cy="45171"/>
          </a:xfrm>
          <a:prstGeom prst="rect">
            <a:avLst/>
          </a:prstGeom>
          <a:solidFill>
            <a:srgbClr val="0B1E3A"/>
          </a:solidFill>
          <a:ln w="12700">
            <a:solidFill>
              <a:srgbClr val="0B1E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280160" y="7973568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Alle Flächen stammen vom Rechteck ab.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8723376"/>
            <a:ext cx="6464808" cy="658368"/>
          </a:xfrm>
          <a:prstGeom prst="roundRect">
            <a:avLst>
              <a:gd name="adj" fmla="val 20833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1520" y="8878824"/>
            <a:ext cx="347472" cy="347472"/>
          </a:xfrm>
          <a:prstGeom prst="ellipse">
            <a:avLst/>
          </a:prstGeom>
          <a:solidFill>
            <a:srgbClr val="8DBBF2"/>
          </a:solidFill>
          <a:ln w="12700">
            <a:solidFill>
              <a:srgbClr val="8DBB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2940000">
            <a:off x="790590" y="9062984"/>
            <a:ext cx="104242" cy="45171"/>
          </a:xfrm>
          <a:prstGeom prst="rect">
            <a:avLst/>
          </a:prstGeom>
          <a:solidFill>
            <a:srgbClr val="0B1E3A"/>
          </a:solidFill>
          <a:ln w="12700">
            <a:solidFill>
              <a:srgbClr val="0B1E3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rot="18660000">
            <a:off x="835762" y="9017813"/>
            <a:ext cx="191110" cy="45171"/>
          </a:xfrm>
          <a:prstGeom prst="rect">
            <a:avLst/>
          </a:prstGeom>
          <a:solidFill>
            <a:srgbClr val="0B1E3A"/>
          </a:solidFill>
          <a:ln w="12700">
            <a:solidFill>
              <a:srgbClr val="0B1E3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280160" y="8723376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Formel vergessen? Verwandle die Figur in ein Rechteck oder Parallelogramm und überlege, welchen Teil davon du brauchst.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48640" y="9555480"/>
            <a:ext cx="6464808" cy="731520"/>
          </a:xfrm>
          <a:prstGeom prst="roundRect">
            <a:avLst>
              <a:gd name="adj" fmla="val 18750"/>
            </a:avLst>
          </a:prstGeom>
          <a:solidFill>
            <a:srgbClr val="8DBBF2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7240" y="9665208"/>
            <a:ext cx="512064" cy="512064"/>
          </a:xfrm>
          <a:prstGeom prst="ellipse">
            <a:avLst/>
          </a:prstGeom>
          <a:solidFill>
            <a:srgbClr val="8DBBF2"/>
          </a:solidFill>
          <a:ln w="31750">
            <a:solidFill>
              <a:srgbClr val="0F2A5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463040" y="9555480"/>
            <a:ext cx="5367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Ausblick: </a:t>
            </a:r>
            <a:pPr indent="0" marL="0">
              <a:buNone/>
            </a:pPr>
            <a:r>
              <a:rPr lang="en-US" sz="105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Auch die Kreisfläche lässt sich auf das Rechteck zurückführen. Das zeigt das Folgevideo zum Kreis.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Flächeninhalt aller Grundfiguren – Zusammenfassung</dc:title>
  <dc:subject>PptxGenJS Presentation</dc:subject>
  <dc:creator>Cleverbox</dc:creator>
  <cp:lastModifiedBy>Cleverbox</cp:lastModifiedBy>
  <cp:revision>1</cp:revision>
  <dcterms:created xsi:type="dcterms:W3CDTF">2026-10-22T12:18:30Z</dcterms:created>
  <dcterms:modified xsi:type="dcterms:W3CDTF">2026-10-22T12:18:30Z</dcterms:modified>
</cp:coreProperties>
</file>