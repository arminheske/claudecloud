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Seite 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Seite 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Seite 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332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Cleverbox · Mathematik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2A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332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5CCE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Cleverbox · Mathematik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N">
    <p:bg>
      <p:bgPr>
        <a:solidFill>
          <a:srgbClr val="FFD8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332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2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Cleverbox · Mathematik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5486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5FB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Zusammenfassung · Flächeninhalt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960120"/>
            <a:ext cx="64648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Flächeninhalt aller
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1F5FBF"/>
                </a:solidFill>
                <a:highlight>
                  <a:srgbClr val="FFD84D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Grundfiguren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548640" y="2834640"/>
            <a:ext cx="6464808" cy="1965960"/>
          </a:xfrm>
          <a:prstGeom prst="roundRect">
            <a:avLst>
              <a:gd name="adj" fmla="val 6977"/>
            </a:avLst>
          </a:prstGeom>
          <a:solidFill>
            <a:srgbClr val="0F2A52"/>
          </a:solidFill>
          <a:ln w="15875">
            <a:solidFill>
              <a:srgbClr val="0F2A5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29718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D84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Die Grundidee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429000"/>
            <a:ext cx="5824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Alle Flächenformeln lassen sich vom Rechteck herleiten.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931920"/>
            <a:ext cx="5824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5CCE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 verwandelt jede Figur durch Verdoppeln, Zerschneiden oder Umlegen in ein Rechteck oder ein Parallelogramm und rechnet dann mit bekannten Formeln.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074920"/>
            <a:ext cx="6464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5FB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Ausgangspunkt: das Rechteck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48640" y="5623560"/>
            <a:ext cx="6464808" cy="4572000"/>
          </a:xfrm>
          <a:prstGeom prst="roundRect">
            <a:avLst>
              <a:gd name="adj" fmla="val 3000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71600" y="6172200"/>
            <a:ext cx="566928" cy="566928"/>
          </a:xfrm>
          <a:prstGeom prst="rect">
            <a:avLst/>
          </a:prstGeom>
          <a:solidFill>
            <a:srgbClr val="D9E8FA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938528" y="6172200"/>
            <a:ext cx="566928" cy="566928"/>
          </a:xfrm>
          <a:prstGeom prst="rect">
            <a:avLst/>
          </a:prstGeom>
          <a:solidFill>
            <a:srgbClr val="C9DDF5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505456" y="6172200"/>
            <a:ext cx="566928" cy="566928"/>
          </a:xfrm>
          <a:prstGeom prst="rect">
            <a:avLst/>
          </a:prstGeom>
          <a:solidFill>
            <a:srgbClr val="D9E8FA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072384" y="6172200"/>
            <a:ext cx="566928" cy="566928"/>
          </a:xfrm>
          <a:prstGeom prst="rect">
            <a:avLst/>
          </a:prstGeom>
          <a:solidFill>
            <a:srgbClr val="C9DDF5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639312" y="6172200"/>
            <a:ext cx="566928" cy="566928"/>
          </a:xfrm>
          <a:prstGeom prst="rect">
            <a:avLst/>
          </a:prstGeom>
          <a:solidFill>
            <a:srgbClr val="D9E8FA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371600" y="6739128"/>
            <a:ext cx="566928" cy="566928"/>
          </a:xfrm>
          <a:prstGeom prst="rect">
            <a:avLst/>
          </a:prstGeom>
          <a:solidFill>
            <a:srgbClr val="C9DDF5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938528" y="6739128"/>
            <a:ext cx="566928" cy="566928"/>
          </a:xfrm>
          <a:prstGeom prst="rect">
            <a:avLst/>
          </a:prstGeom>
          <a:solidFill>
            <a:srgbClr val="D9E8FA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505456" y="6739128"/>
            <a:ext cx="566928" cy="566928"/>
          </a:xfrm>
          <a:prstGeom prst="rect">
            <a:avLst/>
          </a:prstGeom>
          <a:solidFill>
            <a:srgbClr val="C9DDF5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072384" y="6739128"/>
            <a:ext cx="566928" cy="566928"/>
          </a:xfrm>
          <a:prstGeom prst="rect">
            <a:avLst/>
          </a:prstGeom>
          <a:solidFill>
            <a:srgbClr val="D9E8FA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639312" y="6739128"/>
            <a:ext cx="566928" cy="566928"/>
          </a:xfrm>
          <a:prstGeom prst="rect">
            <a:avLst/>
          </a:prstGeom>
          <a:solidFill>
            <a:srgbClr val="C9DDF5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71600" y="7306056"/>
            <a:ext cx="566928" cy="566928"/>
          </a:xfrm>
          <a:prstGeom prst="rect">
            <a:avLst/>
          </a:prstGeom>
          <a:solidFill>
            <a:srgbClr val="D9E8FA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938528" y="7306056"/>
            <a:ext cx="566928" cy="566928"/>
          </a:xfrm>
          <a:prstGeom prst="rect">
            <a:avLst/>
          </a:prstGeom>
          <a:solidFill>
            <a:srgbClr val="C9DDF5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505456" y="7306056"/>
            <a:ext cx="566928" cy="566928"/>
          </a:xfrm>
          <a:prstGeom prst="rect">
            <a:avLst/>
          </a:prstGeom>
          <a:solidFill>
            <a:srgbClr val="D9E8FA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072384" y="7306056"/>
            <a:ext cx="566928" cy="566928"/>
          </a:xfrm>
          <a:prstGeom prst="rect">
            <a:avLst/>
          </a:prstGeom>
          <a:solidFill>
            <a:srgbClr val="C9DDF5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639312" y="7306056"/>
            <a:ext cx="566928" cy="566928"/>
          </a:xfrm>
          <a:prstGeom prst="rect">
            <a:avLst/>
          </a:prstGeom>
          <a:solidFill>
            <a:srgbClr val="D9E8FA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371600" y="57150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Länge a = 5 cm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731520" y="6172200"/>
            <a:ext cx="59436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cm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371600" y="796442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Kästchen = 1 cm²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68680" y="8275320"/>
            <a:ext cx="5824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Der Flächeninhalt gibt an, wie oft eine Einheitsfläche (z. B. 1 cm²) in die Figur passt.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617720" y="5989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Rechnung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4617720" y="63550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cm² pro Reihe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Reihen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5 cm² = 15 cm²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868680" y="8961120"/>
            <a:ext cx="5824728" cy="914400"/>
          </a:xfrm>
          <a:prstGeom prst="roundRect">
            <a:avLst>
              <a:gd name="adj" fmla="val 15000"/>
            </a:avLst>
          </a:prstGeom>
          <a:solidFill>
            <a:srgbClr val="FFD84D"/>
          </a:solidFill>
          <a:ln w="15875">
            <a:solidFill>
              <a:srgbClr val="FFD84D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097280" y="89611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a · b</a:t>
            </a:r>
            <a:endParaRPr lang="en-US" sz="3000" dirty="0"/>
          </a:p>
        </p:txBody>
      </p:sp>
      <p:sp>
        <p:nvSpPr>
          <p:cNvPr id="34" name="Text 31"/>
          <p:cNvSpPr txBox="1"/>
          <p:nvPr/>
        </p:nvSpPr>
        <p:spPr>
          <a:xfrm>
            <a:off x="4114800" y="89611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2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Länge = Kästchen pro Reihe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F2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Breite = Zahl der Reihen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5486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5FB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Die Herleitungen im Überblick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914400"/>
            <a:ext cx="64648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Alles vom </a:t>
            </a:r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F5FBF"/>
                </a:solidFill>
                <a:highlight>
                  <a:srgbClr val="FFD84D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Rechteck</a:t>
            </a:r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abgeleitet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874520"/>
            <a:ext cx="6464808" cy="960120"/>
          </a:xfrm>
          <a:prstGeom prst="roundRect">
            <a:avLst>
              <a:gd name="adj" fmla="val 14286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2071116"/>
            <a:ext cx="868680" cy="566928"/>
          </a:xfrm>
          <a:prstGeom prst="rect">
            <a:avLst/>
          </a:prstGeom>
          <a:solidFill>
            <a:srgbClr val="9CC3F0"/>
          </a:solidFill>
          <a:ln w="19050">
            <a:solidFill>
              <a:srgbClr val="0F2A5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920240" y="194767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Rechteck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920240" y="22402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Einheitsquadrate zählen: Länge mal Breite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709160" y="2011680"/>
            <a:ext cx="2148840" cy="685800"/>
          </a:xfrm>
          <a:prstGeom prst="roundRect">
            <a:avLst>
              <a:gd name="adj" fmla="val 20000"/>
            </a:avLst>
          </a:prstGeom>
          <a:solidFill>
            <a:srgbClr val="0F2A52"/>
          </a:solidFill>
          <a:ln w="15875">
            <a:solidFill>
              <a:srgbClr val="0F2A5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09160" y="2011680"/>
            <a:ext cx="214884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84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a · b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48640" y="2916936"/>
            <a:ext cx="6464808" cy="960120"/>
          </a:xfrm>
          <a:prstGeom prst="roundRect">
            <a:avLst>
              <a:gd name="adj" fmla="val 14286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22960" y="3113532"/>
            <a:ext cx="566928" cy="566928"/>
          </a:xfrm>
          <a:prstGeom prst="rect">
            <a:avLst/>
          </a:prstGeom>
          <a:solidFill>
            <a:srgbClr val="FFD84D"/>
          </a:solidFill>
          <a:ln w="19050">
            <a:solidFill>
              <a:srgbClr val="0F2A5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920240" y="299008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Quadrat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3282696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Sonderfall des Rechtecks (Länge = Breite)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709160" y="3054096"/>
            <a:ext cx="2148840" cy="685800"/>
          </a:xfrm>
          <a:prstGeom prst="roundRect">
            <a:avLst>
              <a:gd name="adj" fmla="val 20000"/>
            </a:avLst>
          </a:prstGeom>
          <a:solidFill>
            <a:srgbClr val="0F2A52"/>
          </a:solidFill>
          <a:ln w="15875">
            <a:solidFill>
              <a:srgbClr val="0F2A5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09160" y="3054096"/>
            <a:ext cx="214884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84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a · a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48640" y="3959352"/>
            <a:ext cx="6464808" cy="960120"/>
          </a:xfrm>
          <a:prstGeom prst="roundRect">
            <a:avLst>
              <a:gd name="adj" fmla="val 14286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2960" y="4155948"/>
            <a:ext cx="868680" cy="566928"/>
          </a:xfrm>
          <a:prstGeom prst="rtTriangle">
            <a:avLst/>
          </a:prstGeom>
          <a:solidFill>
            <a:srgbClr val="9CC3F0"/>
          </a:solidFill>
          <a:ln w="19050">
            <a:solidFill>
              <a:srgbClr val="0F2A5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920240" y="403250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Rechtwinkeliges Dreieck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920240" y="4325112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Verdoppeln ergibt ein Rechteck, das Dreieck ist die Hälfte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709160" y="4096512"/>
            <a:ext cx="2148840" cy="685800"/>
          </a:xfrm>
          <a:prstGeom prst="roundRect">
            <a:avLst>
              <a:gd name="adj" fmla="val 20000"/>
            </a:avLst>
          </a:prstGeom>
          <a:solidFill>
            <a:srgbClr val="0F2A52"/>
          </a:solidFill>
          <a:ln w="15875">
            <a:solidFill>
              <a:srgbClr val="0F2A5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709160" y="4096512"/>
            <a:ext cx="214884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84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a · b : 2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48640" y="5001768"/>
            <a:ext cx="6464808" cy="960120"/>
          </a:xfrm>
          <a:prstGeom prst="roundRect">
            <a:avLst>
              <a:gd name="adj" fmla="val 14286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22960" y="5198364"/>
            <a:ext cx="868680" cy="566928"/>
          </a:xfrm>
          <a:prstGeom prst="parallelogram">
            <a:avLst/>
          </a:prstGeom>
          <a:solidFill>
            <a:srgbClr val="FFD84D"/>
          </a:solidFill>
          <a:ln w="19050">
            <a:solidFill>
              <a:srgbClr val="0F2A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920240" y="50749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Parallelogramm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1920240" y="536752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Höhe einzeichnen, Dreieck links abschneiden und rechts anlegen: Rechteck mit Länge a und Breite h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709160" y="5138928"/>
            <a:ext cx="2148840" cy="685800"/>
          </a:xfrm>
          <a:prstGeom prst="roundRect">
            <a:avLst>
              <a:gd name="adj" fmla="val 20000"/>
            </a:avLst>
          </a:prstGeom>
          <a:solidFill>
            <a:srgbClr val="0F2A52"/>
          </a:solidFill>
          <a:ln w="15875">
            <a:solidFill>
              <a:srgbClr val="0F2A5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709160" y="5138928"/>
            <a:ext cx="214884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84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a · </a:t>
            </a:r>
            <a:pPr algn="ctr" indent="0" marL="0">
              <a:buNone/>
            </a:pPr>
            <a:r>
              <a:rPr lang="en-US" sz="1050" b="1" dirty="0">
                <a:solidFill>
                  <a:srgbClr val="FFD84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pPr algn="ctr" indent="0" marL="0">
              <a:buNone/>
            </a:pPr>
            <a:r>
              <a:rPr lang="en-US" sz="1050" b="1" baseline="-40000" dirty="0">
                <a:solidFill>
                  <a:srgbClr val="FFD84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4709160" y="5481828"/>
            <a:ext cx="214884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84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oder A = b · </a:t>
            </a:r>
            <a:pPr algn="ctr" indent="0" marL="0">
              <a:buNone/>
            </a:pPr>
            <a:r>
              <a:rPr lang="en-US" sz="1050" b="1" dirty="0">
                <a:solidFill>
                  <a:srgbClr val="FFD84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pPr algn="ctr" indent="0" marL="0">
              <a:buNone/>
            </a:pPr>
            <a:r>
              <a:rPr lang="en-US" sz="1050" b="1" baseline="-40000" dirty="0">
                <a:solidFill>
                  <a:srgbClr val="FFD84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548640" y="6044184"/>
            <a:ext cx="6464808" cy="960120"/>
          </a:xfrm>
          <a:prstGeom prst="roundRect">
            <a:avLst>
              <a:gd name="adj" fmla="val 14286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22960" y="6240780"/>
            <a:ext cx="868680" cy="566928"/>
          </a:xfrm>
          <a:prstGeom prst="diamond">
            <a:avLst/>
          </a:prstGeom>
          <a:solidFill>
            <a:srgbClr val="9CC3F0"/>
          </a:solidFill>
          <a:ln w="19050">
            <a:solidFill>
              <a:srgbClr val="0F2A5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920240" y="611733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Raute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1920240" y="64099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Sonderfall des Parallelogramms (alle Seiten gleich lang, nur eine Höhe) oder Deltoid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4709160" y="6181344"/>
            <a:ext cx="2148840" cy="685800"/>
          </a:xfrm>
          <a:prstGeom prst="roundRect">
            <a:avLst>
              <a:gd name="adj" fmla="val 20000"/>
            </a:avLst>
          </a:prstGeom>
          <a:solidFill>
            <a:srgbClr val="0F2A52"/>
          </a:solidFill>
          <a:ln w="15875">
            <a:solidFill>
              <a:srgbClr val="0F2A5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709160" y="6181344"/>
            <a:ext cx="214884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84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a · h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4709160" y="6524244"/>
            <a:ext cx="214884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84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oder A = e · f : 2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548640" y="7086600"/>
            <a:ext cx="6464808" cy="960120"/>
          </a:xfrm>
          <a:prstGeom prst="roundRect">
            <a:avLst>
              <a:gd name="adj" fmla="val 14286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22960" y="7283196"/>
            <a:ext cx="868680" cy="566928"/>
          </a:xfrm>
          <a:prstGeom prst="trapezoid">
            <a:avLst/>
          </a:prstGeom>
          <a:solidFill>
            <a:srgbClr val="FFD84D"/>
          </a:solidFill>
          <a:ln w="19050">
            <a:solidFill>
              <a:srgbClr val="0F2A52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920240" y="715975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Trapez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1920240" y="74523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Zweites, umgedrehtes Trapez danebenlegen: Parallelogramm mit Seite (a + c), das Trapez ist die Hälfte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4709160" y="7223760"/>
            <a:ext cx="2148840" cy="685800"/>
          </a:xfrm>
          <a:prstGeom prst="roundRect">
            <a:avLst>
              <a:gd name="adj" fmla="val 20000"/>
            </a:avLst>
          </a:prstGeom>
          <a:solidFill>
            <a:srgbClr val="0F2A52"/>
          </a:solidFill>
          <a:ln w="15875">
            <a:solidFill>
              <a:srgbClr val="0F2A52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709160" y="7223760"/>
            <a:ext cx="214884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84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(a + c) · h : 2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48640" y="8129016"/>
            <a:ext cx="6464808" cy="960120"/>
          </a:xfrm>
          <a:prstGeom prst="roundRect">
            <a:avLst>
              <a:gd name="adj" fmla="val 14286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22960" y="8325612"/>
            <a:ext cx="640080" cy="566928"/>
          </a:xfrm>
          <a:custGeom>
            <a:avLst/>
            <a:gdLst/>
            <a:ahLst/>
            <a:cxnLst/>
            <a:rect l="l" t="t" r="r" b="b"/>
            <a:pathLst>
              <a:path w="640080" h="566928">
                <a:moveTo>
                  <a:pt x="0" y="215433"/>
                </a:moveTo>
                <a:lnTo>
                  <a:pt x="320040" y="0"/>
                </a:lnTo>
                <a:lnTo>
                  <a:pt x="640080" y="215433"/>
                </a:lnTo>
                <a:lnTo>
                  <a:pt x="320040" y="566928"/>
                </a:lnTo>
                <a:close/>
              </a:path>
            </a:pathLst>
          </a:custGeom>
          <a:solidFill>
            <a:srgbClr val="9CC3F0"/>
          </a:solidFill>
          <a:ln w="19050">
            <a:solidFill>
              <a:srgbClr val="0F2A52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920240" y="820216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Deltoid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1920240" y="8494776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Diagonalen teilen es in 4 Dreiecke, verdoppelt ergibt sich ein Rechteck mit e und f, das Deltoid ist die Hälfte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4709160" y="8266176"/>
            <a:ext cx="2148840" cy="685800"/>
          </a:xfrm>
          <a:prstGeom prst="roundRect">
            <a:avLst>
              <a:gd name="adj" fmla="val 20000"/>
            </a:avLst>
          </a:prstGeom>
          <a:solidFill>
            <a:srgbClr val="0F2A52"/>
          </a:solidFill>
          <a:ln w="15875">
            <a:solidFill>
              <a:srgbClr val="0F2A52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4709160" y="8266176"/>
            <a:ext cx="214884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84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e · f : 2</a:t>
            </a:r>
            <a:endParaRPr lang="en-US" sz="1050" dirty="0"/>
          </a:p>
        </p:txBody>
      </p:sp>
      <p:sp>
        <p:nvSpPr>
          <p:cNvPr id="49" name="Shape 46"/>
          <p:cNvSpPr/>
          <p:nvPr/>
        </p:nvSpPr>
        <p:spPr>
          <a:xfrm>
            <a:off x="548640" y="9171432"/>
            <a:ext cx="6464808" cy="960120"/>
          </a:xfrm>
          <a:prstGeom prst="roundRect">
            <a:avLst>
              <a:gd name="adj" fmla="val 14286"/>
            </a:avLst>
          </a:prstGeom>
          <a:solidFill>
            <a:srgbClr val="F4F9FF"/>
          </a:solidFill>
          <a:ln w="15875">
            <a:solidFill>
              <a:srgbClr val="A9C6EA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822960" y="9368028"/>
            <a:ext cx="868680" cy="566928"/>
          </a:xfrm>
          <a:prstGeom prst="triangle">
            <a:avLst/>
          </a:prstGeom>
          <a:solidFill>
            <a:srgbClr val="FFD84D"/>
          </a:solidFill>
          <a:ln w="19050">
            <a:solidFill>
              <a:srgbClr val="0F2A52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1920240" y="924458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Allgemeines Dreieck</a:t>
            </a:r>
            <a:endParaRPr lang="en-US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1920240" y="9537192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Verdoppeln ergibt ein Parallelogramm, das Dreieck ist die Hälfte (ebenso a · </a:t>
            </a:r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pPr indent="0" marL="0">
              <a:lnSpc>
                <a:spcPct val="110000"/>
              </a:lnSpc>
              <a:buNone/>
            </a:pPr>
            <a:r>
              <a:rPr lang="en-US" sz="900" baseline="-40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: 2 und b · </a:t>
            </a:r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pPr indent="0" marL="0">
              <a:lnSpc>
                <a:spcPct val="110000"/>
              </a:lnSpc>
              <a:buNone/>
            </a:pPr>
            <a:r>
              <a:rPr lang="en-US" sz="900" baseline="-40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</a:t>
            </a:r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: 2)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4709160" y="9308592"/>
            <a:ext cx="2148840" cy="685800"/>
          </a:xfrm>
          <a:prstGeom prst="roundRect">
            <a:avLst>
              <a:gd name="adj" fmla="val 20000"/>
            </a:avLst>
          </a:prstGeom>
          <a:solidFill>
            <a:srgbClr val="0F2A52"/>
          </a:solidFill>
          <a:ln w="15875">
            <a:solidFill>
              <a:srgbClr val="0F2A52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4709160" y="9308592"/>
            <a:ext cx="214884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84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c · </a:t>
            </a:r>
            <a:pPr algn="ctr" indent="0" marL="0">
              <a:buNone/>
            </a:pPr>
            <a:r>
              <a:rPr lang="en-US" sz="1050" b="1" dirty="0">
                <a:solidFill>
                  <a:srgbClr val="FFD84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pPr algn="ctr" indent="0" marL="0">
              <a:buNone/>
            </a:pPr>
            <a:r>
              <a:rPr lang="en-US" sz="1050" b="1" baseline="-40000" dirty="0">
                <a:solidFill>
                  <a:srgbClr val="FFD84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</a:t>
            </a:r>
            <a:pPr algn="ctr" indent="0" marL="0">
              <a:buNone/>
            </a:pPr>
            <a:r>
              <a:rPr lang="en-US" sz="1050" b="1" dirty="0">
                <a:solidFill>
                  <a:srgbClr val="FFD84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: 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5486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D84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Wichtige Zusätze und Merksätze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914400"/>
            <a:ext cx="6464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dirty="0">
                <a:solidFill>
                  <a:srgbClr val="DCEB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solltest du
</a:t>
            </a:r>
            <a:pPr indent="0" marL="0">
              <a:lnSpc>
                <a:spcPct val="105000"/>
              </a:lnSpc>
              <a:buNone/>
            </a:pPr>
            <a:r>
              <a:rPr lang="en-US" sz="3800" dirty="0">
                <a:solidFill>
                  <a:srgbClr val="FFD84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wissen</a:t>
            </a:r>
            <a:endParaRPr lang="en-US" sz="3800" dirty="0"/>
          </a:p>
        </p:txBody>
      </p:sp>
      <p:sp>
        <p:nvSpPr>
          <p:cNvPr id="5" name="Shape 2"/>
          <p:cNvSpPr/>
          <p:nvPr/>
        </p:nvSpPr>
        <p:spPr>
          <a:xfrm>
            <a:off x="548640" y="2606040"/>
            <a:ext cx="3154680" cy="1828800"/>
          </a:xfrm>
          <a:prstGeom prst="roundRect">
            <a:avLst>
              <a:gd name="adj" fmla="val 7500"/>
            </a:avLst>
          </a:prstGeom>
          <a:solidFill>
            <a:srgbClr val="1B3D75"/>
          </a:solidFill>
          <a:ln w="15875">
            <a:solidFill>
              <a:srgbClr val="3B66A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27432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84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Parallelogramm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15468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CEB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Beide Formeln sind richtig. Man verwendet immer die Seite mit der dazugehörigen Höhe: a mit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CEB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pPr indent="0" marL="0">
              <a:lnSpc>
                <a:spcPct val="120000"/>
              </a:lnSpc>
              <a:buNone/>
            </a:pPr>
            <a:r>
              <a:rPr lang="en-US" sz="1050" baseline="-40000" dirty="0">
                <a:solidFill>
                  <a:srgbClr val="DCEB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CEB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oder b mit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CEB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pPr indent="0" marL="0">
              <a:lnSpc>
                <a:spcPct val="120000"/>
              </a:lnSpc>
              <a:buNone/>
            </a:pPr>
            <a:r>
              <a:rPr lang="en-US" sz="1050" baseline="-40000" dirty="0">
                <a:solidFill>
                  <a:srgbClr val="DCEB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CEB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858768" y="2606040"/>
            <a:ext cx="3154680" cy="1828800"/>
          </a:xfrm>
          <a:prstGeom prst="roundRect">
            <a:avLst>
              <a:gd name="adj" fmla="val 7500"/>
            </a:avLst>
          </a:prstGeom>
          <a:solidFill>
            <a:srgbClr val="1B3D75"/>
          </a:solidFill>
          <a:ln w="15875">
            <a:solidFill>
              <a:srgbClr val="3B66A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087368" y="27432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84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Raute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087368" y="315468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CEB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Ein Parallelogramm mit vier gleich langen Seiten. Weil die Diagonalen normal aufeinander stehen, ist sie zugleich ein Deltoid. Beide Formeln sind erlaubt.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48640" y="4572000"/>
            <a:ext cx="3154680" cy="1828800"/>
          </a:xfrm>
          <a:prstGeom prst="roundRect">
            <a:avLst>
              <a:gd name="adj" fmla="val 7500"/>
            </a:avLst>
          </a:prstGeom>
          <a:solidFill>
            <a:srgbClr val="1B3D75"/>
          </a:solidFill>
          <a:ln w="15875">
            <a:solidFill>
              <a:srgbClr val="3B66A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7091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84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Formel e · f : 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512064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CEB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Gilt für alle Vierecke, deren Diagonalen normal aufeinander stehen, nicht nur für Deltoide.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858768" y="4572000"/>
            <a:ext cx="3154680" cy="1828800"/>
          </a:xfrm>
          <a:prstGeom prst="roundRect">
            <a:avLst>
              <a:gd name="adj" fmla="val 7500"/>
            </a:avLst>
          </a:prstGeom>
          <a:solidFill>
            <a:srgbClr val="1B3D75"/>
          </a:solidFill>
          <a:ln w="15875">
            <a:solidFill>
              <a:srgbClr val="3B66A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087368" y="47091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84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Dreieck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087368" y="512064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CEB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 kann jede der drei Seiten als Grundseite nehmen, muss aber die dazugehörige Höhe verwenden.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675120"/>
            <a:ext cx="6464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D84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Merksätze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548640" y="7223760"/>
            <a:ext cx="6464808" cy="658368"/>
          </a:xfrm>
          <a:prstGeom prst="roundRect">
            <a:avLst>
              <a:gd name="adj" fmla="val 20833"/>
            </a:avLst>
          </a:prstGeom>
          <a:solidFill>
            <a:srgbClr val="1B3D75"/>
          </a:solidFill>
          <a:ln w="15875">
            <a:solidFill>
              <a:srgbClr val="3B66A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31520" y="7379208"/>
            <a:ext cx="347472" cy="347472"/>
          </a:xfrm>
          <a:prstGeom prst="ellipse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940000">
            <a:off x="790590" y="7563368"/>
            <a:ext cx="104242" cy="45171"/>
          </a:xfrm>
          <a:prstGeom prst="rect">
            <a:avLst/>
          </a:prstGeom>
          <a:solidFill>
            <a:srgbClr val="0B1E3A"/>
          </a:solidFill>
          <a:ln w="12700">
            <a:solidFill>
              <a:srgbClr val="0B1E3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18660000">
            <a:off x="835762" y="7518197"/>
            <a:ext cx="191110" cy="45171"/>
          </a:xfrm>
          <a:prstGeom prst="rect">
            <a:avLst/>
          </a:prstGeom>
          <a:solidFill>
            <a:srgbClr val="0B1E3A"/>
          </a:solidFill>
          <a:ln w="12700">
            <a:solidFill>
              <a:srgbClr val="0B1E3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280160" y="7223760"/>
            <a:ext cx="5550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B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Parallelogramm und Dreieck: Seite mal dazugehörige Höhe (beim Dreieck durch 2).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48640" y="7973568"/>
            <a:ext cx="6464808" cy="658368"/>
          </a:xfrm>
          <a:prstGeom prst="roundRect">
            <a:avLst>
              <a:gd name="adj" fmla="val 20833"/>
            </a:avLst>
          </a:prstGeom>
          <a:solidFill>
            <a:srgbClr val="1B3D75"/>
          </a:solidFill>
          <a:ln w="15875">
            <a:solidFill>
              <a:srgbClr val="3B66A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31520" y="8129016"/>
            <a:ext cx="347472" cy="347472"/>
          </a:xfrm>
          <a:prstGeom prst="ellipse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2940000">
            <a:off x="790590" y="8313176"/>
            <a:ext cx="104242" cy="45171"/>
          </a:xfrm>
          <a:prstGeom prst="rect">
            <a:avLst/>
          </a:prstGeom>
          <a:solidFill>
            <a:srgbClr val="0B1E3A"/>
          </a:solidFill>
          <a:ln w="12700">
            <a:solidFill>
              <a:srgbClr val="0B1E3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18660000">
            <a:off x="835762" y="8268005"/>
            <a:ext cx="191110" cy="45171"/>
          </a:xfrm>
          <a:prstGeom prst="rect">
            <a:avLst/>
          </a:prstGeom>
          <a:solidFill>
            <a:srgbClr val="0B1E3A"/>
          </a:solidFill>
          <a:ln w="12700">
            <a:solidFill>
              <a:srgbClr val="0B1E3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280160" y="7973568"/>
            <a:ext cx="5550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B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Alle Flächen stammen vom Rechteck ab.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48640" y="8723376"/>
            <a:ext cx="6464808" cy="658368"/>
          </a:xfrm>
          <a:prstGeom prst="roundRect">
            <a:avLst>
              <a:gd name="adj" fmla="val 20833"/>
            </a:avLst>
          </a:prstGeom>
          <a:solidFill>
            <a:srgbClr val="1B3D75"/>
          </a:solidFill>
          <a:ln w="15875">
            <a:solidFill>
              <a:srgbClr val="3B66A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31520" y="8878824"/>
            <a:ext cx="347472" cy="347472"/>
          </a:xfrm>
          <a:prstGeom prst="ellipse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2940000">
            <a:off x="790590" y="9062984"/>
            <a:ext cx="104242" cy="45171"/>
          </a:xfrm>
          <a:prstGeom prst="rect">
            <a:avLst/>
          </a:prstGeom>
          <a:solidFill>
            <a:srgbClr val="0B1E3A"/>
          </a:solidFill>
          <a:ln w="12700">
            <a:solidFill>
              <a:srgbClr val="0B1E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18660000">
            <a:off x="835762" y="9017813"/>
            <a:ext cx="191110" cy="45171"/>
          </a:xfrm>
          <a:prstGeom prst="rect">
            <a:avLst/>
          </a:prstGeom>
          <a:solidFill>
            <a:srgbClr val="0B1E3A"/>
          </a:solidFill>
          <a:ln w="12700">
            <a:solidFill>
              <a:srgbClr val="0B1E3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280160" y="8723376"/>
            <a:ext cx="5550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B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Formel vergessen? Verwandle die Figur in ein Rechteck oder Parallelogramm und überlege, welchen Teil davon du brauchst.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548640" y="9555480"/>
            <a:ext cx="6464808" cy="731520"/>
          </a:xfrm>
          <a:prstGeom prst="roundRect">
            <a:avLst>
              <a:gd name="adj" fmla="val 18750"/>
            </a:avLst>
          </a:prstGeom>
          <a:solidFill>
            <a:srgbClr val="FFD84D"/>
          </a:solidFill>
          <a:ln w="15875">
            <a:solidFill>
              <a:srgbClr val="FFD84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77240" y="9665208"/>
            <a:ext cx="512064" cy="512064"/>
          </a:xfrm>
          <a:prstGeom prst="ellipse">
            <a:avLst/>
          </a:prstGeom>
          <a:solidFill>
            <a:srgbClr val="FFD84D"/>
          </a:solidFill>
          <a:ln w="31750">
            <a:solidFill>
              <a:srgbClr val="0F2A5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463040" y="9555480"/>
            <a:ext cx="5367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2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Ausblick: </a:t>
            </a:r>
            <a:pPr indent="0" marL="0">
              <a:buNone/>
            </a:pPr>
            <a:r>
              <a:rPr lang="en-US" sz="1050" dirty="0">
                <a:solidFill>
                  <a:srgbClr val="0F2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Auch die Kreisfläche lässt sich auf das Rechteck zurückführen. Das zeigt das Folgevideo zum Kreis.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Flächeninhalt aller Grundfiguren – Zusammenfassung</dc:title>
  <dc:subject>PptxGenJS Presentation</dc:subject>
  <dc:creator>Cleverbox</dc:creator>
  <cp:lastModifiedBy>Cleverbox</cp:lastModifiedBy>
  <cp:revision>1</cp:revision>
  <dcterms:created xsi:type="dcterms:W3CDTF">2026-10-22T12:14:47Z</dcterms:created>
  <dcterms:modified xsi:type="dcterms:W3CDTF">2026-10-22T12:14:47Z</dcterms:modified>
</cp:coreProperties>
</file>