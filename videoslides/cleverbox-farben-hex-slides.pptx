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 – Titel: Farben im Computer: Hallo und herzlich willkommen! Vielleicht hast du in einem Programm schon einmal eine Farbe ausgewählt und dabei so etwas gesehen: #c0392b.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 – Ein Farbcode: #c0392b: Ein Rautezeichen, Zahlen und Buchstaben bunt gemischt. Was soll das bedeuten?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 – Das lernst du: In diesem Video lernst du, wie ein Computer Farben speichert, warum es genau 16,7 Millionen davon gibt und wie du solche Farbcodes selbst lesen und umrechnen kannst.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 – Vorwissen Binärsystem: Wenn du unser Video zum Binärsystem kennst, hast du einen kleinen Vorsprung, aber du kannst auch ohne Vorwissen mitmachen.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5 – Der Bildschirm besteht aus Pixeln: Dein Bildschirm besteht aus Millionen winziger Punkte, den Pixeln.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6 – Jedes Pixel hat drei Lichtpunkte: Und jetzt kommt die Überraschung: Jedes Pixel besteht wiederum aus drei noch kleineren Lichtpunkten, einem roten, einem grünen und einem blauen.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7 – Die Lichtpunkte sieht man kaum: Mit bloßem Auge siehst du sie nicht, weil sie so klein sind. Mit einer Lupe oder dem Zoom deiner Handykamera kannst du sie auf einem Bildschirm aber manchmal erkennen.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8 – RGB: Aus diesen drei Lichtfarben mischt der Bildschirm jede andere Farbe. Man nennt das RGB, nach den Anfangsbuchstaben von Rot, Grün und Blau auf Englisch: Red, Green,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9 – Malfarbe und Licht: Wenn du im Malkasten Rot und Grün mischst, bekommst du ein schmutziges Braun. Bei Licht ist das anders. Hier gilt: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10 – Lichtmischung 1: Rot und Grün zusammen ergeben Gelb. Rot und Blau ergeben Magenta, ein Pinkviolett. Grün und Blau ergeben Cyan, ein Türkis.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11 – Weiß und Schwarz: Alle drei voll leuchtend ergeben Weiß. Keines leuchtet: Das ist Schwarz.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12 – Additive Farbmischung: Man spricht von additiver Farbmischung, weil Licht dazukommt. Je mehr Licht, desto heller.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13 – Stufen von 0 bis 255: Jeder der drei Lichtpunkte kann nicht nur an oder aus sein, sondern in vielen Stufen leuchten. Der Wert reicht von 0, ganz aus, bis 255, volle Helligkeit.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14 – Ein Byte: Warum gerade 255? Hier kommt das Binärsystem ins Spiel. Jeder Farbanteil wird in einem Byte gespeichert, also in 8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15 – 2 hoch 8: Mit 8 Bits lassen sich genau 2 hoch 8, also 256 verschiedene Werte darstellen: die Zahlen von 0 bis 255.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16 – 16,7 Millionen Farben: Drei Farbanteile mit je 256 Stufen ergeben 256 mal 256 mal 256, das sind 16.777.216 Farben, also rund 16,7 Millionen. Das ist mehr, als das menschliche Auge unterscheiden kann.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17 – rgb(255, 0, 0): Am einfachsten schreibt man eine Farbe mit drei ganz normalen Zahlen, in der Reihenfolge Rot, Grün, Blau. In der Webprogrammierung sieht das so aus: rgb(255, 0, 0). Das bedeutet: Rot voll an, Grün aus, Blau aus. Also reines Rot.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18 – Beispiele 1: Probieren wir ein paar Farben: rgb(0, 0, 255): nur Blau, also reines Blau. rgb(255, 255, 0): Rot und Grün voll, also Gelb.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19 – Beispiele 2: rgb(0, 0, 0): alles aus, also Schwarz. rgb(255, 255, 255): alles an, also Weiß. rgb(128, 128, 128): alle drei halb, also Grau.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20 – Grautöne: Daraus ergibt sich ein praktischer Trick: Sind alle drei Zahlen gleich, ist die Farbe ein Grauton. Je höher die Zahlen, desto heller das Grau.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21 – Unsere Farbe: Und unsere Farbe vom Anfang? Das ist rgb(192, 57, 43): viel Rot, wenig Grün, wenig Blau. Ein kräftiges Rot.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22 – Hex = dieselbe Farbe: Viel häufiger siehst du aber die kurze Schreibweise mit Raute: #c0392b. Das ist genau dieselbe Farbe, nur in einem anderen Zahlensystem geschrieben, dem Hexadezimalsystem.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23 – Dezimalsystem: Um es zu verstehen, schauen wir uns zuerst an, wie wir normalerweise zählen. Im Dezimalsystem gibt es zehn Ziffern, von 0 bis 9. Sind sie aufgebraucht, fangen wir eine neue Stelle an: Nach 9 kommt 10. Die rechte Stelle zählt die Einer, die linke die Zehner.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24 – Sechzehn Ziffern: Das Hexadezimalsystem hat nicht zehn, sondern sechzehn Ziffern. Weil es aber nur zehn Zahlzeichen gibt, nimmt man für die Werte zehn bis fünfzehn einfach Buchstaben: a steht für 10, b für 11, c für 12, d für 13, e für 14 und f für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25 – Hexadezimal zählen: Gezählt wird also so: 0, 1, 2, 3, 4, 5, 6, 7, 8, 9, a, b, c, d, e, f, und erst dann kommt 10. Diese „10“ bedeutet im Hexadezimalsystem aber nicht zehn, sondern sechzehn. Denn die linke Stelle zählt hier nicht die Zehner, sondern die Sechzehner.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26 – Die Regel: Jetzt können wir umrechnen. Eine zweistellige Hex-Zahl rechnest du so in eine Dezimalzahl um: linke Ziffer mal 16, plus rechte Ziffer.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27 – Drei Paare: Nehmen wir unseren Farbcode #c0392b. Zuerst teilen wir ihn in drei Paare: c0 für Rot, 39 für Grün und 2b für Blau.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28 – c0: c0: c ist 12. 12 mal 16 ist 192, plus 0 ergibt 192.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29 – 39: 39: 3 mal 16 ist 48, plus 9 ergibt 57.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30 – 2b: 2b: 2 mal 16 ist 32, plus b, also 11, ergibt 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31 – Ergebnis: Damit gilt: #c0392b ist dasselbe wie rgb(192, 57, 43).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32 – ff = 255: Und was ist der höchste Wert? ff: 15 mal 16 ist 240, plus 15 ergibt 255. Genau der Höchstwert eines Farbanteils.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33 – Die Regel: Umgekehrt geht es auch. Du teilst die Dezimalzahl durch 16. Das Ergebnis ist die linke Ziffer, der Rest ist die rechte.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34 – 192: Ein Beispiel mit 192: 192 geteilt durch 16 ist 12, Rest 0. Die 12 schreiben wir als c, also c0.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35 – 57: Noch eines mit 57: 57 geteilt durch 16 ist 3, Rest 9. Also 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36 – Die Frage: Du fragst dich vielleicht: Warum machen wir es uns so kompliziert, wenn es auch mit normalen Zahlen geht? Die Antwort ist wieder das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37 – 4 Bits: Eine Hex-Ziffer steht für genau 4 Bits, zwei Hex-Ziffern für genau ein Byte. Jeder Farbanteil von 0 bis 255 passt deshalb immer in genau zwei Zeichen, von 00 bis ff. Bei Dezimalzahlen brauchst du mal eine, mal zwei, mal drei Stellen.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38 – 192 binär: Schau dir das an der Zahl 192 an. Binär ist das 1100 0000. Teilst du die acht Bits in zwei Vierergruppen, wird aus 1100 die Hex-Ziffer c und aus 0000 die 0. Zusammen ergibt das c0.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39 – Kurz und lesbar: Hexadezimal ist also eine kurze, gut lesbare Schreibweise für Binärzahlen. Deshalb verwenden Programmiererinnen und Programmierer es so gerne, nicht nur für Farben.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40 – Wo findest du Farbcodes?: Hex-Codes und RGB-Werte findest du an vielen Stellen: in HTML und CSS beim Gestalten von Webseiten, in Bildbearbeitungsprogrammen und Design-Tools, in Word und PowerPoint unter „Weitere Farben“, wo du die RGB-Werte und in neueren Versionen auch den Hex-Code eintragen kannst.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41 – Dieselbe Farbe überall: Das ist praktisch: Wenn du auf einer Folie, einem Plakat und einer Webseite exakt dieselbe Farbe verwenden willst, notierst du dir einfach den Farbcode.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42 – Aufgabe #ff8000: Pausiere kurz das Video und rechne um: Welche Farbe ist #ff8000?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43 – Lösung #ff8000: Hast du es? ff ist 255, 80 ist 8 mal 16, also 128, und 00 ist 0. Das ergibt rgb(255, 128, 0): viel Rot, halb so viel Grün, kein Blau. Das ist ein kräftiges Orange.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44 – Aufgabe #333333: Und noch eine Frage zum Nachdenken: Welche Farbe ist #333333?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45 – Lösung #333333: Alle drei Paare sind gleich, also ist es ein Grauton. 33 ist 3 mal 16 plus 3, also 51. Weil 51 ziemlich klein ist, ist es ein dunkles Grau.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46 – Pixel und Byte: Fassen wir zusammen. Jedes Pixel mischt seine Farbe aus rotem, grünem und blauem Licht. Jeder Anteil wird in einem Byte gespeichert und hat deshalb einen Wert von 0 bis 255. Das ergibt über 16,7 Millionen Farben.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47 – Dezimal und hex: Dezimal schreibt man eine Farbe zum Beispiel als rgb(192, 57, 43), hexadezimal als #c0392b. Beides ist dieselbe Farbe. Das Hexadezimalsystem hat sechzehn Ziffern, von 0 bis f, und zwei Hex-Ziffern stehen immer für genau ein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48 – Merksatz: Merk dir diesen Satz: Jede Farbe sind drei Zahlen: Rot, Grün und Blau. Dezimal von 0 bis 255, hexadezimal von 00 bis 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49 – Abo: Wenn dir das Video gefallen hat, lass gerne ein Abo 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50 – Auftrag: Dein Auftrag bis zum nächsten Mal: Such dir deine Lieblingsfarbe in einem Farbwähler aus, notiere den Hex-Code und rechne ihn selbst in RGB-Werte um. Bis zum nächsten Mal!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1F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Willkommen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Farben im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Dezimal und hexadezimal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766560" y="1097280"/>
            <a:ext cx="4572000" cy="3108960"/>
          </a:xfrm>
          <a:prstGeom prst="roundRect">
            <a:avLst>
              <a:gd name="adj" fmla="val 5882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0972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#c0392b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595360" y="4572000"/>
            <a:ext cx="2743200" cy="822960"/>
          </a:xfrm>
          <a:prstGeom prst="wedgeRoundRectCallout">
            <a:avLst>
              <a:gd name="adj" fmla="val 22222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ist das?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Farbcode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soll das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bedeuten?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Raute, Zahlen und Buchstaben bunt gemischt.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463040"/>
            <a:ext cx="1143000" cy="1463040"/>
          </a:xfrm>
          <a:prstGeom prst="roundRect">
            <a:avLst>
              <a:gd name="adj" fmla="val 9600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463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863840" y="1463040"/>
            <a:ext cx="1143000" cy="1463040"/>
          </a:xfrm>
          <a:prstGeom prst="roundRect">
            <a:avLst>
              <a:gd name="adj" fmla="val 96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463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c0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9144000" y="1463040"/>
            <a:ext cx="1143000" cy="1463040"/>
          </a:xfrm>
          <a:prstGeom prst="roundRect">
            <a:avLst>
              <a:gd name="adj" fmla="val 96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0" y="1463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0424160" y="1463040"/>
            <a:ext cx="1143000" cy="1463040"/>
          </a:xfrm>
          <a:prstGeom prst="roundRect">
            <a:avLst>
              <a:gd name="adj" fmla="val 96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0" y="1463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2b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063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3063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3063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0" y="3063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7863840" y="42976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lernst du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Fragen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ein Video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41732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0058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speichert ein Computer Farben?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310896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26974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gibt es genau 16,7 Millionen?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583680" y="438912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480060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43891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lese und rechne ich Farbcodes um?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Vorwissen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Binärsystem: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kleiner Vorsprung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Mitmachen geht auch ohne Vorwissen.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188720"/>
            <a:ext cx="4937760" cy="2926080"/>
          </a:xfrm>
          <a:prstGeom prst="roundRect">
            <a:avLst>
              <a:gd name="adj" fmla="val 4688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280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 zum Binärsystem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2194560"/>
            <a:ext cx="502920" cy="731520"/>
          </a:xfrm>
          <a:prstGeom prst="roundRect">
            <a:avLst>
              <a:gd name="adj" fmla="val 21818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24928" y="2194560"/>
            <a:ext cx="502920" cy="731520"/>
          </a:xfrm>
          <a:prstGeom prst="roundRect">
            <a:avLst>
              <a:gd name="adj" fmla="val 2181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24928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991856" y="2194560"/>
            <a:ext cx="502920" cy="731520"/>
          </a:xfrm>
          <a:prstGeom prst="roundRect">
            <a:avLst>
              <a:gd name="adj" fmla="val 21818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91856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558784" y="2194560"/>
            <a:ext cx="502920" cy="731520"/>
          </a:xfrm>
          <a:prstGeom prst="roundRect">
            <a:avLst>
              <a:gd name="adj" fmla="val 2181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58784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125712" y="2194560"/>
            <a:ext cx="502920" cy="731520"/>
          </a:xfrm>
          <a:prstGeom prst="roundRect">
            <a:avLst>
              <a:gd name="adj" fmla="val 21818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25712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692640" y="2194560"/>
            <a:ext cx="502920" cy="731520"/>
          </a:xfrm>
          <a:prstGeom prst="roundRect">
            <a:avLst>
              <a:gd name="adj" fmla="val 2181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0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259568" y="2194560"/>
            <a:ext cx="502920" cy="731520"/>
          </a:xfrm>
          <a:prstGeom prst="roundRect">
            <a:avLst>
              <a:gd name="adj" fmla="val 21818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259568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826496" y="2194560"/>
            <a:ext cx="502920" cy="731520"/>
          </a:xfrm>
          <a:prstGeom prst="roundRect">
            <a:avLst>
              <a:gd name="adj" fmla="val 2181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826496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858000" y="32918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0" y="3291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ohne Vorwissen auch ok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entsteht Farbe?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Millionen winzige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Pixel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Bildschirm besteht aus Punkten.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97280"/>
            <a:ext cx="621792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05472" y="1097280"/>
            <a:ext cx="621792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27264" y="1097280"/>
            <a:ext cx="621792" cy="621792"/>
          </a:xfrm>
          <a:prstGeom prst="rect">
            <a:avLst/>
          </a:prstGeom>
          <a:solidFill>
            <a:srgbClr val="2ECC7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49056" y="1097280"/>
            <a:ext cx="621792" cy="621792"/>
          </a:xfrm>
          <a:prstGeom prst="rect">
            <a:avLst/>
          </a:prstGeom>
          <a:solidFill>
            <a:srgbClr val="ECF0F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70848" y="1097280"/>
            <a:ext cx="621792" cy="621792"/>
          </a:xfrm>
          <a:prstGeom prst="rect">
            <a:avLst/>
          </a:prstGeom>
          <a:solidFill>
            <a:srgbClr val="9B59B6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0" y="1097280"/>
            <a:ext cx="621792" cy="621792"/>
          </a:xfrm>
          <a:prstGeom prst="rect">
            <a:avLst/>
          </a:prstGeom>
          <a:solidFill>
            <a:srgbClr val="F1C40F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14432" y="1097280"/>
            <a:ext cx="621792" cy="621792"/>
          </a:xfrm>
          <a:prstGeom prst="rect">
            <a:avLst/>
          </a:prstGeom>
          <a:solidFill>
            <a:srgbClr val="1ABC9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36224" y="1097280"/>
            <a:ext cx="621792" cy="621792"/>
          </a:xfrm>
          <a:prstGeom prst="rect">
            <a:avLst/>
          </a:prstGeom>
          <a:solidFill>
            <a:srgbClr val="3498DB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1719072"/>
            <a:ext cx="621792" cy="621792"/>
          </a:xfrm>
          <a:prstGeom prst="rect">
            <a:avLst/>
          </a:prstGeom>
          <a:solidFill>
            <a:srgbClr val="3498DB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05472" y="1719072"/>
            <a:ext cx="621792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7264" y="1719072"/>
            <a:ext cx="621792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49056" y="1719072"/>
            <a:ext cx="621792" cy="621792"/>
          </a:xfrm>
          <a:prstGeom prst="rect">
            <a:avLst/>
          </a:prstGeom>
          <a:solidFill>
            <a:srgbClr val="2ECC7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70848" y="1719072"/>
            <a:ext cx="621792" cy="621792"/>
          </a:xfrm>
          <a:prstGeom prst="rect">
            <a:avLst/>
          </a:prstGeom>
          <a:solidFill>
            <a:srgbClr val="ECF0F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0" y="1719072"/>
            <a:ext cx="621792" cy="621792"/>
          </a:xfrm>
          <a:prstGeom prst="rect">
            <a:avLst/>
          </a:prstGeom>
          <a:solidFill>
            <a:srgbClr val="9B59B6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314432" y="1719072"/>
            <a:ext cx="621792" cy="621792"/>
          </a:xfrm>
          <a:prstGeom prst="rect">
            <a:avLst/>
          </a:prstGeom>
          <a:solidFill>
            <a:srgbClr val="F1C40F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936224" y="1719072"/>
            <a:ext cx="621792" cy="621792"/>
          </a:xfrm>
          <a:prstGeom prst="rect">
            <a:avLst/>
          </a:prstGeom>
          <a:solidFill>
            <a:srgbClr val="1ABC9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0" y="2340864"/>
            <a:ext cx="621792" cy="621792"/>
          </a:xfrm>
          <a:prstGeom prst="rect">
            <a:avLst/>
          </a:prstGeom>
          <a:solidFill>
            <a:srgbClr val="1ABC9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05472" y="2340864"/>
            <a:ext cx="621792" cy="621792"/>
          </a:xfrm>
          <a:prstGeom prst="rect">
            <a:avLst/>
          </a:prstGeom>
          <a:solidFill>
            <a:srgbClr val="3498DB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27264" y="2340864"/>
            <a:ext cx="621792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49056" y="2340864"/>
            <a:ext cx="621792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70848" y="2340864"/>
            <a:ext cx="621792" cy="621792"/>
          </a:xfrm>
          <a:prstGeom prst="rect">
            <a:avLst/>
          </a:prstGeom>
          <a:solidFill>
            <a:srgbClr val="2ECC7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92640" y="2340864"/>
            <a:ext cx="621792" cy="621792"/>
          </a:xfrm>
          <a:prstGeom prst="rect">
            <a:avLst/>
          </a:prstGeom>
          <a:solidFill>
            <a:srgbClr val="ECF0F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314432" y="2340864"/>
            <a:ext cx="621792" cy="621792"/>
          </a:xfrm>
          <a:prstGeom prst="rect">
            <a:avLst/>
          </a:prstGeom>
          <a:solidFill>
            <a:srgbClr val="9B59B6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36224" y="2340864"/>
            <a:ext cx="621792" cy="621792"/>
          </a:xfrm>
          <a:prstGeom prst="rect">
            <a:avLst/>
          </a:prstGeom>
          <a:solidFill>
            <a:srgbClr val="F1C40F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2962656"/>
            <a:ext cx="621792" cy="621792"/>
          </a:xfrm>
          <a:prstGeom prst="rect">
            <a:avLst/>
          </a:prstGeom>
          <a:solidFill>
            <a:srgbClr val="F1C40F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205472" y="2962656"/>
            <a:ext cx="621792" cy="621792"/>
          </a:xfrm>
          <a:prstGeom prst="rect">
            <a:avLst/>
          </a:prstGeom>
          <a:solidFill>
            <a:srgbClr val="1ABC9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27264" y="2962656"/>
            <a:ext cx="621792" cy="621792"/>
          </a:xfrm>
          <a:prstGeom prst="rect">
            <a:avLst/>
          </a:prstGeom>
          <a:solidFill>
            <a:srgbClr val="3498DB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49056" y="2962656"/>
            <a:ext cx="621792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70848" y="2962656"/>
            <a:ext cx="621792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92640" y="2962656"/>
            <a:ext cx="621792" cy="621792"/>
          </a:xfrm>
          <a:prstGeom prst="rect">
            <a:avLst/>
          </a:prstGeom>
          <a:solidFill>
            <a:srgbClr val="2ECC7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314432" y="2962656"/>
            <a:ext cx="621792" cy="621792"/>
          </a:xfrm>
          <a:prstGeom prst="rect">
            <a:avLst/>
          </a:prstGeom>
          <a:solidFill>
            <a:srgbClr val="ECF0F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936224" y="2962656"/>
            <a:ext cx="621792" cy="621792"/>
          </a:xfrm>
          <a:prstGeom prst="rect">
            <a:avLst/>
          </a:prstGeom>
          <a:solidFill>
            <a:srgbClr val="9B59B6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83680" y="3584448"/>
            <a:ext cx="621792" cy="621792"/>
          </a:xfrm>
          <a:prstGeom prst="rect">
            <a:avLst/>
          </a:prstGeom>
          <a:solidFill>
            <a:srgbClr val="9B59B6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205472" y="3584448"/>
            <a:ext cx="621792" cy="621792"/>
          </a:xfrm>
          <a:prstGeom prst="rect">
            <a:avLst/>
          </a:prstGeom>
          <a:solidFill>
            <a:srgbClr val="F1C40F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27264" y="3584448"/>
            <a:ext cx="621792" cy="621792"/>
          </a:xfrm>
          <a:prstGeom prst="rect">
            <a:avLst/>
          </a:prstGeom>
          <a:solidFill>
            <a:srgbClr val="1ABC9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449056" y="3584448"/>
            <a:ext cx="621792" cy="621792"/>
          </a:xfrm>
          <a:prstGeom prst="rect">
            <a:avLst/>
          </a:prstGeom>
          <a:solidFill>
            <a:srgbClr val="3498DB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070848" y="3584448"/>
            <a:ext cx="621792" cy="621792"/>
          </a:xfrm>
          <a:prstGeom prst="rect">
            <a:avLst/>
          </a:prstGeom>
          <a:solidFill>
            <a:srgbClr val="E74C3C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692640" y="3584448"/>
            <a:ext cx="621792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314432" y="3584448"/>
            <a:ext cx="621792" cy="621792"/>
          </a:xfrm>
          <a:prstGeom prst="rect">
            <a:avLst/>
          </a:prstGeom>
          <a:solidFill>
            <a:srgbClr val="2ECC7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936224" y="3584448"/>
            <a:ext cx="621792" cy="621792"/>
          </a:xfrm>
          <a:prstGeom prst="rect">
            <a:avLst/>
          </a:prstGeom>
          <a:solidFill>
            <a:srgbClr val="ECF0F1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29600" y="45720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229600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Pixel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Überraschung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Lichtpunkte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 Pixel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roter, ein grüner und ein blauer.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4206240"/>
          </a:xfrm>
          <a:prstGeom prst="roundRect">
            <a:avLst>
              <a:gd name="adj" fmla="val 3261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463040"/>
            <a:ext cx="1188720" cy="2651760"/>
          </a:xfrm>
          <a:prstGeom prst="roundRect">
            <a:avLst>
              <a:gd name="adj" fmla="val 11538"/>
            </a:avLst>
          </a:prstGeom>
          <a:solidFill>
            <a:srgbClr val="FF0000"/>
          </a:solidFill>
          <a:ln w="19050">
            <a:solidFill>
              <a:srgbClr val="FBFF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0" y="4251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12480" y="1463040"/>
            <a:ext cx="1188720" cy="2651760"/>
          </a:xfrm>
          <a:prstGeom prst="roundRect">
            <a:avLst>
              <a:gd name="adj" fmla="val 11538"/>
            </a:avLst>
          </a:prstGeom>
          <a:solidFill>
            <a:srgbClr val="00FF00"/>
          </a:solidFill>
          <a:ln w="19050">
            <a:solidFill>
              <a:srgbClr val="FBFF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4251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Grün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875520" y="1463040"/>
            <a:ext cx="1188720" cy="2651760"/>
          </a:xfrm>
          <a:prstGeom prst="roundRect">
            <a:avLst>
              <a:gd name="adj" fmla="val 11538"/>
            </a:avLst>
          </a:prstGeom>
          <a:solidFill>
            <a:srgbClr val="0000FF"/>
          </a:solidFill>
          <a:ln w="19050">
            <a:solidFill>
              <a:srgbClr val="FBFF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0" y="4251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Blau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der Lupe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bloßem Auge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unsichtbar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Lupe oder Handy-Zoom manchmal zu erkennen.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949440" y="1005840"/>
            <a:ext cx="3840480" cy="3840480"/>
          </a:xfrm>
          <a:prstGeom prst="ellipse">
            <a:avLst/>
          </a:prstGeom>
          <a:solidFill>
            <a:srgbClr val="FBFFF4"/>
          </a:solidFill>
          <a:ln w="1016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554480"/>
            <a:ext cx="731520" cy="2743200"/>
          </a:xfrm>
          <a:prstGeom prst="roundRect">
            <a:avLst>
              <a:gd name="adj" fmla="val 15000"/>
            </a:avLst>
          </a:prstGeom>
          <a:solidFill>
            <a:srgbClr val="FF0000"/>
          </a:solidFill>
          <a:ln w="1905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554480"/>
            <a:ext cx="731520" cy="2743200"/>
          </a:xfrm>
          <a:prstGeom prst="roundRect">
            <a:avLst>
              <a:gd name="adj" fmla="val 15000"/>
            </a:avLst>
          </a:prstGeom>
          <a:solidFill>
            <a:srgbClr val="00FF00"/>
          </a:solidFill>
          <a:ln w="19050">
            <a:solidFill>
              <a:srgbClr val="1230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64040" y="1554480"/>
            <a:ext cx="731520" cy="2743200"/>
          </a:xfrm>
          <a:prstGeom prst="roundRect">
            <a:avLst>
              <a:gd name="adj" fmla="val 15000"/>
            </a:avLst>
          </a:prstGeom>
          <a:solidFill>
            <a:srgbClr val="0000FF"/>
          </a:solidFill>
          <a:ln w="19050">
            <a:solidFill>
              <a:srgbClr val="1230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700000">
            <a:off x="10561320" y="45720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RGB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Aus drei Lichtfarben: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RGB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2801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F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100584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0058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 · Rot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29718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0FF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269748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26974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 · Grün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583680" y="438912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46634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000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438912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3891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Blue · Blau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Licht ist anders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Licht mischt sich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anders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als Malfarbe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2194560"/>
          </a:xfrm>
          <a:prstGeom prst="roundRect">
            <a:avLst>
              <a:gd name="adj" fmla="val 625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Malkasten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0" y="16916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16916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595360" y="16916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00A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784080" y="16916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10332720" y="16916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7A523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3566160"/>
            <a:ext cx="4937760" cy="2194560"/>
          </a:xfrm>
          <a:prstGeom prst="roundRect">
            <a:avLst>
              <a:gd name="adj" fmla="val 6250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Licht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42519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859536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00FF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84080" y="42519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1033272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FFF00"/>
          </a:solidFill>
          <a:ln w="254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Lichtmischung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 + Grün =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Gelb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 + Blau = Magenta, Grün + Blau = Cyan.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75120" y="10972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43800" y="10972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8046720" y="10972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0FF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10972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9418320" y="10972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FFF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332720" y="1097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Gelb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75120" y="2560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3800" y="2560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46720" y="2560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000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15400" y="2560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9418320" y="2560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F00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332720" y="2560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Magenta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675120" y="40233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0FF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43800" y="4023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046720" y="40233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000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15400" y="4023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9418320" y="40233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0FF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332720" y="4023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Cyan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Weiß und Schwarz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Alles an: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Weiß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Alles aus: Schwarz.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675120" y="12801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0" y="1280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955280" y="12801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0FF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0" y="1280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9235440" y="12801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000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 Weiß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75120" y="219456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75120" y="384048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 Licht = Schwarz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Additiv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Additive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Farbmischung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kommt Licht dazu: je mehr Licht, desto heller.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463040"/>
            <a:ext cx="566928" cy="2377440"/>
          </a:xfrm>
          <a:prstGeom prst="roundRect">
            <a:avLst>
              <a:gd name="adj" fmla="val 8065"/>
            </a:avLst>
          </a:prstGeom>
          <a:solidFill>
            <a:srgbClr val="0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05472" y="1463040"/>
            <a:ext cx="566928" cy="2377440"/>
          </a:xfrm>
          <a:prstGeom prst="roundRect">
            <a:avLst>
              <a:gd name="adj" fmla="val 8065"/>
            </a:avLst>
          </a:prstGeom>
          <a:solidFill>
            <a:srgbClr val="242424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27264" y="1463040"/>
            <a:ext cx="566928" cy="2377440"/>
          </a:xfrm>
          <a:prstGeom prst="roundRect">
            <a:avLst>
              <a:gd name="adj" fmla="val 8065"/>
            </a:avLst>
          </a:prstGeom>
          <a:solidFill>
            <a:srgbClr val="494949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49056" y="1463040"/>
            <a:ext cx="566928" cy="2377440"/>
          </a:xfrm>
          <a:prstGeom prst="roundRect">
            <a:avLst>
              <a:gd name="adj" fmla="val 8065"/>
            </a:avLst>
          </a:prstGeom>
          <a:solidFill>
            <a:srgbClr val="6D6D6D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70848" y="1463040"/>
            <a:ext cx="566928" cy="2377440"/>
          </a:xfrm>
          <a:prstGeom prst="roundRect">
            <a:avLst>
              <a:gd name="adj" fmla="val 8065"/>
            </a:avLst>
          </a:prstGeom>
          <a:solidFill>
            <a:srgbClr val="929292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0" y="1463040"/>
            <a:ext cx="566928" cy="2377440"/>
          </a:xfrm>
          <a:prstGeom prst="roundRect">
            <a:avLst>
              <a:gd name="adj" fmla="val 8065"/>
            </a:avLst>
          </a:prstGeom>
          <a:solidFill>
            <a:srgbClr val="B6B6B6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14432" y="1463040"/>
            <a:ext cx="566928" cy="2377440"/>
          </a:xfrm>
          <a:prstGeom prst="roundRect">
            <a:avLst>
              <a:gd name="adj" fmla="val 8065"/>
            </a:avLst>
          </a:prstGeom>
          <a:solidFill>
            <a:srgbClr val="DBDBDB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36224" y="1463040"/>
            <a:ext cx="566928" cy="23774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4206240"/>
            <a:ext cx="4937760" cy="548640"/>
          </a:xfrm>
          <a:prstGeom prst="right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Licht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hell?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Stufen von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0 bis 255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Von ganz aus bis volle Helligkeit.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0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2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4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6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8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9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B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42416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D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0" y="1371600"/>
            <a:ext cx="512064" cy="2194560"/>
          </a:xfrm>
          <a:prstGeom prst="roundRect">
            <a:avLst>
              <a:gd name="adj" fmla="val 8929"/>
            </a:avLst>
          </a:prstGeom>
          <a:solidFill>
            <a:srgbClr val="FF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0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255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ganz aus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509760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volle Helligkeit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255?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Byte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 Farbanteil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Byte sind 8 Bits.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64592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64592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205472" y="164592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05472" y="164592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827264" y="164592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27264" y="164592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449056" y="164592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49056" y="164592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070848" y="164592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70848" y="164592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692640" y="164592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0" y="164592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0314432" y="164592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314432" y="164592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0936224" y="164592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936224" y="164592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6583680" y="2743200"/>
            <a:ext cx="4901184" cy="54864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2926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Byte = 8 Bit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viele Werte?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hoch 8 =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256 Werte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Zahlen von 0 bis 255.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280160"/>
            <a:ext cx="4937760" cy="3291840"/>
          </a:xfrm>
          <a:prstGeom prst="roundRect">
            <a:avLst>
              <a:gd name="adj" fmla="val 4167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4630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ctr" indent="0" marL="0">
              <a:buNone/>
            </a:pPr>
            <a:r>
              <a:rPr lang="en-US" sz="5400" b="1" baseline="300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ctr" indent="0" marL="0">
              <a:buNone/>
            </a:pPr>
            <a:r>
              <a:rPr lang="en-US" sz="54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= 256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bis 255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 Farben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16,7 Millionen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Farben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Mehr, als das Auge unterscheiden kann.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97280"/>
            <a:ext cx="4937760" cy="4206240"/>
          </a:xfrm>
          <a:prstGeom prst="roundRect">
            <a:avLst>
              <a:gd name="adj" fmla="val 3261"/>
            </a:avLst>
          </a:prstGeom>
          <a:solidFill>
            <a:srgbClr val="FBFFF4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371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256 × 256 × 256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560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2004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16.777.216</a:t>
            </a:r>
            <a:endParaRPr lang="en-US" sz="4200" dirty="0"/>
          </a:p>
        </p:txBody>
      </p:sp>
      <p:sp>
        <p:nvSpPr>
          <p:cNvPr id="10" name="Shape 7"/>
          <p:cNvSpPr/>
          <p:nvPr/>
        </p:nvSpPr>
        <p:spPr>
          <a:xfrm>
            <a:off x="7498080" y="44805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rund 16,7 Millionen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Schreibweise 1: dezimal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rgb(255, 0, 0)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normale Zahlen: Rot, Grün, Blau. Hier: reines Rot.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2743200"/>
          </a:xfrm>
          <a:prstGeom prst="roundRect">
            <a:avLst>
              <a:gd name="adj" fmla="val 5000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188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rgb(255, 0, 0)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255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Grün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5820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Blau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A7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80960" y="41148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0000"/>
          </a:solidFill>
          <a:ln w="254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Probieren wir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Farben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583680" y="1371600"/>
            <a:ext cx="4937760" cy="1645920"/>
          </a:xfrm>
          <a:prstGeom prst="roundRect">
            <a:avLst>
              <a:gd name="adj" fmla="val 833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73736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000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1554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rgb(0, 0, 255)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reines Blau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0" y="3383280"/>
            <a:ext cx="4937760" cy="1645920"/>
          </a:xfrm>
          <a:prstGeom prst="roundRect">
            <a:avLst>
              <a:gd name="adj" fmla="val 8333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37490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rgb(255, 255, 0)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251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Gelb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Schwarz, Weiß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und Grau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2801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1097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rgb(0, 0, 0)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Schwarz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29718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2788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rgb(255, 255, 255)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Weiß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83680" y="438912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46634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80808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4480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rgb(128, 128, 128)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Grau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Praktischer Trick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gleiche Zahlen: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Grauton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 höher die Zahlen, desto heller das Grau.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371600"/>
            <a:ext cx="91440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89520" y="1371600"/>
            <a:ext cx="914400" cy="2194560"/>
          </a:xfrm>
          <a:prstGeom prst="roundRect">
            <a:avLst>
              <a:gd name="adj" fmla="val 5000"/>
            </a:avLst>
          </a:prstGeom>
          <a:solidFill>
            <a:srgbClr val="40404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0" y="1371600"/>
            <a:ext cx="914400" cy="2194560"/>
          </a:xfrm>
          <a:prstGeom prst="roundRect">
            <a:avLst>
              <a:gd name="adj" fmla="val 5000"/>
            </a:avLst>
          </a:prstGeom>
          <a:solidFill>
            <a:srgbClr val="80808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01200" y="1371600"/>
            <a:ext cx="914400" cy="2194560"/>
          </a:xfrm>
          <a:prstGeom prst="roundRect">
            <a:avLst>
              <a:gd name="adj" fmla="val 5000"/>
            </a:avLst>
          </a:prstGeom>
          <a:solidFill>
            <a:srgbClr val="C0C0C0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607040" y="1371600"/>
            <a:ext cx="914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0704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4572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7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rgb(v, v, v)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Unsere Farbe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rgb(192, 57, 43)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Viel Rot, wenig Grün, wenig Blau: ein kräftiges Rot.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1554480"/>
          </a:xfrm>
          <a:prstGeom prst="roundRect">
            <a:avLst>
              <a:gd name="adj" fmla="val 7059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2834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132320" y="288036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0" y="2880360"/>
            <a:ext cx="2203166" cy="411480"/>
          </a:xfrm>
          <a:prstGeom prst="roundRect">
            <a:avLst>
              <a:gd name="adj" fmla="val 22222"/>
            </a:avLst>
          </a:prstGeom>
          <a:solidFill>
            <a:srgbClr val="FF0000"/>
          </a:solidFill>
          <a:ln w="19050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95560" y="2834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132320" y="361188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0" y="3611880"/>
            <a:ext cx="654065" cy="411480"/>
          </a:xfrm>
          <a:prstGeom prst="roundRect">
            <a:avLst>
              <a:gd name="adj" fmla="val 22222"/>
            </a:avLst>
          </a:prstGeom>
          <a:solidFill>
            <a:srgbClr val="00FF00"/>
          </a:solidFill>
          <a:ln w="19050">
            <a:solidFill>
              <a:srgbClr val="1230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195560" y="3566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4297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132320" y="434340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0" y="4343400"/>
            <a:ext cx="493417" cy="411480"/>
          </a:xfrm>
          <a:prstGeom prst="roundRect">
            <a:avLst>
              <a:gd name="adj" fmla="val 22222"/>
            </a:avLst>
          </a:prstGeom>
          <a:solidFill>
            <a:srgbClr val="0000FF"/>
          </a:solidFill>
          <a:ln w="19050">
            <a:solidFill>
              <a:srgbClr val="1230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95560" y="4297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Schreibweise 2: hexadezimal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Dieselbe Farbe,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anders geschrieben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Hexadezimalsystem.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1371600"/>
          </a:xfrm>
          <a:prstGeom prst="roundRect">
            <a:avLst>
              <a:gd name="adj" fmla="val 10000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005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rgb(192, 57, 43)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6583680" y="3200400"/>
            <a:ext cx="4937760" cy="1371600"/>
          </a:xfrm>
          <a:prstGeom prst="roundRect">
            <a:avLst>
              <a:gd name="adj" fmla="val 10000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3200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#c0392b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8229600" y="484632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Dezimalsystem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Zehn Ziffern: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0 bis 9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Nach 9 kommt 10: rechts die Einer, links die Zehner.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589520" y="10058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595360" y="10058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601200" y="10058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0607040" y="10058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0704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583680" y="20116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589520" y="20116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595360" y="20116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601200" y="20116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0607040" y="20116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6070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3200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→ 10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7406640" y="402336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06640" y="4023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4892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Zehner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961120" y="402336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61120" y="4023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8961120" y="4892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Einer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Hexadezimalsystem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Sechzehn Ziffern: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0 bis f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zehn bis fünfzehn nimmt man Buchstaben.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91440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6459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45552" y="91440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45552" y="91440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845552" y="16459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07424" y="91440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07424" y="91440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107424" y="16459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369296" y="91440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369296" y="91440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0369296" y="16459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24028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24028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9718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845552" y="224028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45552" y="224028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7845552" y="29718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107424" y="224028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07424" y="224028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9107424" y="29718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369296" y="224028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69296" y="224028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10369296" y="29718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83680" y="356616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0" y="356616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0" y="4297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845552" y="356616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45552" y="356616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7845552" y="4297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107424" y="356616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07424" y="356616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9107424" y="4297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0369296" y="356616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369296" y="356616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10369296" y="4297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583680" y="489204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583680" y="489204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2400" dirty="0"/>
          </a:p>
        </p:txBody>
      </p:sp>
      <p:sp>
        <p:nvSpPr>
          <p:cNvPr id="44" name="Text 41"/>
          <p:cNvSpPr txBox="1"/>
          <p:nvPr/>
        </p:nvSpPr>
        <p:spPr>
          <a:xfrm>
            <a:off x="6583680" y="56235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845552" y="489204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845552" y="489204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2400" dirty="0"/>
          </a:p>
        </p:txBody>
      </p:sp>
      <p:sp>
        <p:nvSpPr>
          <p:cNvPr id="47" name="Text 44"/>
          <p:cNvSpPr txBox="1"/>
          <p:nvPr/>
        </p:nvSpPr>
        <p:spPr>
          <a:xfrm>
            <a:off x="7845552" y="56235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9107424" y="489204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07424" y="489204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2400" dirty="0"/>
          </a:p>
        </p:txBody>
      </p:sp>
      <p:sp>
        <p:nvSpPr>
          <p:cNvPr id="50" name="Text 47"/>
          <p:cNvSpPr txBox="1"/>
          <p:nvPr/>
        </p:nvSpPr>
        <p:spPr>
          <a:xfrm>
            <a:off x="9107424" y="56235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10369296" y="4892040"/>
            <a:ext cx="1170432" cy="73152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369296" y="489204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2400" dirty="0"/>
          </a:p>
        </p:txBody>
      </p:sp>
      <p:sp>
        <p:nvSpPr>
          <p:cNvPr id="53" name="Text 50"/>
          <p:cNvSpPr txBox="1"/>
          <p:nvPr/>
        </p:nvSpPr>
        <p:spPr>
          <a:xfrm>
            <a:off x="10369296" y="56235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Hexadezimal zählen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Nach f kommt 10 – das ist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sechzehn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linke Stelle zählt die Sechzehner.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97280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0972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205472" y="1097280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05472" y="10972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827264" y="1097280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27264" y="10972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449056" y="1097280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49056" y="10972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070848" y="1097280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70848" y="10972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692640" y="1097280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0" y="10972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314432" y="1097280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314432" y="10972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936224" y="1097280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936224" y="109728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583680" y="1810512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18105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7205472" y="1810512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05472" y="18105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827264" y="1810512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27264" y="18105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449056" y="1810512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49056" y="18105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9070848" y="1810512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70848" y="18105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9692640" y="1810512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92640" y="18105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0314432" y="1810512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314432" y="18105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0936224" y="1810512"/>
            <a:ext cx="566928" cy="64008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36224" y="18105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7132320" y="32004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132320" y="3200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400" dirty="0"/>
          </a:p>
        </p:txBody>
      </p:sp>
      <p:sp>
        <p:nvSpPr>
          <p:cNvPr id="40" name="Text 37"/>
          <p:cNvSpPr txBox="1"/>
          <p:nvPr/>
        </p:nvSpPr>
        <p:spPr>
          <a:xfrm>
            <a:off x="713232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Sechzehner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9326880" y="32004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326880" y="3200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400" dirty="0"/>
          </a:p>
        </p:txBody>
      </p:sp>
      <p:sp>
        <p:nvSpPr>
          <p:cNvPr id="43" name="Text 40"/>
          <p:cNvSpPr txBox="1"/>
          <p:nvPr/>
        </p:nvSpPr>
        <p:spPr>
          <a:xfrm>
            <a:off x="932688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Einer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583680" y="4937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(hex) = 16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 → dezimal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 Ziffer × 16,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plus rechte Ziffer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rechnest du eine zweistellige Hex-Zahl um.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280160"/>
            <a:ext cx="4937760" cy="3474720"/>
          </a:xfrm>
          <a:prstGeom prst="roundRect">
            <a:avLst>
              <a:gd name="adj" fmla="val 3947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554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 × 16 + rechts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498080" y="29260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29260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9235440" y="2926080"/>
            <a:ext cx="1371600" cy="1188720"/>
          </a:xfrm>
          <a:prstGeom prst="roundRect">
            <a:avLst>
              <a:gd name="adj" fmla="val 923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35440" y="29260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#c0392b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Paare: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Rot, Grün, Blau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18872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6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315200" y="118872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0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732520" y="118872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32520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Grün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149840" y="118872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149840" y="11887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2b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1014984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5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Blau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0" y="365760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 → dezimal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c0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umrechnen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00584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0058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 = 12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× 16 = 192, plus 0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100584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192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 → dezimal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39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umrechnen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0" y="100584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0058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 = 12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× 16 = 192, plus 0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100584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192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269748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6974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× 16 = 48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plus 9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607040" y="269748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 → dezimal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2b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umrechnen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0" y="100584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0058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 = 12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× 16 = 192, plus 0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100584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192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0" y="269748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26974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× 16 = 48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plus 9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607040" y="269748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583680" y="438912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438912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438912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438912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× 16 = 32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 b = 11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607040" y="438912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Ergebnis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Dieselbe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Farbe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005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#c0392b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583680" y="310896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3108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rgb(192, 57, 43)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229600" y="46634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Höchster Wert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ff = </a:t>
            </a:r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255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Höchstwert eines Farbanteils.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280160"/>
            <a:ext cx="4937760" cy="3291840"/>
          </a:xfrm>
          <a:prstGeom prst="roundRect">
            <a:avLst>
              <a:gd name="adj" fmla="val 4167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463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743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× 16 = 240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240 + 15 = 255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Dezimal → hex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Durch 16 teilen: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Ergebnis und Rest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Ergebnis = linke Ziffer, Rest = rechte Ziffer.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18872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188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Dezimalzahl : 16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823960" y="2377440"/>
            <a:ext cx="457200" cy="54864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310896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3108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Ergebnis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0" y="310896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0" y="3108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 Ziffer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rechte Ziffer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 192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192 → </a:t>
            </a:r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c0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583680" y="1097280"/>
            <a:ext cx="4937760" cy="4023360"/>
          </a:xfrm>
          <a:prstGeom prst="roundRect">
            <a:avLst>
              <a:gd name="adj" fmla="val 340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192 : 16 = 12  Rest 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468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= c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589520" y="3566160"/>
            <a:ext cx="1371600" cy="1097280"/>
          </a:xfrm>
          <a:prstGeom prst="roundRect">
            <a:avLst>
              <a:gd name="adj" fmla="val 1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9144000" y="3566160"/>
            <a:ext cx="1371600" cy="1097280"/>
          </a:xfrm>
          <a:prstGeom prst="roundRect">
            <a:avLst>
              <a:gd name="adj" fmla="val 1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0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 57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 → </a:t>
            </a:r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39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583680" y="1097280"/>
            <a:ext cx="4937760" cy="4023360"/>
          </a:xfrm>
          <a:prstGeom prst="roundRect">
            <a:avLst>
              <a:gd name="adj" fmla="val 340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 : 16 = 3  Rest 9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468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und 9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589520" y="3566160"/>
            <a:ext cx="1371600" cy="1097280"/>
          </a:xfrm>
          <a:prstGeom prst="roundRect">
            <a:avLst>
              <a:gd name="adj" fmla="val 1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9144000" y="3566160"/>
            <a:ext cx="1371600" cy="1097280"/>
          </a:xfrm>
          <a:prstGeom prst="roundRect">
            <a:avLst>
              <a:gd name="adj" fmla="val 1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0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hexadezimal?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so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kompliziert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Antwort ist wieder das Byte.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97280"/>
            <a:ext cx="4937760" cy="1371600"/>
          </a:xfrm>
          <a:prstGeom prst="wedgeRoundRectCallout">
            <a:avLst>
              <a:gd name="adj" fmla="val 13333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097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geht doch auch mit normalen Zahlen?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338328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33832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205472" y="338328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05472" y="33832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827264" y="338328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27264" y="33832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449056" y="338328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49056" y="33832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070848" y="338328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70848" y="33832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9692640" y="338328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0" y="33832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0314432" y="338328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314432" y="33832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10936224" y="3383280"/>
            <a:ext cx="566928" cy="91440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936224" y="33832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4434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Byte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 und das Byte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Zwei Hex-Ziffern =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ein Byte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Jeder Farbanteil passt in genau zwei Zeichen: 00 bis ff.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1371600"/>
          </a:xfrm>
          <a:prstGeom prst="roundRect">
            <a:avLst>
              <a:gd name="adj" fmla="val 10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005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Hex-Ziffer = 4 Bit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83680" y="2651760"/>
            <a:ext cx="4937760" cy="1371600"/>
          </a:xfrm>
          <a:prstGeom prst="roundRect">
            <a:avLst>
              <a:gd name="adj" fmla="val 10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Hex-Ziffern = 1 Byte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583680" y="4297680"/>
            <a:ext cx="4937760" cy="1371600"/>
          </a:xfrm>
          <a:prstGeom prst="roundRect">
            <a:avLst>
              <a:gd name="adj" fmla="val 10000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4297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hex: immer 2 Stellen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dezimal: 1, 2 oder 3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Zahl 192 binär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1100 0000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= c0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Zwei Vierergruppen ergeben zwei Hex-Ziffern.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280160"/>
            <a:ext cx="566928" cy="82296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28016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205472" y="1280160"/>
            <a:ext cx="566928" cy="82296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05472" y="128016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827264" y="1280160"/>
            <a:ext cx="566928" cy="82296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27264" y="128016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449056" y="1280160"/>
            <a:ext cx="566928" cy="822960"/>
          </a:xfrm>
          <a:prstGeom prst="roundRect">
            <a:avLst>
              <a:gd name="adj" fmla="val 1935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49056" y="128016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299448" y="1280160"/>
            <a:ext cx="566928" cy="82296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99448" y="128016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921240" y="1280160"/>
            <a:ext cx="566928" cy="82296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921240" y="128016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0543032" y="1280160"/>
            <a:ext cx="566928" cy="82296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43032" y="128016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1164824" y="1280160"/>
            <a:ext cx="566928" cy="822960"/>
          </a:xfrm>
          <a:prstGeom prst="roundRect">
            <a:avLst>
              <a:gd name="adj" fmla="val 1935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164824" y="128016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589520" y="2286000"/>
            <a:ext cx="457200" cy="54864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966960" y="2286000"/>
            <a:ext cx="457200" cy="54864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0" y="3017520"/>
            <a:ext cx="1371600" cy="1097280"/>
          </a:xfrm>
          <a:prstGeom prst="roundRect">
            <a:avLst>
              <a:gd name="adj" fmla="val 1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3232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4000" dirty="0"/>
          </a:p>
        </p:txBody>
      </p:sp>
      <p:sp>
        <p:nvSpPr>
          <p:cNvPr id="26" name="Shape 23"/>
          <p:cNvSpPr/>
          <p:nvPr/>
        </p:nvSpPr>
        <p:spPr>
          <a:xfrm>
            <a:off x="9509760" y="3017520"/>
            <a:ext cx="1371600" cy="1097280"/>
          </a:xfrm>
          <a:prstGeom prst="roundRect">
            <a:avLst>
              <a:gd name="adj" fmla="val 1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0976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4389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1100 = c    0000 = 0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Kurz und lesbar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Hex: eine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kurze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Schreibweise für Binärzahlen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Nicht nur für Farben.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18872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188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1100 0000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560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⇅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6583680" y="338328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3383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Farbcodes im Alltag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Hier begegnen dir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Farbcodes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41732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0058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HTML und CSS: Webseiten gestalten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310896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26974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Bildbearbeitung und Design-Tools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83680" y="438912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480060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43891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Word und PowerPoint: „Weitere Farben“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Praktisch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Überall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dieselbe Farbe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Einfach den Farbcode notieren.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371600"/>
            <a:ext cx="1554480" cy="274320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554480"/>
            <a:ext cx="1188720" cy="137160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Folie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7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#c0392b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75320" y="1371600"/>
            <a:ext cx="1554480" cy="274320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58200" y="1554480"/>
            <a:ext cx="1188720" cy="137160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Plakat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7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#c0392b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966960" y="1371600"/>
            <a:ext cx="1554480" cy="2743200"/>
          </a:xfrm>
          <a:prstGeom prst="roundRect">
            <a:avLst>
              <a:gd name="adj" fmla="val 882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149840" y="1554480"/>
            <a:ext cx="1188720" cy="137160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96696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Webseite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96696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7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#c0392b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Jetzt bist du dran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Welche Farbe ist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#ff8000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Pausiere das Video und rechne um.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97280"/>
            <a:ext cx="4937760" cy="2743200"/>
          </a:xfrm>
          <a:prstGeom prst="roundRect">
            <a:avLst>
              <a:gd name="adj" fmla="val 5000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188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#ff8000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949440" y="2468880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ff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0" y="2468880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Grün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875520" y="2468880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7552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Blau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863840" y="4389120"/>
            <a:ext cx="3108960" cy="822960"/>
          </a:xfrm>
          <a:prstGeom prst="wedgeRoundRectCallout">
            <a:avLst>
              <a:gd name="adj" fmla="val 22222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rgb( ? , ? , ? )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#ff8000 =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kräftiges Orange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005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ff = 15 × 16 + 15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241280" y="1005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255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583680" y="210312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 = 8 × 16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0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128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583680" y="320040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3200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3200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4389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rgb(255, 128, 0)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046720" y="51206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F8000"/>
          </a:solidFill>
          <a:ln w="254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Noch eine Frage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Welche Farbe ist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#333333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Zum Nachdenken.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280160"/>
            <a:ext cx="4937760" cy="3291840"/>
          </a:xfrm>
          <a:prstGeom prst="roundRect">
            <a:avLst>
              <a:gd name="adj" fmla="val 4167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4630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6949440" y="2926080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0" y="2926080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Grün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875520" y="2926080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7552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Blau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#333333 =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dunkles Grau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gleiche Paare: ein Grauton.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97280"/>
            <a:ext cx="4937760" cy="2194560"/>
          </a:xfrm>
          <a:prstGeom prst="roundRect">
            <a:avLst>
              <a:gd name="adj" fmla="val 625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188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= 3 × 16 + 3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194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 51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566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rgb(51, 51, 51)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046720" y="438912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 w="254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Zusammenfassung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Pixel, Byte und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16,7 Millionen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Farben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2700000">
            <a:off x="6935267" y="1749247"/>
            <a:ext cx="202082" cy="73152"/>
          </a:xfrm>
          <a:prstGeom prst="roundRect">
            <a:avLst>
              <a:gd name="adj" fmla="val 375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8900000">
            <a:off x="7018477" y="1666037"/>
            <a:ext cx="416052" cy="73152"/>
          </a:xfrm>
          <a:prstGeom prst="roundRect">
            <a:avLst>
              <a:gd name="adj" fmla="val 375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0058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Jedes Pixel mischt Rot, Grün und Blau Licht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2700000">
            <a:off x="6935267" y="3440887"/>
            <a:ext cx="202082" cy="73152"/>
          </a:xfrm>
          <a:prstGeom prst="roundRect">
            <a:avLst>
              <a:gd name="adj" fmla="val 375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18900000">
            <a:off x="7018477" y="3357677"/>
            <a:ext cx="416052" cy="73152"/>
          </a:xfrm>
          <a:prstGeom prst="roundRect">
            <a:avLst>
              <a:gd name="adj" fmla="val 375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26974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Jeder Anteil: ein Byte, Wert 0 bis 255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83680" y="438912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6935267" y="5132527"/>
            <a:ext cx="202082" cy="73152"/>
          </a:xfrm>
          <a:prstGeom prst="roundRect">
            <a:avLst>
              <a:gd name="adj" fmla="val 375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18900000">
            <a:off x="7018477" y="5049317"/>
            <a:ext cx="416052" cy="73152"/>
          </a:xfrm>
          <a:prstGeom prst="roundRect">
            <a:avLst>
              <a:gd name="adj" fmla="val 375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0" y="43891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Über 16,7 Millionen Farben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Zusammenfassung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Dezimal und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hexadezimal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Beides ist dieselbe Farbe.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005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rgb(192, 57, 43)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83680" y="256032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560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#c0392b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41148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Hex: 16 Ziffern, 0 bis f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Hex-Ziffern = 1 Byte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Merksatz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 Farbe sind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Zahlen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583680" y="1097280"/>
            <a:ext cx="4937760" cy="4389120"/>
          </a:xfrm>
          <a:prstGeom prst="roundRect">
            <a:avLst>
              <a:gd name="adj" fmla="val 3125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Rot, Grün, Blau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dezimal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F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bis 255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hexadezimal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4206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bis ff</a:t>
            </a:r>
            <a:endParaRPr 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 zum nächsten Mal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Lass gerne ein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498080" y="1371600"/>
            <a:ext cx="3291840" cy="3291840"/>
          </a:xfrm>
          <a:prstGeom prst="roundRect">
            <a:avLst>
              <a:gd name="adj" fmla="val 4167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0" y="16459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8229600" y="32918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Auftrag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Deine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Lieblingsfarbe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umrechnen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 zum nächsten Mal!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141732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10058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Lieblingsfarbe im Farbwähler aussuchen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269748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310896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6974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Hex-Code notieren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0" y="4389120"/>
            <a:ext cx="4937760" cy="1417320"/>
          </a:xfrm>
          <a:prstGeom prst="roundRect">
            <a:avLst>
              <a:gd name="adj" fmla="val 967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4800600"/>
            <a:ext cx="594360" cy="5943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43891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Selbst in RGB-Werte umrechnen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verbox Gruen">
  <a:themeElements>
    <a:clrScheme name="Cleverbox Gruen">
      <a:dk1>
        <a:srgbClr val="0E1F0C"/>
      </a:dk1>
      <a:lt1>
        <a:srgbClr val="FBFFF4"/>
      </a:lt1>
      <a:dk2>
        <a:srgbClr val="12301A"/>
      </a:dk2>
      <a:lt2>
        <a:srgbClr val="EFFBDC"/>
      </a:lt2>
      <a:accent1>
        <a:srgbClr val="B1FF37"/>
      </a:accent1>
      <a:accent2>
        <a:srgbClr val="26720A"/>
      </a:accent2>
      <a:accent3>
        <a:srgbClr val="DDF3B8"/>
      </a:accent3>
      <a:accent4>
        <a:srgbClr val="5B6B50"/>
      </a:accent4>
      <a:accent5>
        <a:srgbClr val="FF7A45"/>
      </a:accent5>
      <a:accent6>
        <a:srgbClr val="B8D98A"/>
      </a:accent6>
      <a:hlink>
        <a:srgbClr val="26720A"/>
      </a:hlink>
      <a:folHlink>
        <a:srgbClr val="5B6B50"/>
      </a:folHlink>
    </a:clrScheme>
    <a:fontScheme name="Cleverbox Grue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Farben im Computer: dezimal und hexadezimal</dc:title>
  <dc:subject>PptxGenJS Presentation</dc:subject>
  <dc:creator>Cleverbox</dc:creator>
  <cp:lastModifiedBy>Cleverbox</cp:lastModifiedBy>
  <cp:revision>1</cp:revision>
  <dcterms:created xsi:type="dcterms:W3CDTF">2026-10-29T10:50:58Z</dcterms:created>
  <dcterms:modified xsi:type="dcterms:W3CDTF">2026-10-29T10:50:58Z</dcterms:modified>
</cp:coreProperties>
</file>