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Mathebox · Sponsoring-Angebot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Mathebox · Sponsoring-Angebot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FFD8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Mathebox · Sponsoring-Angebot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Sponsoring-Angebot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6012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Mathebox
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1F5FBF"/>
                </a:solidFill>
                <a:highlight>
                  <a:srgbClr val="FFD84D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Hauptsponsoring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889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Wir laden Sie ein, Hauptsponsor der Mathebox zu werden: Ihr Logo erscheint groß auf jeder Seite der kostenlosen Mathe-Übungssoftware, für 6.000 € pro Jahr.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4251960"/>
            <a:ext cx="3017520" cy="411480"/>
          </a:xfrm>
          <a:prstGeom prst="roundRect">
            <a:avLst>
              <a:gd name="adj" fmla="val 17778"/>
            </a:avLst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251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17. Okt. 2026 · Armin Heske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212080" y="1005840"/>
            <a:ext cx="1801368" cy="3566160"/>
          </a:xfrm>
          <a:prstGeom prst="roundRect">
            <a:avLst>
              <a:gd name="adj" fmla="val 7614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49240" y="1143000"/>
            <a:ext cx="731520" cy="914400"/>
          </a:xfrm>
          <a:prstGeom prst="roundRect">
            <a:avLst>
              <a:gd name="adj" fmla="val 15000"/>
            </a:avLst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49240" y="11430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44768" y="1143000"/>
            <a:ext cx="731520" cy="914400"/>
          </a:xfrm>
          <a:prstGeom prst="roundRect">
            <a:avLst>
              <a:gd name="adj" fmla="val 15000"/>
            </a:avLst>
          </a:prstGeom>
          <a:solidFill>
            <a:srgbClr val="1B3D75"/>
          </a:solidFill>
          <a:ln w="12700">
            <a:solidFill>
              <a:srgbClr val="1B3D7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144768" y="11430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349240" y="2194560"/>
            <a:ext cx="731520" cy="914400"/>
          </a:xfrm>
          <a:prstGeom prst="roundRect">
            <a:avLst>
              <a:gd name="adj" fmla="val 15000"/>
            </a:avLst>
          </a:prstGeom>
          <a:solidFill>
            <a:srgbClr val="1B3D75"/>
          </a:solidFill>
          <a:ln w="12700">
            <a:solidFill>
              <a:srgbClr val="1B3D7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49240" y="21945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7×8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44768" y="2194560"/>
            <a:ext cx="731520" cy="914400"/>
          </a:xfrm>
          <a:prstGeom prst="roundRect">
            <a:avLst>
              <a:gd name="adj" fmla="val 15000"/>
            </a:avLst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768" y="21945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=56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349240" y="3246120"/>
            <a:ext cx="731520" cy="914400"/>
          </a:xfrm>
          <a:prstGeom prst="roundRect">
            <a:avLst>
              <a:gd name="adj" fmla="val 15000"/>
            </a:avLst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49240" y="324612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π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44768" y="3246120"/>
            <a:ext cx="731520" cy="914400"/>
          </a:xfrm>
          <a:prstGeom prst="roundRect">
            <a:avLst>
              <a:gd name="adj" fmla="val 15000"/>
            </a:avLst>
          </a:prstGeom>
          <a:solidFill>
            <a:srgbClr val="1B3D75"/>
          </a:solidFill>
          <a:ln w="12700">
            <a:solidFill>
              <a:srgbClr val="1B3D7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144768" y="324612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x²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84632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Über die Mathebox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548640" y="5349240"/>
            <a:ext cx="6464808" cy="1554480"/>
          </a:xfrm>
          <a:prstGeom prst="roundRect">
            <a:avLst>
              <a:gd name="adj" fmla="val 8824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5394960"/>
            <a:ext cx="5916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Eine völlig kostenlose Sammlung von Übungssoftware für den Mathematik-Unterricht, die in Österreich seit Jahren im Schulalltag eingesetzt wird. Jede Schülerin und jeder Schüler übt in eigenem Tempo und auf eigenem Niveau. Lehrkräfte sparen sich Aufgabensuche und Korrektur.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708660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Vier Wege zum Üben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7589520"/>
            <a:ext cx="3154680" cy="1188720"/>
          </a:xfrm>
          <a:prstGeom prst="roundRect">
            <a:avLst>
              <a:gd name="adj" fmla="val 11538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1520" y="7754112"/>
            <a:ext cx="384048" cy="384048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7754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7726680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 Unterricht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824788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Individuelles, differenziertes Üben direkt am Gerät.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3858768" y="7589520"/>
            <a:ext cx="3154680" cy="1188720"/>
          </a:xfrm>
          <a:prstGeom prst="roundRect">
            <a:avLst>
              <a:gd name="adj" fmla="val 11538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41648" y="7754112"/>
            <a:ext cx="384048" cy="384048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041648" y="7754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4544568" y="7726680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Hausübungen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087368" y="824788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Mit E-Mail-Bestätigung und Protokolldruck.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48640" y="8869680"/>
            <a:ext cx="3154680" cy="1188720"/>
          </a:xfrm>
          <a:prstGeom prst="roundRect">
            <a:avLst>
              <a:gd name="adj" fmla="val 11538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1520" y="9034272"/>
            <a:ext cx="384048" cy="384048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31520" y="9034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1234440" y="9006840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Üben daheim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95280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Kopfrechnen, Einmaleins, Formeln jederzeit selbst trainieren.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3858768" y="8869680"/>
            <a:ext cx="3154680" cy="1188720"/>
          </a:xfrm>
          <a:prstGeom prst="roundRect">
            <a:avLst>
              <a:gd name="adj" fmla="val 11538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041648" y="9034272"/>
            <a:ext cx="384048" cy="384048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041648" y="9034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4544568" y="9006840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Übungsblätter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087368" y="95280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Mit stepbystep Blätter mit oder ohne Lösungen erstellen.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548640" y="10149840"/>
            <a:ext cx="0" cy="0"/>
          </a:xfrm>
          <a:prstGeom prst="roundRect">
            <a:avLst>
              <a:gd name="adj" fmla="val Infinity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Reichweite in Zahlen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14400"/>
            <a:ext cx="6464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1F5FBF"/>
                </a:solidFill>
                <a:highlight>
                  <a:srgbClr val="FFD84D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108.000 Besuche</a:t>
            </a:r>
            <a:pPr indent="0" marL="0">
              <a:lnSpc>
                <a:spcPct val="105000"/>
              </a:lnSpc>
              <a:buNone/>
            </a:pP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12 Monaten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77440"/>
            <a:ext cx="6464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Server-Statistik, Nov 2025 bis Okt 2026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88036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0175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108.008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59359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Besuche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9044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ca. 9.000 pro Monat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858768" y="288036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87368" y="30175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1.555.843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4087368" y="359359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Seitenaufrufe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087368" y="39044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ca. 130.000 pro Monat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434340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44805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ca. 14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5056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Seiten pro Besuch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3675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Nutzer*innen bleiben und üben aktiv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858768" y="434340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87368" y="44805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ca. 105 GB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4087368" y="5056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Datenvolumen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087368" y="53675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ca. 8,8 GB pro Monat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85216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Quelle: Server-Statistik der Mathebox. Die Werte enthalten auch automatisierte Zugriffe.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40080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Nutzung folgt dem Schuljahr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6903720"/>
            <a:ext cx="2057400" cy="1371600"/>
          </a:xfrm>
          <a:prstGeom prst="roundRect">
            <a:avLst>
              <a:gd name="adj" fmla="val 1000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70408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14.384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7616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Besuche im März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79278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Spitzenmonat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2752344" y="6903720"/>
            <a:ext cx="2057400" cy="1371600"/>
          </a:xfrm>
          <a:prstGeom prst="roundRect">
            <a:avLst>
              <a:gd name="adj" fmla="val 1000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980944" y="70408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13.762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2980944" y="7616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Besuche im Juni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2980944" y="79278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zweiter Höhepunkt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956048" y="6903720"/>
            <a:ext cx="2057400" cy="1371600"/>
          </a:xfrm>
          <a:prstGeom prst="roundRect">
            <a:avLst>
              <a:gd name="adj" fmla="val 1000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84648" y="70408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Sommer</a:t>
            </a:r>
            <a:endParaRPr lang="en-US" sz="2400" dirty="0"/>
          </a:p>
        </p:txBody>
      </p:sp>
      <p:sp>
        <p:nvSpPr>
          <p:cNvPr id="34" name="Text 31"/>
          <p:cNvSpPr txBox="1"/>
          <p:nvPr/>
        </p:nvSpPr>
        <p:spPr>
          <a:xfrm>
            <a:off x="5184648" y="7616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ruhiger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5184648" y="79278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Ferienzeit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850392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Zielgruppe: Schwerpunkt Österreich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548640" y="9006840"/>
            <a:ext cx="2057400" cy="1234440"/>
          </a:xfrm>
          <a:prstGeom prst="roundRect">
            <a:avLst>
              <a:gd name="adj" fmla="val 11111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9171432"/>
            <a:ext cx="384048" cy="384048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1520" y="9171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234440" y="914400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Lehrkräfte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777240" y="96652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 Unterricht und für Hausübungen, Empfehlung im Kollegium.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2752344" y="9006840"/>
            <a:ext cx="2057400" cy="1234440"/>
          </a:xfrm>
          <a:prstGeom prst="roundRect">
            <a:avLst>
              <a:gd name="adj" fmla="val 11111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935224" y="9171432"/>
            <a:ext cx="384048" cy="384048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35224" y="9171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3438144" y="914400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Schüler*innen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2980944" y="96652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Allein oder in der Klasse: Kopfrechnen, Einmaleins, Formeln.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956048" y="9006840"/>
            <a:ext cx="2057400" cy="1234440"/>
          </a:xfrm>
          <a:prstGeom prst="roundRect">
            <a:avLst>
              <a:gd name="adj" fmla="val 11111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138928" y="9171432"/>
            <a:ext cx="384048" cy="384048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138928" y="9171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641848" y="914400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Eltern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5184648" y="96652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Übungsblätter mit Lösungen für das Lernen daheim.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Sponsoring-Paket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14400"/>
            <a:ext cx="6464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Ihr Logo auf
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jeder Seite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60320"/>
            <a:ext cx="6464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 Hauptsponsor sind Sie der einzige Sponsor. Logo und Wortlaut stimmen wir vorab gemeinsam ab.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6464808" cy="566928"/>
          </a:xfrm>
          <a:prstGeom prst="roundRect">
            <a:avLst>
              <a:gd name="adj" fmla="val 24194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3364992"/>
            <a:ext cx="329184" cy="329184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3246120"/>
            <a:ext cx="5687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Großes Logo im Kopfbereich neben dem Mathebox-Logo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3904488"/>
            <a:ext cx="6464808" cy="566928"/>
          </a:xfrm>
          <a:prstGeom prst="roundRect">
            <a:avLst>
              <a:gd name="adj" fmla="val 24194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3232" y="4023360"/>
            <a:ext cx="329184" cy="329184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904488"/>
            <a:ext cx="5687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Exklusivität: keine weiteren Sponsoren oder Werbebanner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4562856"/>
            <a:ext cx="6464808" cy="566928"/>
          </a:xfrm>
          <a:prstGeom prst="roundRect">
            <a:avLst>
              <a:gd name="adj" fmla="val 24194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3232" y="4681728"/>
            <a:ext cx="329184" cy="329184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3232" y="4681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562856"/>
            <a:ext cx="5687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Verlinkung des Logos auf eine Seite Ihrer Wahl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5221224"/>
            <a:ext cx="6464808" cy="566928"/>
          </a:xfrm>
          <a:prstGeom prst="roundRect">
            <a:avLst>
              <a:gd name="adj" fmla="val 24194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13232" y="5340096"/>
            <a:ext cx="329184" cy="329184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3232" y="5340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5221224"/>
            <a:ext cx="5687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Nennung als Hauptsponsor auf Startseite und eigener Partner-Seite mit kurzem Text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48640" y="5879592"/>
            <a:ext cx="6464808" cy="566928"/>
          </a:xfrm>
          <a:prstGeom prst="roundRect">
            <a:avLst>
              <a:gd name="adj" fmla="val 24194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3232" y="5998464"/>
            <a:ext cx="329184" cy="329184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13232" y="5998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1188720" y="5879592"/>
            <a:ext cx="5687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Mitgestaltung des Wordings, z. B. „Mit freundlicher Unterstützung von …“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48640" y="6537960"/>
            <a:ext cx="6464808" cy="566928"/>
          </a:xfrm>
          <a:prstGeom prst="roundRect">
            <a:avLst>
              <a:gd name="adj" fmla="val 24194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13232" y="6656832"/>
            <a:ext cx="329184" cy="329184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13232" y="6656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6537960"/>
            <a:ext cx="5687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Reichweiten-Bericht pro Quartal mit Besuchen und Seitenaufrufen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726948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Ihre Vorteile als Sponsor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7772400"/>
            <a:ext cx="3154680" cy="777240"/>
          </a:xfrm>
          <a:prstGeom prst="roundRect">
            <a:avLst>
              <a:gd name="adj" fmla="val 17647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784555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Gezielte Reichweite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77240" y="8183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Rund 100.000 Besuche pro Jahr aus Schule und Elternhaus.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3858768" y="7772400"/>
            <a:ext cx="3154680" cy="777240"/>
          </a:xfrm>
          <a:prstGeom prst="roundRect">
            <a:avLst>
              <a:gd name="adj" fmla="val 17647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087368" y="784555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Hohe Verweildauer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4087368" y="8183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Etwa 14 Seiten pro Besuch, Logo bei jeder sichtbar.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48640" y="8641080"/>
            <a:ext cx="3154680" cy="777240"/>
          </a:xfrm>
          <a:prstGeom prst="roundRect">
            <a:avLst>
              <a:gd name="adj" fmla="val 17647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7240" y="87142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Positives Umfeld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9052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Kostenlos, werbefrei, ohne Registrierung: Vertrauen färbt ab.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3858768" y="8641080"/>
            <a:ext cx="3154680" cy="777240"/>
          </a:xfrm>
          <a:prstGeom prst="roundRect">
            <a:avLst>
              <a:gd name="adj" fmla="val 17647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087368" y="87142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Dauerhafte Präsenz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4087368" y="9052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Logo auf allen Seiten, während der gesamten Laufzeit.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9509760"/>
            <a:ext cx="6464808" cy="777240"/>
          </a:xfrm>
          <a:prstGeom prst="roundRect">
            <a:avLst>
              <a:gd name="adj" fmla="val 17647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9582912"/>
            <a:ext cx="6007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Sichtbarer Beitrag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9921240"/>
            <a:ext cx="6007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Mathebox bleibt für Schulen kostenlos, auch dank Ihrer Unterstützung.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Konditionen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48640" y="1005840"/>
            <a:ext cx="6464808" cy="1737360"/>
          </a:xfrm>
          <a:prstGeom prst="roundRect">
            <a:avLst>
              <a:gd name="adj" fmla="val 7895"/>
            </a:avLst>
          </a:prstGeom>
          <a:solidFill>
            <a:srgbClr val="FFD84D"/>
          </a:solidFill>
          <a:ln w="15875">
            <a:solidFill>
              <a:srgbClr val="FFD84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" y="10972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6.000 €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für 12 Monate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18872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Hauptsponsoring kostet 6.000 € für 12 Monate. 10 % Rabatt bei 2 Jahren Laufzeit.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926080"/>
            <a:ext cx="6464808" cy="2926080"/>
          </a:xfrm>
          <a:prstGeom prst="roundRect">
            <a:avLst>
              <a:gd name="adj" fmla="val 4688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971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Laufzeit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2743200" y="2971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Monate, Option auf Verlängerung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77240" y="3383280"/>
            <a:ext cx="6007608" cy="0"/>
          </a:xfrm>
          <a:prstGeom prst="line">
            <a:avLst/>
          </a:prstGeom>
          <a:noFill/>
          <a:ln w="12700">
            <a:solidFill>
              <a:srgbClr val="A9C6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383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Preis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2743200" y="33832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6.000 € pro Jahr (zzgl. USt., falls zutreffend)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77240" y="3794760"/>
            <a:ext cx="6007608" cy="0"/>
          </a:xfrm>
          <a:prstGeom prst="line">
            <a:avLst/>
          </a:prstGeom>
          <a:noFill/>
          <a:ln w="12700">
            <a:solidFill>
              <a:srgbClr val="A9C6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794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Mehrjahresvertrag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10 % Rabatt bei 2 Jahren Laufzeit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77240" y="4206240"/>
            <a:ext cx="6007608" cy="0"/>
          </a:xfrm>
          <a:prstGeom prst="line">
            <a:avLst/>
          </a:prstGeom>
          <a:noFill/>
          <a:ln w="12700">
            <a:solidFill>
              <a:srgbClr val="A9C6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Zahlung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2743200" y="4206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jährlich im Voraus oder in 2 Raten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777240" y="4617720"/>
            <a:ext cx="6007608" cy="0"/>
          </a:xfrm>
          <a:prstGeom prst="line">
            <a:avLst/>
          </a:prstGeom>
          <a:noFill/>
          <a:ln w="12700">
            <a:solidFill>
              <a:srgbClr val="A9C6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46177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Exklusivität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2743200" y="46177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 Hauptsponsor, keine weiteren Banner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77240" y="5029200"/>
            <a:ext cx="6007608" cy="0"/>
          </a:xfrm>
          <a:prstGeom prst="line">
            <a:avLst/>
          </a:prstGeom>
          <a:noFill/>
          <a:ln w="12700">
            <a:solidFill>
              <a:srgbClr val="A9C6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029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Kündigung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2743200" y="5029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beiderseitig, mit 3 Monaten Frist zum Laufzeitende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77240" y="5440680"/>
            <a:ext cx="6007608" cy="0"/>
          </a:xfrm>
          <a:prstGeom prst="line">
            <a:avLst/>
          </a:prstGeom>
          <a:noFill/>
          <a:ln w="12700">
            <a:solidFill>
              <a:srgbClr val="A9C6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440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2743200" y="5440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Besuche und Seitenaufrufe pro Quartal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98932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Datenschutz und Unabhängigkeit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548640" y="6492240"/>
            <a:ext cx="3154680" cy="731520"/>
          </a:xfrm>
          <a:prstGeom prst="roundRect">
            <a:avLst>
              <a:gd name="adj" fmla="val 1875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13232" y="6693408"/>
            <a:ext cx="329184" cy="329184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3232" y="6693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1188720" y="6492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Logo als statisches Bild, ohne Scripts, Cookies oder Tracking.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858768" y="6492240"/>
            <a:ext cx="3154680" cy="731520"/>
          </a:xfrm>
          <a:prstGeom prst="roundRect">
            <a:avLst>
              <a:gd name="adj" fmla="val 1875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023360" y="6693408"/>
            <a:ext cx="329184" cy="329184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023360" y="6693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4498848" y="6492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Sponsor erhält keine Nutzerdaten, nichts Personenbezogenes gespeichert.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7315200"/>
            <a:ext cx="3154680" cy="731520"/>
          </a:xfrm>
          <a:prstGeom prst="roundRect">
            <a:avLst>
              <a:gd name="adj" fmla="val 1875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13232" y="7516368"/>
            <a:ext cx="329184" cy="329184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13232" y="7516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1188720" y="73152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Inhalte und Aufgaben bleiben unabhängig vom Sponsor.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3858768" y="7315200"/>
            <a:ext cx="3154680" cy="731520"/>
          </a:xfrm>
          <a:prstGeom prst="roundRect">
            <a:avLst>
              <a:gd name="adj" fmla="val 1875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023360" y="7516368"/>
            <a:ext cx="329184" cy="329184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023360" y="7516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4498848" y="73152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Keine Werbung für Kinder, nur die dezente Nennung als Förderer.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818388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Nächste Schritte: 15 Minuten Telefonat</a:t>
            </a:r>
            <a:endParaRPr lang="en-US" sz="2000" dirty="0"/>
          </a:p>
        </p:txBody>
      </p:sp>
      <p:sp>
        <p:nvSpPr>
          <p:cNvPr id="47" name="Shape 44"/>
          <p:cNvSpPr/>
          <p:nvPr/>
        </p:nvSpPr>
        <p:spPr>
          <a:xfrm>
            <a:off x="548640" y="8686800"/>
            <a:ext cx="1536192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8778240"/>
            <a:ext cx="365760" cy="365760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8778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685800" y="9189720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Kennenlernen und Fragen klären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2194560" y="8686800"/>
            <a:ext cx="1536192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2331720" y="8778240"/>
            <a:ext cx="365760" cy="365760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2331720" y="8778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2331720" y="9189720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Logo und Wortlaut abstimmen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3840480" y="8686800"/>
            <a:ext cx="1536192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977640" y="8778240"/>
            <a:ext cx="365760" cy="365760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977640" y="8778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3977640" y="9189720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Vereinbarung unterzeichnen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5486400" y="8686800"/>
            <a:ext cx="1536192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5623560" y="8778240"/>
            <a:ext cx="365760" cy="365760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5623560" y="8778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5623560" y="9189720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Logo geht auf allen Seiten online</a:t>
            </a:r>
            <a:endParaRPr lang="en-US" sz="950" dirty="0"/>
          </a:p>
        </p:txBody>
      </p:sp>
      <p:sp>
        <p:nvSpPr>
          <p:cNvPr id="63" name="Shape 60"/>
          <p:cNvSpPr/>
          <p:nvPr/>
        </p:nvSpPr>
        <p:spPr>
          <a:xfrm>
            <a:off x="548640" y="9784080"/>
            <a:ext cx="6464808" cy="548640"/>
          </a:xfrm>
          <a:prstGeom prst="roundRect">
            <a:avLst>
              <a:gd name="adj" fmla="val 25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77240" y="9784080"/>
            <a:ext cx="6099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Armin Heske, Mathebox  </a:t>
            </a:r>
            <a:pPr indent="0" marL="0">
              <a:buNone/>
            </a:pPr>
            <a:r>
              <a:rPr lang="en-US" sz="11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[E-Mail] · [Telefon] · www.mathebox.at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Mathebox – Sponsoring-Angebot</dc:title>
  <dc:subject>PptxGenJS Presentation</dc:subject>
  <dc:creator>Armin Heske</dc:creator>
  <cp:lastModifiedBy>Armin Heske</cp:lastModifiedBy>
  <cp:revision>1</cp:revision>
  <dcterms:created xsi:type="dcterms:W3CDTF">2026-10-17T10:26:05Z</dcterms:created>
  <dcterms:modified xsi:type="dcterms:W3CDTF">2026-10-17T10:26:05Z</dcterms:modified>
</cp:coreProperties>
</file>