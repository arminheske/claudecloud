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Folie 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Folie 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Folie 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Folie 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Folie 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Folie 6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Folie 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Folie 8 (optional) – Erklärung Syntax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Folie 9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Folie 10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Folie 11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Folie 12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Folie 13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Folie 14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Folie 15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Folie 16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Folie 17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Folie 18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EFFB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Cleverbox · Digitale Grundbildung</a:t>
            </a:r>
            <a:endParaRPr lang="en-US" sz="11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23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C79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Cleverbox · Digitale Grundbildung</a:t>
            </a:r>
            <a:endParaRPr lang="en-US" sz="11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EON">
    <p:bg>
      <p:bgPr>
        <a:solidFill>
          <a:srgbClr val="B1FF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230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Cleverbox · Digitale Grundbildung</a:t>
            </a:r>
            <a:endParaRPr lang="en-US" sz="11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1FF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Hand aufs Herz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600200"/>
            <a:ext cx="56692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dirty="0">
                <a:solidFill>
                  <a:srgbClr val="EFFBD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Programmieren lernen angefangen – </a:t>
            </a:r>
            <a:pPr indent="0" marL="0">
              <a:lnSpc>
                <a:spcPct val="105000"/>
              </a:lnSpc>
              <a:buNone/>
            </a:pPr>
            <a:r>
              <a:rPr lang="en-US" sz="4000" dirty="0">
                <a:solidFill>
                  <a:srgbClr val="B1FF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und wieder aufgehört?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75488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A9C79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Wie viele von euch kennen das?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6949440" y="914400"/>
            <a:ext cx="4480560" cy="4754880"/>
          </a:xfrm>
          <a:prstGeom prst="roundRect">
            <a:avLst>
              <a:gd name="adj" fmla="val 3061"/>
            </a:avLst>
          </a:prstGeom>
          <a:solidFill>
            <a:srgbClr val="1B4527"/>
          </a:solidFill>
          <a:ln w="15875">
            <a:solidFill>
              <a:srgbClr val="2F6B3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092440" y="1737360"/>
            <a:ext cx="2194560" cy="2194560"/>
          </a:xfrm>
          <a:prstGeom prst="ellipse">
            <a:avLst/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092440" y="1737360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1230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?</a:t>
            </a:r>
            <a:endParaRPr lang="en-US" sz="10000" dirty="0"/>
          </a:p>
        </p:txBody>
      </p:sp>
      <p:sp>
        <p:nvSpPr>
          <p:cNvPr id="9" name="Shape 6"/>
          <p:cNvSpPr/>
          <p:nvPr/>
        </p:nvSpPr>
        <p:spPr>
          <a:xfrm>
            <a:off x="7406640" y="4480560"/>
            <a:ext cx="3566160" cy="868680"/>
          </a:xfrm>
          <a:prstGeom prst="wedgeRoundRectCallout">
            <a:avLst>
              <a:gd name="adj" fmla="val 21053"/>
            </a:avLst>
          </a:prstGeom>
          <a:solidFill>
            <a:srgbClr val="FBFFF4"/>
          </a:solidFill>
          <a:ln w="12700">
            <a:solidFill>
              <a:srgbClr val="FBFFF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406640" y="448056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Und dann wieder aufgehört?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672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Das typische Muster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600200"/>
            <a:ext cx="5669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Immer dasselbe </a:t>
            </a:r>
            <a:pPr indent="0" marL="0">
              <a:lnSpc>
                <a:spcPct val="105000"/>
              </a:lnSpc>
              <a:buNone/>
            </a:pPr>
            <a:r>
              <a:rPr lang="en-US" sz="4200" dirty="0">
                <a:solidFill>
                  <a:srgbClr val="26720A"/>
                </a:solidFill>
                <a:highlight>
                  <a:srgbClr val="B1FF37"/>
                </a:highlight>
                <a:latin typeface="Poppins" pitchFamily="34" charset="0"/>
                <a:ea typeface="Poppins" pitchFamily="34" charset="-122"/>
                <a:cs typeface="Poppins" pitchFamily="34" charset="-120"/>
              </a:rPr>
              <a:t>Muster</a:t>
            </a:r>
            <a:endParaRPr lang="en-US" sz="4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3931920"/>
            <a:ext cx="5303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 beginnen die meisten – und hören bald wieder auf.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6583680" y="640080"/>
            <a:ext cx="4937760" cy="914400"/>
          </a:xfrm>
          <a:prstGeom prst="roundRect">
            <a:avLst>
              <a:gd name="adj" fmla="val 15000"/>
            </a:avLst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766560" y="845820"/>
            <a:ext cx="502920" cy="502920"/>
          </a:xfrm>
          <a:prstGeom prst="ellipse">
            <a:avLst/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766560" y="8458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7498080" y="640080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Beste Programmiersprache suchen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583680" y="1737360"/>
            <a:ext cx="4937760" cy="914400"/>
          </a:xfrm>
          <a:prstGeom prst="roundRect">
            <a:avLst>
              <a:gd name="adj" fmla="val 15000"/>
            </a:avLst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766560" y="1943100"/>
            <a:ext cx="502920" cy="502920"/>
          </a:xfrm>
          <a:prstGeom prst="ellipse">
            <a:avLst/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766560" y="19431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7498080" y="1737360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Video eines Verfechters ansehen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583680" y="2834640"/>
            <a:ext cx="4937760" cy="914400"/>
          </a:xfrm>
          <a:prstGeom prst="roundRect">
            <a:avLst>
              <a:gd name="adj" fmla="val 15000"/>
            </a:avLst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766560" y="3040380"/>
            <a:ext cx="502920" cy="502920"/>
          </a:xfrm>
          <a:prstGeom prst="ellipse">
            <a:avLst/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766560" y="30403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7498080" y="2834640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Tutorial für diese Sprache suchen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6583680" y="3931920"/>
            <a:ext cx="4937760" cy="914400"/>
          </a:xfrm>
          <a:prstGeom prst="roundRect">
            <a:avLst>
              <a:gd name="adj" fmla="val 15000"/>
            </a:avLst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766560" y="4137660"/>
            <a:ext cx="502920" cy="502920"/>
          </a:xfrm>
          <a:prstGeom prst="ellipse">
            <a:avLst/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766560" y="41376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7498080" y="3931920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Entwicklungsumgebung installieren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6583680" y="5029200"/>
            <a:ext cx="4937760" cy="914400"/>
          </a:xfrm>
          <a:prstGeom prst="roundRect">
            <a:avLst>
              <a:gd name="adj" fmla="val 15000"/>
            </a:avLst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766560" y="5234940"/>
            <a:ext cx="502920" cy="502920"/>
          </a:xfrm>
          <a:prstGeom prst="ellipse">
            <a:avLst/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766560" y="52349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7498080" y="5029200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Mit „Hallo Welt“ beginnen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672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Schritt 1 und 2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600200"/>
            <a:ext cx="5669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Welche Sprache ist </a:t>
            </a:r>
            <a:pPr indent="0" marL="0">
              <a:lnSpc>
                <a:spcPct val="105000"/>
              </a:lnSpc>
              <a:buNone/>
            </a:pPr>
            <a:r>
              <a:rPr lang="en-US" sz="4200" dirty="0">
                <a:solidFill>
                  <a:srgbClr val="26720A"/>
                </a:solidFill>
                <a:highlight>
                  <a:srgbClr val="B1FF37"/>
                </a:highlight>
                <a:latin typeface="Poppins" pitchFamily="34" charset="0"/>
                <a:ea typeface="Poppins" pitchFamily="34" charset="-122"/>
                <a:cs typeface="Poppins" pitchFamily="34" charset="-120"/>
              </a:rPr>
              <a:t>die beste?</a:t>
            </a:r>
            <a:endParaRPr lang="en-US" sz="4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3931920"/>
            <a:ext cx="5303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Ein Verfechter erklärt, warum seine Sprache die beste sei.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6583680" y="640080"/>
            <a:ext cx="4937760" cy="914400"/>
          </a:xfrm>
          <a:prstGeom prst="roundRect">
            <a:avLst>
              <a:gd name="adj" fmla="val 15000"/>
            </a:avLst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583680" y="640080"/>
            <a:ext cx="4937760" cy="914400"/>
          </a:xfrm>
          <a:prstGeom prst="roundRect">
            <a:avLst>
              <a:gd name="adj" fmla="val 15000"/>
            </a:avLst>
          </a:prstGeom>
          <a:solidFill>
            <a:srgbClr val="B1FF37"/>
          </a:solidFill>
          <a:ln w="31750">
            <a:solidFill>
              <a:srgbClr val="12301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766560" y="845820"/>
            <a:ext cx="502920" cy="502920"/>
          </a:xfrm>
          <a:prstGeom prst="ellipse">
            <a:avLst/>
          </a:prstGeom>
          <a:solidFill>
            <a:srgbClr val="12301A"/>
          </a:solidFill>
          <a:ln w="12700">
            <a:solidFill>
              <a:srgbClr val="12301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766560" y="8458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1FF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498080" y="640080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Beste Programmiersprache suchen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583680" y="1737360"/>
            <a:ext cx="4937760" cy="914400"/>
          </a:xfrm>
          <a:prstGeom prst="roundRect">
            <a:avLst>
              <a:gd name="adj" fmla="val 15000"/>
            </a:avLst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583680" y="1737360"/>
            <a:ext cx="4937760" cy="914400"/>
          </a:xfrm>
          <a:prstGeom prst="roundRect">
            <a:avLst>
              <a:gd name="adj" fmla="val 15000"/>
            </a:avLst>
          </a:prstGeom>
          <a:solidFill>
            <a:srgbClr val="B1FF37"/>
          </a:solidFill>
          <a:ln w="31750">
            <a:solidFill>
              <a:srgbClr val="12301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766560" y="1943100"/>
            <a:ext cx="502920" cy="502920"/>
          </a:xfrm>
          <a:prstGeom prst="ellipse">
            <a:avLst/>
          </a:prstGeom>
          <a:solidFill>
            <a:srgbClr val="12301A"/>
          </a:solidFill>
          <a:ln w="12700">
            <a:solidFill>
              <a:srgbClr val="12301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766560" y="19431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1FF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7498080" y="1737360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Video eines Verfechters ansehen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6583680" y="2834640"/>
            <a:ext cx="4937760" cy="914400"/>
          </a:xfrm>
          <a:prstGeom prst="roundRect">
            <a:avLst>
              <a:gd name="adj" fmla="val 15000"/>
            </a:avLst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766560" y="3040380"/>
            <a:ext cx="502920" cy="502920"/>
          </a:xfrm>
          <a:prstGeom prst="ellipse">
            <a:avLst/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766560" y="30403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7498080" y="2834640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Tutorial für diese Sprache suchen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6583680" y="3931920"/>
            <a:ext cx="4937760" cy="914400"/>
          </a:xfrm>
          <a:prstGeom prst="roundRect">
            <a:avLst>
              <a:gd name="adj" fmla="val 15000"/>
            </a:avLst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766560" y="4137660"/>
            <a:ext cx="502920" cy="502920"/>
          </a:xfrm>
          <a:prstGeom prst="ellipse">
            <a:avLst/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766560" y="41376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7498080" y="3931920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Entwicklungsumgebung installieren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6583680" y="5029200"/>
            <a:ext cx="4937760" cy="914400"/>
          </a:xfrm>
          <a:prstGeom prst="roundRect">
            <a:avLst>
              <a:gd name="adj" fmla="val 15000"/>
            </a:avLst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766560" y="5234940"/>
            <a:ext cx="502920" cy="502920"/>
          </a:xfrm>
          <a:prstGeom prst="ellipse">
            <a:avLst/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766560" y="52349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7498080" y="5029200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Mit „Hallo Welt“ beginnen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672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Schritt 3 bis 5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600200"/>
            <a:ext cx="5669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Tutorial, </a:t>
            </a:r>
            <a:pPr indent="0" marL="0">
              <a:lnSpc>
                <a:spcPct val="105000"/>
              </a:lnSpc>
              <a:buNone/>
            </a:pPr>
            <a:r>
              <a:rPr lang="en-US" sz="4000" dirty="0">
                <a:solidFill>
                  <a:srgbClr val="26720A"/>
                </a:solidFill>
                <a:highlight>
                  <a:srgbClr val="B1FF37"/>
                </a:highlight>
                <a:latin typeface="Poppins" pitchFamily="34" charset="0"/>
                <a:ea typeface="Poppins" pitchFamily="34" charset="-122"/>
                <a:cs typeface="Poppins" pitchFamily="34" charset="-120"/>
              </a:rPr>
              <a:t>Installation</a:t>
            </a:r>
            <a:pPr indent="0" marL="0">
              <a:lnSpc>
                <a:spcPct val="105000"/>
              </a:lnSpc>
              <a:buNone/>
            </a:pPr>
            <a:r>
              <a:rPr lang="en-US" sz="40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Hallo Welt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114800"/>
            <a:ext cx="5303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Dann folgt das Tutorial dieser Sprache.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6583680" y="640080"/>
            <a:ext cx="4937760" cy="914400"/>
          </a:xfrm>
          <a:prstGeom prst="roundRect">
            <a:avLst>
              <a:gd name="adj" fmla="val 15000"/>
            </a:avLst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766560" y="845820"/>
            <a:ext cx="502920" cy="502920"/>
          </a:xfrm>
          <a:prstGeom prst="ellipse">
            <a:avLst/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766560" y="8458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7498080" y="640080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Beste Programmiersprache suchen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583680" y="1737360"/>
            <a:ext cx="4937760" cy="914400"/>
          </a:xfrm>
          <a:prstGeom prst="roundRect">
            <a:avLst>
              <a:gd name="adj" fmla="val 15000"/>
            </a:avLst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766560" y="1943100"/>
            <a:ext cx="502920" cy="502920"/>
          </a:xfrm>
          <a:prstGeom prst="ellipse">
            <a:avLst/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766560" y="19431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7498080" y="1737360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Video eines Verfechters ansehen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583680" y="2834640"/>
            <a:ext cx="4937760" cy="914400"/>
          </a:xfrm>
          <a:prstGeom prst="roundRect">
            <a:avLst>
              <a:gd name="adj" fmla="val 15000"/>
            </a:avLst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583680" y="2834640"/>
            <a:ext cx="4937760" cy="914400"/>
          </a:xfrm>
          <a:prstGeom prst="roundRect">
            <a:avLst>
              <a:gd name="adj" fmla="val 15000"/>
            </a:avLst>
          </a:prstGeom>
          <a:solidFill>
            <a:srgbClr val="B1FF37"/>
          </a:solidFill>
          <a:ln w="31750">
            <a:solidFill>
              <a:srgbClr val="12301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766560" y="3040380"/>
            <a:ext cx="502920" cy="502920"/>
          </a:xfrm>
          <a:prstGeom prst="ellipse">
            <a:avLst/>
          </a:prstGeom>
          <a:solidFill>
            <a:srgbClr val="12301A"/>
          </a:solidFill>
          <a:ln w="12700">
            <a:solidFill>
              <a:srgbClr val="12301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766560" y="30403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1FF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7498080" y="2834640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Tutorial für diese Sprache suchen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6583680" y="3931920"/>
            <a:ext cx="4937760" cy="914400"/>
          </a:xfrm>
          <a:prstGeom prst="roundRect">
            <a:avLst>
              <a:gd name="adj" fmla="val 15000"/>
            </a:avLst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583680" y="3931920"/>
            <a:ext cx="4937760" cy="914400"/>
          </a:xfrm>
          <a:prstGeom prst="roundRect">
            <a:avLst>
              <a:gd name="adj" fmla="val 15000"/>
            </a:avLst>
          </a:prstGeom>
          <a:solidFill>
            <a:srgbClr val="B1FF37"/>
          </a:solidFill>
          <a:ln w="31750">
            <a:solidFill>
              <a:srgbClr val="12301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766560" y="4137660"/>
            <a:ext cx="502920" cy="502920"/>
          </a:xfrm>
          <a:prstGeom prst="ellipse">
            <a:avLst/>
          </a:prstGeom>
          <a:solidFill>
            <a:srgbClr val="12301A"/>
          </a:solidFill>
          <a:ln w="12700">
            <a:solidFill>
              <a:srgbClr val="12301A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766560" y="41376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1FF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7498080" y="3931920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Entwicklungsumgebung installieren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6583680" y="5029200"/>
            <a:ext cx="4937760" cy="914400"/>
          </a:xfrm>
          <a:prstGeom prst="roundRect">
            <a:avLst>
              <a:gd name="adj" fmla="val 15000"/>
            </a:avLst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583680" y="5029200"/>
            <a:ext cx="4937760" cy="914400"/>
          </a:xfrm>
          <a:prstGeom prst="roundRect">
            <a:avLst>
              <a:gd name="adj" fmla="val 15000"/>
            </a:avLst>
          </a:prstGeom>
          <a:solidFill>
            <a:srgbClr val="B1FF37"/>
          </a:solidFill>
          <a:ln w="31750">
            <a:solidFill>
              <a:srgbClr val="12301A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766560" y="5234940"/>
            <a:ext cx="502920" cy="502920"/>
          </a:xfrm>
          <a:prstGeom prst="ellipse">
            <a:avLst/>
          </a:prstGeom>
          <a:solidFill>
            <a:srgbClr val="12301A"/>
          </a:solidFill>
          <a:ln w="12700">
            <a:solidFill>
              <a:srgbClr val="12301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766560" y="52349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1FF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7498080" y="5029200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Mit „Hallo Welt“ beginnen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672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Der erste Anlauf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600200"/>
            <a:ext cx="5394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Ewig nach </a:t>
            </a:r>
            <a:pPr indent="0" marL="0">
              <a:lnSpc>
                <a:spcPct val="105000"/>
              </a:lnSpc>
              <a:buNone/>
            </a:pPr>
            <a:r>
              <a:rPr lang="en-US" sz="3800" dirty="0">
                <a:solidFill>
                  <a:srgbClr val="26720A"/>
                </a:solidFill>
                <a:highlight>
                  <a:srgbClr val="B1FF37"/>
                </a:highlight>
                <a:latin typeface="Poppins" pitchFamily="34" charset="0"/>
                <a:ea typeface="Poppins" pitchFamily="34" charset="-122"/>
                <a:cs typeface="Poppins" pitchFamily="34" charset="-120"/>
              </a:rPr>
              <a:t>Tippfehlern</a:t>
            </a:r>
            <a:pPr indent="0" marL="0">
              <a:lnSpc>
                <a:spcPct val="105000"/>
              </a:lnSpc>
              <a:buNone/>
            </a:pPr>
            <a:r>
              <a:rPr lang="en-US" sz="38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suchen</a:t>
            </a:r>
            <a:endParaRPr lang="en-US" sz="38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114800"/>
            <a:ext cx="5303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Womöglich funktioniert es gar nicht auf Anhieb.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6400800" y="1097280"/>
            <a:ext cx="5120640" cy="3108960"/>
          </a:xfrm>
          <a:prstGeom prst="roundRect">
            <a:avLst>
              <a:gd name="adj" fmla="val 3529"/>
            </a:avLst>
          </a:prstGeom>
          <a:solidFill>
            <a:srgbClr val="12301A"/>
          </a:solidFill>
          <a:ln w="12700">
            <a:solidFill>
              <a:srgbClr val="12301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601968" y="1298448"/>
            <a:ext cx="146304" cy="146304"/>
          </a:xfrm>
          <a:prstGeom prst="ellipse">
            <a:avLst/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858000" y="1298448"/>
            <a:ext cx="146304" cy="146304"/>
          </a:xfrm>
          <a:prstGeom prst="ellipse">
            <a:avLst/>
          </a:prstGeom>
          <a:solidFill>
            <a:srgbClr val="6FCF3C"/>
          </a:solidFill>
          <a:ln w="12700">
            <a:solidFill>
              <a:srgbClr val="6FCF3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114032" y="1298448"/>
            <a:ext cx="146304" cy="146304"/>
          </a:xfrm>
          <a:prstGeom prst="ellipse">
            <a:avLst/>
          </a:prstGeom>
          <a:solidFill>
            <a:srgbClr val="B8D98A"/>
          </a:solidFill>
          <a:ln w="12700">
            <a:solidFill>
              <a:srgbClr val="B8D98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589520" y="11887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C79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hallo.py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6766560" y="18745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1F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print("Hallo Welt)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6766560" y="244144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6766560" y="3008376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7A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Fehler in Zeile 1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7863840" y="4572000"/>
            <a:ext cx="3291840" cy="822960"/>
          </a:xfrm>
          <a:prstGeom prst="wedgeRoundRectCallout">
            <a:avLst>
              <a:gd name="adj" fmla="val 22222"/>
            </a:avLst>
          </a:prstGeom>
          <a:solidFill>
            <a:srgbClr val="FBFFF4"/>
          </a:solidFill>
          <a:ln w="12700">
            <a:solidFill>
              <a:srgbClr val="FBFFF4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863840" y="457200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Wo ist der Fehler?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672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Das Ergebnis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600200"/>
            <a:ext cx="5669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dirty="0">
                <a:solidFill>
                  <a:srgbClr val="1230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Nach 2 Stunden: </a:t>
            </a:r>
            <a:pPr indent="0" marL="0">
              <a:lnSpc>
                <a:spcPct val="105000"/>
              </a:lnSpc>
              <a:buNone/>
            </a:pPr>
            <a:r>
              <a:rPr lang="en-US" sz="4000" dirty="0">
                <a:solidFill>
                  <a:srgbClr val="1230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absolut nichts gelernt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6583680" y="1005840"/>
            <a:ext cx="4937760" cy="1280160"/>
          </a:xfrm>
          <a:prstGeom prst="roundRect">
            <a:avLst>
              <a:gd name="adj" fmla="val 8571"/>
            </a:avLst>
          </a:prstGeom>
          <a:solidFill>
            <a:srgbClr val="FBFFF4"/>
          </a:solidFill>
          <a:ln w="12700">
            <a:solidFill>
              <a:srgbClr val="FBFFF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583680" y="100584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Stunden vergangen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6583680" y="2560320"/>
            <a:ext cx="4937760" cy="1280160"/>
          </a:xfrm>
          <a:prstGeom prst="roundRect">
            <a:avLst>
              <a:gd name="adj" fmla="val 8571"/>
            </a:avLst>
          </a:prstGeom>
          <a:solidFill>
            <a:srgbClr val="FBFFF4"/>
          </a:solidFill>
          <a:ln w="12700">
            <a:solidFill>
              <a:srgbClr val="FBFFF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583680" y="256032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Ein „Hallo Welt“-Programm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6583680" y="4114800"/>
            <a:ext cx="4937760" cy="1280160"/>
          </a:xfrm>
          <a:prstGeom prst="roundRect">
            <a:avLst>
              <a:gd name="adj" fmla="val 8571"/>
            </a:avLst>
          </a:prstGeom>
          <a:solidFill>
            <a:srgbClr val="12301A"/>
          </a:solidFill>
          <a:ln w="12700">
            <a:solidFill>
              <a:srgbClr val="12301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583680" y="411480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1FF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Gelernt: gar nichts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8823960" y="2331720"/>
            <a:ext cx="457200" cy="228600"/>
          </a:xfrm>
          <a:prstGeom prst="downArrow">
            <a:avLst/>
          </a:prstGeom>
          <a:solidFill>
            <a:srgbClr val="12301A"/>
          </a:solidFill>
          <a:ln w="12700">
            <a:solidFill>
              <a:srgbClr val="12301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823960" y="3886200"/>
            <a:ext cx="457200" cy="228600"/>
          </a:xfrm>
          <a:prstGeom prst="downArrow">
            <a:avLst/>
          </a:prstGeom>
          <a:solidFill>
            <a:srgbClr val="12301A"/>
          </a:solidFill>
          <a:ln w="12700">
            <a:solidFill>
              <a:srgbClr val="12301A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672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Das Problem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600200"/>
            <a:ext cx="56692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Tutorials starten bei der </a:t>
            </a:r>
            <a:pPr indent="0" marL="0">
              <a:lnSpc>
                <a:spcPct val="105000"/>
              </a:lnSpc>
              <a:buNone/>
            </a:pPr>
            <a:r>
              <a:rPr lang="en-US" sz="4000" dirty="0">
                <a:solidFill>
                  <a:srgbClr val="26720A"/>
                </a:solidFill>
                <a:highlight>
                  <a:srgbClr val="B1FF37"/>
                </a:highlight>
                <a:latin typeface="Poppins" pitchFamily="34" charset="0"/>
                <a:ea typeface="Poppins" pitchFamily="34" charset="-122"/>
                <a:cs typeface="Poppins" pitchFamily="34" charset="-120"/>
              </a:rPr>
              <a:t>Syntax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297680"/>
            <a:ext cx="5303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Nicht bei den Grundlagen, sondern bei der Schreibweise einer bestimmten Programmiersprache.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6583680" y="914400"/>
            <a:ext cx="4937760" cy="1371600"/>
          </a:xfrm>
          <a:prstGeom prst="roundRect">
            <a:avLst>
              <a:gd name="adj" fmla="val 8000"/>
            </a:avLst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583680" y="91440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Syntax einer Programmiersprache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6583680" y="3566160"/>
            <a:ext cx="4937760" cy="1371600"/>
          </a:xfrm>
          <a:prstGeom prst="roundRect">
            <a:avLst>
              <a:gd name="adj" fmla="val 8000"/>
            </a:avLst>
          </a:prstGeom>
          <a:solidFill>
            <a:srgbClr val="FBFFF4"/>
          </a:solidFill>
          <a:ln w="31750">
            <a:solidFill>
              <a:srgbClr val="FF7A45"/>
            </a:solidFill>
            <a:prstDash val="dash"/>
          </a:ln>
        </p:spPr>
      </p:sp>
      <p:sp>
        <p:nvSpPr>
          <p:cNvPr id="9" name="Text 6"/>
          <p:cNvSpPr txBox="1"/>
          <p:nvPr/>
        </p:nvSpPr>
        <p:spPr>
          <a:xfrm>
            <a:off x="6766560" y="356616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Grundlagen: das Denken dahinter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8823960" y="2423160"/>
            <a:ext cx="457200" cy="822960"/>
          </a:xfrm>
          <a:prstGeom prst="downArrow">
            <a:avLst/>
          </a:prstGeom>
          <a:solidFill>
            <a:srgbClr val="26720A"/>
          </a:solidFill>
          <a:ln w="12700">
            <a:solidFill>
              <a:srgbClr val="26720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0" y="5120640"/>
            <a:ext cx="1645920" cy="411480"/>
          </a:xfrm>
          <a:prstGeom prst="roundRect">
            <a:avLst>
              <a:gd name="adj" fmla="val 17778"/>
            </a:avLst>
          </a:prstGeom>
          <a:solidFill>
            <a:srgbClr val="FF7A45"/>
          </a:solidFill>
          <a:ln w="12700">
            <a:solidFill>
              <a:srgbClr val="FF7A4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229600" y="51206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wird übersprungen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672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Optional: Erklärung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600200"/>
            <a:ext cx="5669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Was ist </a:t>
            </a:r>
            <a:pPr indent="0" marL="0">
              <a:lnSpc>
                <a:spcPct val="105000"/>
              </a:lnSpc>
              <a:buNone/>
            </a:pPr>
            <a:r>
              <a:rPr lang="en-US" sz="4400" dirty="0">
                <a:solidFill>
                  <a:srgbClr val="26720A"/>
                </a:solidFill>
                <a:highlight>
                  <a:srgbClr val="B1FF37"/>
                </a:highlight>
                <a:latin typeface="Poppins" pitchFamily="34" charset="0"/>
                <a:ea typeface="Poppins" pitchFamily="34" charset="-122"/>
                <a:cs typeface="Poppins" pitchFamily="34" charset="-120"/>
              </a:rPr>
              <a:t>Syntax</a:t>
            </a:r>
            <a:pPr indent="0" marL="0">
              <a:lnSpc>
                <a:spcPct val="105000"/>
              </a:lnSpc>
              <a:buNone/>
            </a:pPr>
            <a:r>
              <a:rPr lang="en-US" sz="44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?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3931920"/>
            <a:ext cx="5303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Die Regeln der Schreibweise einer Programmiersprache, vergleichbar mit der Grammatik einer Sprache.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6583680" y="914400"/>
            <a:ext cx="4937760" cy="2103120"/>
          </a:xfrm>
          <a:prstGeom prst="roundRect">
            <a:avLst>
              <a:gd name="adj" fmla="val 6522"/>
            </a:avLst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0" y="10515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672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Grammatik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858000" y="1645920"/>
            <a:ext cx="4389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Ich gehe nach Hause.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6583680" y="3291840"/>
            <a:ext cx="4937760" cy="2103120"/>
          </a:xfrm>
          <a:prstGeom prst="roundRect">
            <a:avLst>
              <a:gd name="adj" fmla="val 5217"/>
            </a:avLst>
          </a:prstGeom>
          <a:solidFill>
            <a:srgbClr val="12301A"/>
          </a:solidFill>
          <a:ln w="12700">
            <a:solidFill>
              <a:srgbClr val="12301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784848" y="3493008"/>
            <a:ext cx="146304" cy="146304"/>
          </a:xfrm>
          <a:prstGeom prst="ellipse">
            <a:avLst/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040880" y="3493008"/>
            <a:ext cx="146304" cy="146304"/>
          </a:xfrm>
          <a:prstGeom prst="ellipse">
            <a:avLst/>
          </a:prstGeom>
          <a:solidFill>
            <a:srgbClr val="6FCF3C"/>
          </a:solidFill>
          <a:ln w="12700">
            <a:solidFill>
              <a:srgbClr val="6FCF3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296912" y="3493008"/>
            <a:ext cx="146304" cy="146304"/>
          </a:xfrm>
          <a:prstGeom prst="ellipse">
            <a:avLst/>
          </a:prstGeom>
          <a:solidFill>
            <a:srgbClr val="B8D98A"/>
          </a:solidFill>
          <a:ln w="12700">
            <a:solidFill>
              <a:srgbClr val="B8D98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772400" y="33832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C79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Syntax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6949440" y="40690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1F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print("Hallo Welt")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672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Falscher Beginn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600200"/>
            <a:ext cx="5669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Das ist der </a:t>
            </a:r>
            <a:pPr indent="0" marL="0">
              <a:lnSpc>
                <a:spcPct val="105000"/>
              </a:lnSpc>
              <a:buNone/>
            </a:pPr>
            <a:r>
              <a:rPr lang="en-US" sz="4400" dirty="0">
                <a:solidFill>
                  <a:srgbClr val="26720A"/>
                </a:solidFill>
                <a:highlight>
                  <a:srgbClr val="B1FF37"/>
                </a:highlight>
                <a:latin typeface="Poppins" pitchFamily="34" charset="0"/>
                <a:ea typeface="Poppins" pitchFamily="34" charset="-122"/>
                <a:cs typeface="Poppins" pitchFamily="34" charset="-120"/>
              </a:rPr>
              <a:t>falsche</a:t>
            </a:r>
            <a:pPr indent="0" marL="0">
              <a:lnSpc>
                <a:spcPct val="105000"/>
              </a:lnSpc>
              <a:buNone/>
            </a:pPr>
            <a:r>
              <a:rPr lang="en-US" sz="44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Beginn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114800"/>
            <a:ext cx="5303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Mit der Syntax einer Sprache in die Programmierung einzusteigen.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6583680" y="1188720"/>
            <a:ext cx="4937760" cy="3291840"/>
          </a:xfrm>
          <a:prstGeom prst="roundRect">
            <a:avLst>
              <a:gd name="adj" fmla="val 4167"/>
            </a:avLst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949440" y="1645920"/>
            <a:ext cx="4206240" cy="1280160"/>
          </a:xfrm>
          <a:prstGeom prst="roundRect">
            <a:avLst>
              <a:gd name="adj" fmla="val 8571"/>
            </a:avLst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949440" y="1645920"/>
            <a:ext cx="4206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Mit Syntax starten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8412480" y="3017520"/>
            <a:ext cx="1280160" cy="1280160"/>
          </a:xfrm>
          <a:prstGeom prst="mathMultiply">
            <a:avLst/>
          </a:prstGeom>
          <a:solidFill>
            <a:srgbClr val="FF7A45"/>
          </a:solidFill>
          <a:ln w="12700">
            <a:solidFill>
              <a:srgbClr val="FF7A45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672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Natürlich wichtig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600200"/>
            <a:ext cx="56692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Syntax ist wichtig – aber </a:t>
            </a:r>
            <a:pPr indent="0" marL="0">
              <a:lnSpc>
                <a:spcPct val="105000"/>
              </a:lnSpc>
              <a:buNone/>
            </a:pPr>
            <a:r>
              <a:rPr lang="en-US" sz="3800" dirty="0">
                <a:solidFill>
                  <a:srgbClr val="26720A"/>
                </a:solidFill>
                <a:highlight>
                  <a:srgbClr val="B1FF37"/>
                </a:highlight>
                <a:latin typeface="Poppins" pitchFamily="34" charset="0"/>
                <a:ea typeface="Poppins" pitchFamily="34" charset="-122"/>
                <a:cs typeface="Poppins" pitchFamily="34" charset="-120"/>
              </a:rPr>
              <a:t>nicht der erste Schritt</a:t>
            </a:r>
            <a:endParaRPr lang="en-US" sz="3800" dirty="0"/>
          </a:p>
        </p:txBody>
      </p:sp>
      <p:sp>
        <p:nvSpPr>
          <p:cNvPr id="5" name="Shape 2"/>
          <p:cNvSpPr/>
          <p:nvPr/>
        </p:nvSpPr>
        <p:spPr>
          <a:xfrm>
            <a:off x="6583680" y="1463040"/>
            <a:ext cx="4937760" cy="1005840"/>
          </a:xfrm>
          <a:prstGeom prst="roundRect">
            <a:avLst>
              <a:gd name="adj" fmla="val 13636"/>
            </a:avLst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583680" y="1463040"/>
            <a:ext cx="4937760" cy="1005840"/>
          </a:xfrm>
          <a:prstGeom prst="roundRect">
            <a:avLst>
              <a:gd name="adj" fmla="val 13636"/>
            </a:avLst>
          </a:prstGeom>
          <a:solidFill>
            <a:srgbClr val="B1FF37"/>
          </a:solidFill>
          <a:ln w="31750">
            <a:solidFill>
              <a:srgbClr val="12301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766560" y="1714500"/>
            <a:ext cx="502920" cy="502920"/>
          </a:xfrm>
          <a:prstGeom prst="ellipse">
            <a:avLst/>
          </a:prstGeom>
          <a:solidFill>
            <a:srgbClr val="12301A"/>
          </a:solidFill>
          <a:ln w="12700">
            <a:solidFill>
              <a:srgbClr val="12301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766560" y="17145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1FF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7498080" y="1463040"/>
            <a:ext cx="3886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Denkprozesse verstehen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583680" y="2834640"/>
            <a:ext cx="4937760" cy="1005840"/>
          </a:xfrm>
          <a:prstGeom prst="roundRect">
            <a:avLst>
              <a:gd name="adj" fmla="val 13636"/>
            </a:avLst>
          </a:prstGeom>
          <a:solidFill>
            <a:srgbClr val="FBFFF4"/>
          </a:solidFill>
          <a:ln w="15875">
            <a:solidFill>
              <a:srgbClr val="B8D98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766560" y="3086100"/>
            <a:ext cx="502920" cy="502920"/>
          </a:xfrm>
          <a:prstGeom prst="ellipse">
            <a:avLst/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766560" y="30861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7498080" y="2834640"/>
            <a:ext cx="3886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Syntax einer Sprache lernen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8823960" y="2468880"/>
            <a:ext cx="457200" cy="411480"/>
          </a:xfrm>
          <a:prstGeom prst="downArrow">
            <a:avLst/>
          </a:prstGeom>
          <a:solidFill>
            <a:srgbClr val="26720A"/>
          </a:solidFill>
          <a:ln w="12700">
            <a:solidFill>
              <a:srgbClr val="26720A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1FF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Wie im echten Leben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600200"/>
            <a:ext cx="5669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dirty="0">
                <a:solidFill>
                  <a:srgbClr val="EFFBD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Erst </a:t>
            </a:r>
            <a:pPr indent="0" marL="0">
              <a:lnSpc>
                <a:spcPct val="105000"/>
              </a:lnSpc>
              <a:buNone/>
            </a:pPr>
            <a:r>
              <a:rPr lang="en-US" sz="4200" dirty="0">
                <a:solidFill>
                  <a:srgbClr val="B1FF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denken</a:t>
            </a:r>
            <a:pPr indent="0" marL="0">
              <a:lnSpc>
                <a:spcPct val="105000"/>
              </a:lnSpc>
              <a:buNone/>
            </a:pPr>
            <a:r>
              <a:rPr lang="en-US" sz="4200" dirty="0">
                <a:solidFill>
                  <a:srgbClr val="EFFBD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dann schreiben</a:t>
            </a:r>
            <a:endParaRPr lang="en-US" sz="4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114800"/>
            <a:ext cx="5303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A9C79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 wie man nachdenkt, bevor man etwas schreibt oder sagt.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6766560" y="1097280"/>
            <a:ext cx="4389120" cy="1188720"/>
          </a:xfrm>
          <a:prstGeom prst="wedgeRoundRectCallout">
            <a:avLst>
              <a:gd name="adj" fmla="val 15385"/>
            </a:avLst>
          </a:prstGeom>
          <a:solidFill>
            <a:srgbClr val="FBFFF4"/>
          </a:solidFill>
          <a:ln w="12700">
            <a:solidFill>
              <a:srgbClr val="FBFFF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766560" y="1097280"/>
            <a:ext cx="4389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Was will ich sagen?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8823960" y="2514600"/>
            <a:ext cx="457200" cy="731520"/>
          </a:xfrm>
          <a:prstGeom prst="downArrow">
            <a:avLst/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766560" y="3383280"/>
            <a:ext cx="4389120" cy="1097280"/>
          </a:xfrm>
          <a:prstGeom prst="roundRect">
            <a:avLst>
              <a:gd name="adj" fmla="val 10000"/>
            </a:avLst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766560" y="3383280"/>
            <a:ext cx="4389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Schreiben / Sagen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6766560" y="475488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A9C79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 der Programmierung: erst die Denkprozesse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672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Danach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600200"/>
            <a:ext cx="56692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Erst wie ein Programmierer </a:t>
            </a:r>
            <a:pPr indent="0" marL="0">
              <a:lnSpc>
                <a:spcPct val="105000"/>
              </a:lnSpc>
              <a:buNone/>
            </a:pPr>
            <a:r>
              <a:rPr lang="en-US" sz="4000" dirty="0">
                <a:solidFill>
                  <a:srgbClr val="26720A"/>
                </a:solidFill>
                <a:highlight>
                  <a:srgbClr val="B1FF37"/>
                </a:highlight>
                <a:latin typeface="Poppins" pitchFamily="34" charset="0"/>
                <a:ea typeface="Poppins" pitchFamily="34" charset="-122"/>
                <a:cs typeface="Poppins" pitchFamily="34" charset="-120"/>
              </a:rPr>
              <a:t>denken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297680"/>
            <a:ext cx="5303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Dann kannst du dir die Sprache aussuchen, die am besten zu dir passt.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6583680" y="1005840"/>
            <a:ext cx="4937760" cy="1280160"/>
          </a:xfrm>
          <a:prstGeom prst="roundRect">
            <a:avLst>
              <a:gd name="adj" fmla="val 8571"/>
            </a:avLst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583680" y="100584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Denken wie ein Programmierer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8823960" y="2377440"/>
            <a:ext cx="457200" cy="548640"/>
          </a:xfrm>
          <a:prstGeom prst="downArrow">
            <a:avLst/>
          </a:prstGeom>
          <a:solidFill>
            <a:srgbClr val="26720A"/>
          </a:solidFill>
          <a:ln w="12700">
            <a:solidFill>
              <a:srgbClr val="26720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583680" y="3017520"/>
            <a:ext cx="4937760" cy="1280160"/>
          </a:xfrm>
          <a:prstGeom prst="roundRect">
            <a:avLst>
              <a:gd name="adj" fmla="val 8571"/>
            </a:avLst>
          </a:prstGeom>
          <a:solidFill>
            <a:srgbClr val="DDF3B8"/>
          </a:solidFill>
          <a:ln w="12700">
            <a:solidFill>
              <a:srgbClr val="DDF3B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583680" y="301752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Sprache aussuchen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8823960" y="4389120"/>
            <a:ext cx="457200" cy="548640"/>
          </a:xfrm>
          <a:prstGeom prst="downArrow">
            <a:avLst/>
          </a:prstGeom>
          <a:solidFill>
            <a:srgbClr val="26720A"/>
          </a:solidFill>
          <a:ln w="12700">
            <a:solidFill>
              <a:srgbClr val="26720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583680" y="5029200"/>
            <a:ext cx="4937760" cy="914400"/>
          </a:xfrm>
          <a:prstGeom prst="roundRect">
            <a:avLst>
              <a:gd name="adj" fmla="val 12000"/>
            </a:avLst>
          </a:prstGeom>
          <a:solidFill>
            <a:srgbClr val="12301A"/>
          </a:solidFill>
          <a:ln w="12700">
            <a:solidFill>
              <a:srgbClr val="12301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583680" y="502920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1FF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Passt am besten zu dir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672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Mein Versprechen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600200"/>
            <a:ext cx="56692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dirty="0">
                <a:solidFill>
                  <a:srgbClr val="1230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Kein Jump and Run heute, </a:t>
            </a:r>
            <a:pPr indent="0" marL="0">
              <a:lnSpc>
                <a:spcPct val="105000"/>
              </a:lnSpc>
              <a:buNone/>
            </a:pPr>
            <a:r>
              <a:rPr lang="en-US" sz="3800" dirty="0">
                <a:solidFill>
                  <a:srgbClr val="1230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dafür langfristig weiter</a:t>
            </a:r>
            <a:endParaRPr lang="en-US" sz="3800" dirty="0"/>
          </a:p>
        </p:txBody>
      </p:sp>
      <p:sp>
        <p:nvSpPr>
          <p:cNvPr id="5" name="Shape 2"/>
          <p:cNvSpPr/>
          <p:nvPr/>
        </p:nvSpPr>
        <p:spPr>
          <a:xfrm>
            <a:off x="6583680" y="914400"/>
            <a:ext cx="4937760" cy="2286000"/>
          </a:xfrm>
          <a:prstGeom prst="roundRect">
            <a:avLst>
              <a:gd name="adj" fmla="val 6000"/>
            </a:avLst>
          </a:prstGeom>
          <a:solidFill>
            <a:srgbClr val="FBFFF4"/>
          </a:solidFill>
          <a:ln w="15875">
            <a:solidFill>
              <a:srgbClr val="12301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858000" y="1143000"/>
            <a:ext cx="640080" cy="640080"/>
          </a:xfrm>
          <a:prstGeom prst="mathMultiply">
            <a:avLst/>
          </a:prstGeom>
          <a:solidFill>
            <a:srgbClr val="FF7A45"/>
          </a:solidFill>
          <a:ln w="12700">
            <a:solidFill>
              <a:srgbClr val="FF7A4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680960" y="914400"/>
            <a:ext cx="3657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Heute noch kein fertiges Jump-and-Run-Spiel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583680" y="3566160"/>
            <a:ext cx="4937760" cy="2468880"/>
          </a:xfrm>
          <a:prstGeom prst="roundRect">
            <a:avLst>
              <a:gd name="adj" fmla="val 5556"/>
            </a:avLst>
          </a:prstGeom>
          <a:solidFill>
            <a:srgbClr val="12301A"/>
          </a:solidFill>
          <a:ln w="15875">
            <a:solidFill>
              <a:srgbClr val="12301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 rot="2700000">
            <a:off x="6953098" y="4257446"/>
            <a:ext cx="248717" cy="73152"/>
          </a:xfrm>
          <a:prstGeom prst="roundRect">
            <a:avLst>
              <a:gd name="adj" fmla="val 37500"/>
            </a:avLst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 rot="18900000">
            <a:off x="7055510" y="4155034"/>
            <a:ext cx="512064" cy="73152"/>
          </a:xfrm>
          <a:prstGeom prst="roundRect">
            <a:avLst>
              <a:gd name="adj" fmla="val 37500"/>
            </a:avLst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772400" y="3566160"/>
            <a:ext cx="3566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BFF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Langfristig lernen, wie ein Programmierer zu denken, statt Code abzutippen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1FF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Die Idee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600200"/>
            <a:ext cx="5669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800" dirty="0">
                <a:solidFill>
                  <a:srgbClr val="EFFBD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Karel </a:t>
            </a:r>
            <a:pPr indent="0" marL="0">
              <a:lnSpc>
                <a:spcPct val="105000"/>
              </a:lnSpc>
              <a:buNone/>
            </a:pPr>
            <a:r>
              <a:rPr lang="en-US" sz="4800" dirty="0">
                <a:solidFill>
                  <a:srgbClr val="B1FF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Robot</a:t>
            </a:r>
            <a:endParaRPr lang="en-US" sz="48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3840480"/>
            <a:ext cx="5303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A9C79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Eine alte, aber richtig gute Idee.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6766560" y="1371600"/>
            <a:ext cx="914400" cy="914400"/>
          </a:xfrm>
          <a:prstGeom prst="rect">
            <a:avLst/>
          </a:prstGeom>
          <a:solidFill>
            <a:srgbClr val="1F5230"/>
          </a:solidFill>
          <a:ln w="12700">
            <a:solidFill>
              <a:srgbClr val="B8D98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680960" y="1371600"/>
            <a:ext cx="914400" cy="914400"/>
          </a:xfrm>
          <a:prstGeom prst="rect">
            <a:avLst/>
          </a:prstGeom>
          <a:solidFill>
            <a:srgbClr val="1B4527"/>
          </a:solidFill>
          <a:ln w="12700">
            <a:solidFill>
              <a:srgbClr val="B8D98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595360" y="1371600"/>
            <a:ext cx="914400" cy="914400"/>
          </a:xfrm>
          <a:prstGeom prst="rect">
            <a:avLst/>
          </a:prstGeom>
          <a:solidFill>
            <a:srgbClr val="1F5230"/>
          </a:solidFill>
          <a:ln w="12700">
            <a:solidFill>
              <a:srgbClr val="B8D98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509760" y="1371600"/>
            <a:ext cx="914400" cy="914400"/>
          </a:xfrm>
          <a:prstGeom prst="rect">
            <a:avLst/>
          </a:prstGeom>
          <a:solidFill>
            <a:srgbClr val="1B4527"/>
          </a:solidFill>
          <a:ln w="12700">
            <a:solidFill>
              <a:srgbClr val="B8D98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424160" y="1371600"/>
            <a:ext cx="914400" cy="914400"/>
          </a:xfrm>
          <a:prstGeom prst="rect">
            <a:avLst/>
          </a:prstGeom>
          <a:solidFill>
            <a:srgbClr val="1F5230"/>
          </a:solidFill>
          <a:ln w="12700">
            <a:solidFill>
              <a:srgbClr val="B8D98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766560" y="2286000"/>
            <a:ext cx="914400" cy="914400"/>
          </a:xfrm>
          <a:prstGeom prst="rect">
            <a:avLst/>
          </a:prstGeom>
          <a:solidFill>
            <a:srgbClr val="1B4527"/>
          </a:solidFill>
          <a:ln w="12700">
            <a:solidFill>
              <a:srgbClr val="B8D98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680960" y="2286000"/>
            <a:ext cx="914400" cy="914400"/>
          </a:xfrm>
          <a:prstGeom prst="rect">
            <a:avLst/>
          </a:prstGeom>
          <a:solidFill>
            <a:srgbClr val="1F5230"/>
          </a:solidFill>
          <a:ln w="12700">
            <a:solidFill>
              <a:srgbClr val="B8D98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595360" y="2286000"/>
            <a:ext cx="914400" cy="914400"/>
          </a:xfrm>
          <a:prstGeom prst="rect">
            <a:avLst/>
          </a:prstGeom>
          <a:solidFill>
            <a:srgbClr val="1B4527"/>
          </a:solidFill>
          <a:ln w="12700">
            <a:solidFill>
              <a:srgbClr val="B8D98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9509760" y="2286000"/>
            <a:ext cx="914400" cy="914400"/>
          </a:xfrm>
          <a:prstGeom prst="rect">
            <a:avLst/>
          </a:prstGeom>
          <a:solidFill>
            <a:srgbClr val="1F5230"/>
          </a:solidFill>
          <a:ln w="12700">
            <a:solidFill>
              <a:srgbClr val="B8D98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0424160" y="2286000"/>
            <a:ext cx="914400" cy="914400"/>
          </a:xfrm>
          <a:prstGeom prst="rect">
            <a:avLst/>
          </a:prstGeom>
          <a:solidFill>
            <a:srgbClr val="1B4527"/>
          </a:solidFill>
          <a:ln w="12700">
            <a:solidFill>
              <a:srgbClr val="B8D98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766560" y="3200400"/>
            <a:ext cx="914400" cy="914400"/>
          </a:xfrm>
          <a:prstGeom prst="rect">
            <a:avLst/>
          </a:prstGeom>
          <a:solidFill>
            <a:srgbClr val="1F5230"/>
          </a:solidFill>
          <a:ln w="12700">
            <a:solidFill>
              <a:srgbClr val="B8D98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680960" y="3200400"/>
            <a:ext cx="914400" cy="914400"/>
          </a:xfrm>
          <a:prstGeom prst="rect">
            <a:avLst/>
          </a:prstGeom>
          <a:solidFill>
            <a:srgbClr val="1B4527"/>
          </a:solidFill>
          <a:ln w="12700">
            <a:solidFill>
              <a:srgbClr val="B8D98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595360" y="3200400"/>
            <a:ext cx="914400" cy="914400"/>
          </a:xfrm>
          <a:prstGeom prst="rect">
            <a:avLst/>
          </a:prstGeom>
          <a:solidFill>
            <a:srgbClr val="1F5230"/>
          </a:solidFill>
          <a:ln w="12700">
            <a:solidFill>
              <a:srgbClr val="B8D98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509760" y="3200400"/>
            <a:ext cx="914400" cy="914400"/>
          </a:xfrm>
          <a:prstGeom prst="rect">
            <a:avLst/>
          </a:prstGeom>
          <a:solidFill>
            <a:srgbClr val="1B4527"/>
          </a:solidFill>
          <a:ln w="12700">
            <a:solidFill>
              <a:srgbClr val="B8D98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0424160" y="3200400"/>
            <a:ext cx="914400" cy="914400"/>
          </a:xfrm>
          <a:prstGeom prst="rect">
            <a:avLst/>
          </a:prstGeom>
          <a:solidFill>
            <a:srgbClr val="1F5230"/>
          </a:solidFill>
          <a:ln w="12700">
            <a:solidFill>
              <a:srgbClr val="B8D98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766560" y="4114800"/>
            <a:ext cx="914400" cy="914400"/>
          </a:xfrm>
          <a:prstGeom prst="rect">
            <a:avLst/>
          </a:prstGeom>
          <a:solidFill>
            <a:srgbClr val="1B4527"/>
          </a:solidFill>
          <a:ln w="12700">
            <a:solidFill>
              <a:srgbClr val="B8D98A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680960" y="4114800"/>
            <a:ext cx="914400" cy="914400"/>
          </a:xfrm>
          <a:prstGeom prst="rect">
            <a:avLst/>
          </a:prstGeom>
          <a:solidFill>
            <a:srgbClr val="1F5230"/>
          </a:solidFill>
          <a:ln w="12700">
            <a:solidFill>
              <a:srgbClr val="B8D98A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595360" y="4114800"/>
            <a:ext cx="914400" cy="914400"/>
          </a:xfrm>
          <a:prstGeom prst="rect">
            <a:avLst/>
          </a:prstGeom>
          <a:solidFill>
            <a:srgbClr val="1B4527"/>
          </a:solidFill>
          <a:ln w="12700">
            <a:solidFill>
              <a:srgbClr val="B8D98A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9509760" y="4114800"/>
            <a:ext cx="914400" cy="914400"/>
          </a:xfrm>
          <a:prstGeom prst="rect">
            <a:avLst/>
          </a:prstGeom>
          <a:solidFill>
            <a:srgbClr val="1F5230"/>
          </a:solidFill>
          <a:ln w="12700">
            <a:solidFill>
              <a:srgbClr val="B8D98A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0424160" y="4114800"/>
            <a:ext cx="914400" cy="914400"/>
          </a:xfrm>
          <a:prstGeom prst="rect">
            <a:avLst/>
          </a:prstGeom>
          <a:solidFill>
            <a:srgbClr val="1B4527"/>
          </a:solidFill>
          <a:ln w="12700">
            <a:solidFill>
              <a:srgbClr val="B8D98A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183880" y="2426818"/>
            <a:ext cx="0" cy="102413"/>
          </a:xfrm>
          <a:prstGeom prst="line">
            <a:avLst/>
          </a:prstGeom>
          <a:noFill/>
          <a:ln w="38100">
            <a:solidFill>
              <a:srgbClr val="B1FF37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139989" y="2368296"/>
            <a:ext cx="87782" cy="87782"/>
          </a:xfrm>
          <a:prstGeom prst="ellipse">
            <a:avLst/>
          </a:prstGeom>
          <a:solidFill>
            <a:srgbClr val="12301A"/>
          </a:solidFill>
          <a:ln w="25400">
            <a:solidFill>
              <a:srgbClr val="B1FF37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818120" y="2514600"/>
            <a:ext cx="731520" cy="570586"/>
          </a:xfrm>
          <a:prstGeom prst="roundRect">
            <a:avLst>
              <a:gd name="adj" fmla="val 23077"/>
            </a:avLst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971739" y="2697480"/>
            <a:ext cx="131674" cy="131674"/>
          </a:xfrm>
          <a:prstGeom prst="ellipse">
            <a:avLst/>
          </a:prstGeom>
          <a:solidFill>
            <a:srgbClr val="12301A"/>
          </a:solidFill>
          <a:ln w="12700">
            <a:solidFill>
              <a:srgbClr val="12301A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8264347" y="2697480"/>
            <a:ext cx="131674" cy="131674"/>
          </a:xfrm>
          <a:prstGeom prst="ellipse">
            <a:avLst/>
          </a:prstGeom>
          <a:solidFill>
            <a:srgbClr val="12301A"/>
          </a:solidFill>
          <a:ln w="12700">
            <a:solidFill>
              <a:srgbClr val="12301A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022946" y="2924251"/>
            <a:ext cx="321869" cy="58522"/>
          </a:xfrm>
          <a:prstGeom prst="roundRect">
            <a:avLst>
              <a:gd name="adj" fmla="val 46875"/>
            </a:avLst>
          </a:prstGeom>
          <a:solidFill>
            <a:srgbClr val="12301A"/>
          </a:solidFill>
          <a:ln w="12700">
            <a:solidFill>
              <a:srgbClr val="12301A"/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672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 funktioniert es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600200"/>
            <a:ext cx="56692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Ein Roboter in einer </a:t>
            </a:r>
            <a:pPr indent="0" marL="0">
              <a:lnSpc>
                <a:spcPct val="105000"/>
              </a:lnSpc>
              <a:buNone/>
            </a:pPr>
            <a:r>
              <a:rPr lang="en-US" sz="4000" dirty="0">
                <a:solidFill>
                  <a:srgbClr val="26720A"/>
                </a:solidFill>
                <a:highlight>
                  <a:srgbClr val="B1FF37"/>
                </a:highlight>
                <a:latin typeface="Poppins" pitchFamily="34" charset="0"/>
                <a:ea typeface="Poppins" pitchFamily="34" charset="-122"/>
                <a:cs typeface="Poppins" pitchFamily="34" charset="-120"/>
              </a:rPr>
              <a:t>Welt aus Kästchen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297680"/>
            <a:ext cx="5303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Gesteuert mit ein paar einfachen Befehlen.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6583680" y="822960"/>
            <a:ext cx="868680" cy="868680"/>
          </a:xfrm>
          <a:prstGeom prst="rect">
            <a:avLst/>
          </a:prstGeom>
          <a:solidFill>
            <a:srgbClr val="FBFFF4"/>
          </a:solidFill>
          <a:ln w="12700">
            <a:solidFill>
              <a:srgbClr val="B8D98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452360" y="822960"/>
            <a:ext cx="868680" cy="868680"/>
          </a:xfrm>
          <a:prstGeom prst="rect">
            <a:avLst/>
          </a:prstGeom>
          <a:solidFill>
            <a:srgbClr val="DDF3B8"/>
          </a:solidFill>
          <a:ln w="12700">
            <a:solidFill>
              <a:srgbClr val="B8D98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321040" y="822960"/>
            <a:ext cx="868680" cy="868680"/>
          </a:xfrm>
          <a:prstGeom prst="rect">
            <a:avLst/>
          </a:prstGeom>
          <a:solidFill>
            <a:srgbClr val="FBFFF4"/>
          </a:solidFill>
          <a:ln w="12700">
            <a:solidFill>
              <a:srgbClr val="B8D98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189720" y="822960"/>
            <a:ext cx="868680" cy="868680"/>
          </a:xfrm>
          <a:prstGeom prst="rect">
            <a:avLst/>
          </a:prstGeom>
          <a:solidFill>
            <a:srgbClr val="DDF3B8"/>
          </a:solidFill>
          <a:ln w="12700">
            <a:solidFill>
              <a:srgbClr val="B8D98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0" y="822960"/>
            <a:ext cx="868680" cy="868680"/>
          </a:xfrm>
          <a:prstGeom prst="rect">
            <a:avLst/>
          </a:prstGeom>
          <a:solidFill>
            <a:srgbClr val="FBFFF4"/>
          </a:solidFill>
          <a:ln w="12700">
            <a:solidFill>
              <a:srgbClr val="B8D98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83680" y="1691640"/>
            <a:ext cx="868680" cy="868680"/>
          </a:xfrm>
          <a:prstGeom prst="rect">
            <a:avLst/>
          </a:prstGeom>
          <a:solidFill>
            <a:srgbClr val="DDF3B8"/>
          </a:solidFill>
          <a:ln w="12700">
            <a:solidFill>
              <a:srgbClr val="B8D98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452360" y="1691640"/>
            <a:ext cx="868680" cy="868680"/>
          </a:xfrm>
          <a:prstGeom prst="rect">
            <a:avLst/>
          </a:prstGeom>
          <a:solidFill>
            <a:srgbClr val="FBFFF4"/>
          </a:solidFill>
          <a:ln w="12700">
            <a:solidFill>
              <a:srgbClr val="B8D98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321040" y="1691640"/>
            <a:ext cx="868680" cy="868680"/>
          </a:xfrm>
          <a:prstGeom prst="rect">
            <a:avLst/>
          </a:prstGeom>
          <a:solidFill>
            <a:srgbClr val="DDF3B8"/>
          </a:solidFill>
          <a:ln w="12700">
            <a:solidFill>
              <a:srgbClr val="B8D98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9189720" y="1691640"/>
            <a:ext cx="868680" cy="868680"/>
          </a:xfrm>
          <a:prstGeom prst="rect">
            <a:avLst/>
          </a:prstGeom>
          <a:solidFill>
            <a:srgbClr val="FBFFF4"/>
          </a:solidFill>
          <a:ln w="12700">
            <a:solidFill>
              <a:srgbClr val="B8D98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0058400" y="1691640"/>
            <a:ext cx="868680" cy="868680"/>
          </a:xfrm>
          <a:prstGeom prst="rect">
            <a:avLst/>
          </a:prstGeom>
          <a:solidFill>
            <a:srgbClr val="DDF3B8"/>
          </a:solidFill>
          <a:ln w="12700">
            <a:solidFill>
              <a:srgbClr val="B8D98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583680" y="2560320"/>
            <a:ext cx="868680" cy="868680"/>
          </a:xfrm>
          <a:prstGeom prst="rect">
            <a:avLst/>
          </a:prstGeom>
          <a:solidFill>
            <a:srgbClr val="FBFFF4"/>
          </a:solidFill>
          <a:ln w="12700">
            <a:solidFill>
              <a:srgbClr val="B8D98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452360" y="2560320"/>
            <a:ext cx="868680" cy="868680"/>
          </a:xfrm>
          <a:prstGeom prst="rect">
            <a:avLst/>
          </a:prstGeom>
          <a:solidFill>
            <a:srgbClr val="DDF3B8"/>
          </a:solidFill>
          <a:ln w="12700">
            <a:solidFill>
              <a:srgbClr val="B8D98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321040" y="2560320"/>
            <a:ext cx="868680" cy="868680"/>
          </a:xfrm>
          <a:prstGeom prst="rect">
            <a:avLst/>
          </a:prstGeom>
          <a:solidFill>
            <a:srgbClr val="FBFFF4"/>
          </a:solidFill>
          <a:ln w="12700">
            <a:solidFill>
              <a:srgbClr val="B8D98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189720" y="2560320"/>
            <a:ext cx="868680" cy="868680"/>
          </a:xfrm>
          <a:prstGeom prst="rect">
            <a:avLst/>
          </a:prstGeom>
          <a:solidFill>
            <a:srgbClr val="DDF3B8"/>
          </a:solidFill>
          <a:ln w="12700">
            <a:solidFill>
              <a:srgbClr val="B8D98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0058400" y="2560320"/>
            <a:ext cx="868680" cy="868680"/>
          </a:xfrm>
          <a:prstGeom prst="rect">
            <a:avLst/>
          </a:prstGeom>
          <a:solidFill>
            <a:srgbClr val="FBFFF4"/>
          </a:solidFill>
          <a:ln w="12700">
            <a:solidFill>
              <a:srgbClr val="B8D98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583680" y="3429000"/>
            <a:ext cx="868680" cy="868680"/>
          </a:xfrm>
          <a:prstGeom prst="rect">
            <a:avLst/>
          </a:prstGeom>
          <a:solidFill>
            <a:srgbClr val="DDF3B8"/>
          </a:solidFill>
          <a:ln w="12700">
            <a:solidFill>
              <a:srgbClr val="B8D98A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452360" y="3429000"/>
            <a:ext cx="868680" cy="868680"/>
          </a:xfrm>
          <a:prstGeom prst="rect">
            <a:avLst/>
          </a:prstGeom>
          <a:solidFill>
            <a:srgbClr val="FBFFF4"/>
          </a:solidFill>
          <a:ln w="12700">
            <a:solidFill>
              <a:srgbClr val="B8D98A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321040" y="3429000"/>
            <a:ext cx="868680" cy="868680"/>
          </a:xfrm>
          <a:prstGeom prst="rect">
            <a:avLst/>
          </a:prstGeom>
          <a:solidFill>
            <a:srgbClr val="DDF3B8"/>
          </a:solidFill>
          <a:ln w="12700">
            <a:solidFill>
              <a:srgbClr val="B8D98A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9189720" y="3429000"/>
            <a:ext cx="868680" cy="868680"/>
          </a:xfrm>
          <a:prstGeom prst="rect">
            <a:avLst/>
          </a:prstGeom>
          <a:solidFill>
            <a:srgbClr val="FBFFF4"/>
          </a:solidFill>
          <a:ln w="12700">
            <a:solidFill>
              <a:srgbClr val="B8D98A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0058400" y="3429000"/>
            <a:ext cx="868680" cy="868680"/>
          </a:xfrm>
          <a:prstGeom prst="rect">
            <a:avLst/>
          </a:prstGeom>
          <a:solidFill>
            <a:srgbClr val="DDF3B8"/>
          </a:solidFill>
          <a:ln w="12700">
            <a:solidFill>
              <a:srgbClr val="B8D98A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927848" y="2637130"/>
            <a:ext cx="0" cy="102413"/>
          </a:xfrm>
          <a:prstGeom prst="line">
            <a:avLst/>
          </a:prstGeom>
          <a:noFill/>
          <a:ln w="38100">
            <a:solidFill>
              <a:srgbClr val="12301A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883957" y="2578608"/>
            <a:ext cx="87782" cy="87782"/>
          </a:xfrm>
          <a:prstGeom prst="ellipse">
            <a:avLst/>
          </a:prstGeom>
          <a:solidFill>
            <a:srgbClr val="B1FF37"/>
          </a:solidFill>
          <a:ln w="25400">
            <a:solidFill>
              <a:srgbClr val="12301A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562088" y="2724912"/>
            <a:ext cx="731520" cy="570586"/>
          </a:xfrm>
          <a:prstGeom prst="roundRect">
            <a:avLst>
              <a:gd name="adj" fmla="val 23077"/>
            </a:avLst>
          </a:prstGeom>
          <a:solidFill>
            <a:srgbClr val="12301A"/>
          </a:solidFill>
          <a:ln w="12700">
            <a:solidFill>
              <a:srgbClr val="12301A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715707" y="2907792"/>
            <a:ext cx="131674" cy="131674"/>
          </a:xfrm>
          <a:prstGeom prst="ellipse">
            <a:avLst/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8008315" y="2907792"/>
            <a:ext cx="131674" cy="131674"/>
          </a:xfrm>
          <a:prstGeom prst="ellipse">
            <a:avLst/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7766914" y="3134563"/>
            <a:ext cx="321869" cy="58522"/>
          </a:xfrm>
          <a:prstGeom prst="roundRect">
            <a:avLst>
              <a:gd name="adj" fmla="val 46875"/>
            </a:avLst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10222992" y="987552"/>
            <a:ext cx="548640" cy="548640"/>
          </a:xfrm>
          <a:prstGeom prst="star5">
            <a:avLst/>
          </a:prstGeom>
          <a:solidFill>
            <a:srgbClr val="B1FF37"/>
          </a:solidFill>
          <a:ln w="25400">
            <a:solidFill>
              <a:srgbClr val="12301A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583680" y="4846320"/>
            <a:ext cx="1554480" cy="502920"/>
          </a:xfrm>
          <a:prstGeom prst="roundRect">
            <a:avLst>
              <a:gd name="adj" fmla="val 14545"/>
            </a:avLst>
          </a:prstGeom>
          <a:solidFill>
            <a:srgbClr val="12301A"/>
          </a:solidFill>
          <a:ln w="12700">
            <a:solidFill>
              <a:srgbClr val="12301A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583680" y="48463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1FF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vorwärts</a:t>
            </a:r>
            <a:endParaRPr lang="en-US" sz="1500" dirty="0"/>
          </a:p>
        </p:txBody>
      </p:sp>
      <p:sp>
        <p:nvSpPr>
          <p:cNvPr id="35" name="Shape 32"/>
          <p:cNvSpPr/>
          <p:nvPr/>
        </p:nvSpPr>
        <p:spPr>
          <a:xfrm>
            <a:off x="8275320" y="4846320"/>
            <a:ext cx="1554480" cy="502920"/>
          </a:xfrm>
          <a:prstGeom prst="roundRect">
            <a:avLst>
              <a:gd name="adj" fmla="val 14545"/>
            </a:avLst>
          </a:prstGeom>
          <a:solidFill>
            <a:srgbClr val="12301A"/>
          </a:solidFill>
          <a:ln w="12700">
            <a:solidFill>
              <a:srgbClr val="12301A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275320" y="48463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1FF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links</a:t>
            </a:r>
            <a:endParaRPr lang="en-US" sz="1500" dirty="0"/>
          </a:p>
        </p:txBody>
      </p:sp>
      <p:sp>
        <p:nvSpPr>
          <p:cNvPr id="37" name="Shape 34"/>
          <p:cNvSpPr/>
          <p:nvPr/>
        </p:nvSpPr>
        <p:spPr>
          <a:xfrm>
            <a:off x="9966960" y="4846320"/>
            <a:ext cx="1554480" cy="502920"/>
          </a:xfrm>
          <a:prstGeom prst="roundRect">
            <a:avLst>
              <a:gd name="adj" fmla="val 14545"/>
            </a:avLst>
          </a:prstGeom>
          <a:solidFill>
            <a:srgbClr val="12301A"/>
          </a:solidFill>
          <a:ln w="12700">
            <a:solidFill>
              <a:srgbClr val="12301A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9966960" y="48463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1FF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rechts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672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Bewährt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600200"/>
            <a:ext cx="5669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 Unis seit </a:t>
            </a:r>
            <a:pPr indent="0" marL="0">
              <a:lnSpc>
                <a:spcPct val="105000"/>
              </a:lnSpc>
              <a:buNone/>
            </a:pPr>
            <a:r>
              <a:rPr lang="en-US" sz="4400" dirty="0">
                <a:solidFill>
                  <a:srgbClr val="26720A"/>
                </a:solidFill>
                <a:highlight>
                  <a:srgbClr val="B1FF37"/>
                </a:highlight>
                <a:latin typeface="Poppins" pitchFamily="34" charset="0"/>
                <a:ea typeface="Poppins" pitchFamily="34" charset="-122"/>
                <a:cs typeface="Poppins" pitchFamily="34" charset="-120"/>
              </a:rPr>
              <a:t>Jahrzehnten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114800"/>
            <a:ext cx="5303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Der klassische Einstieg in die Programmierung.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6949440" y="914400"/>
            <a:ext cx="4206240" cy="1097280"/>
          </a:xfrm>
          <a:prstGeom prst="triangle">
            <a:avLst/>
          </a:prstGeom>
          <a:solidFill>
            <a:srgbClr val="12301A"/>
          </a:solidFill>
          <a:ln w="12700">
            <a:solidFill>
              <a:srgbClr val="12301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132320" y="2011680"/>
            <a:ext cx="3840480" cy="274320"/>
          </a:xfrm>
          <a:prstGeom prst="rect">
            <a:avLst/>
          </a:prstGeom>
          <a:solidFill>
            <a:srgbClr val="B1FF37"/>
          </a:solidFill>
          <a:ln w="25400">
            <a:solidFill>
              <a:srgbClr val="12301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406640" y="2377440"/>
            <a:ext cx="457200" cy="2011680"/>
          </a:xfrm>
          <a:prstGeom prst="rect">
            <a:avLst/>
          </a:prstGeom>
          <a:solidFill>
            <a:srgbClr val="DDF3B8"/>
          </a:solidFill>
          <a:ln w="25400">
            <a:solidFill>
              <a:srgbClr val="12301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321040" y="2377440"/>
            <a:ext cx="457200" cy="2011680"/>
          </a:xfrm>
          <a:prstGeom prst="rect">
            <a:avLst/>
          </a:prstGeom>
          <a:solidFill>
            <a:srgbClr val="DDF3B8"/>
          </a:solidFill>
          <a:ln w="25400">
            <a:solidFill>
              <a:srgbClr val="12301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235440" y="2377440"/>
            <a:ext cx="457200" cy="2011680"/>
          </a:xfrm>
          <a:prstGeom prst="rect">
            <a:avLst/>
          </a:prstGeom>
          <a:solidFill>
            <a:srgbClr val="DDF3B8"/>
          </a:solidFill>
          <a:ln w="25400">
            <a:solidFill>
              <a:srgbClr val="12301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149840" y="2377440"/>
            <a:ext cx="457200" cy="2011680"/>
          </a:xfrm>
          <a:prstGeom prst="rect">
            <a:avLst/>
          </a:prstGeom>
          <a:solidFill>
            <a:srgbClr val="DDF3B8"/>
          </a:solidFill>
          <a:ln w="25400">
            <a:solidFill>
              <a:srgbClr val="12301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949440" y="4389120"/>
            <a:ext cx="4206240" cy="365760"/>
          </a:xfrm>
          <a:prstGeom prst="rect">
            <a:avLst/>
          </a:prstGeom>
          <a:solidFill>
            <a:srgbClr val="12301A"/>
          </a:solidFill>
          <a:ln w="12700">
            <a:solidFill>
              <a:srgbClr val="12301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949440" y="5120640"/>
            <a:ext cx="4206240" cy="502920"/>
          </a:xfrm>
          <a:prstGeom prst="roundRect">
            <a:avLst>
              <a:gd name="adj" fmla="val 14545"/>
            </a:avLst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949440" y="512064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Uni · Einstieg · seit Jahrzehnten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6720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Das Problem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600200"/>
            <a:ext cx="5669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Download nötig – </a:t>
            </a:r>
            <a:pPr indent="0" marL="0">
              <a:lnSpc>
                <a:spcPct val="105000"/>
              </a:lnSpc>
              <a:buNone/>
            </a:pPr>
            <a:r>
              <a:rPr lang="en-US" sz="4200" dirty="0">
                <a:solidFill>
                  <a:srgbClr val="26720A"/>
                </a:solidFill>
                <a:highlight>
                  <a:srgbClr val="B1FF37"/>
                </a:highlight>
                <a:latin typeface="Poppins" pitchFamily="34" charset="0"/>
                <a:ea typeface="Poppins" pitchFamily="34" charset="-122"/>
                <a:cs typeface="Poppins" pitchFamily="34" charset="-120"/>
              </a:rPr>
              <a:t>kompliziert</a:t>
            </a:r>
            <a:endParaRPr lang="en-US" sz="4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114800"/>
            <a:ext cx="5303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5B6B5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Vor allem für SchülerInnen in Schulen nervig.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6583680" y="1005840"/>
            <a:ext cx="4937760" cy="3291840"/>
          </a:xfrm>
          <a:prstGeom prst="roundRect">
            <a:avLst>
              <a:gd name="adj" fmla="val 3333"/>
            </a:avLst>
          </a:prstGeom>
          <a:solidFill>
            <a:srgbClr val="FBFFF4"/>
          </a:solidFill>
          <a:ln w="25400">
            <a:solidFill>
              <a:srgbClr val="B8D98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583680" y="1005840"/>
            <a:ext cx="4937760" cy="640080"/>
          </a:xfrm>
          <a:prstGeom prst="roundRect">
            <a:avLst>
              <a:gd name="adj" fmla="val 17143"/>
            </a:avLst>
          </a:prstGeom>
          <a:solidFill>
            <a:srgbClr val="12301A"/>
          </a:solidFill>
          <a:ln w="12700">
            <a:solidFill>
              <a:srgbClr val="12301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592824" y="1371600"/>
            <a:ext cx="4919472" cy="274320"/>
          </a:xfrm>
          <a:prstGeom prst="rect">
            <a:avLst/>
          </a:prstGeom>
          <a:solidFill>
            <a:srgbClr val="12301A"/>
          </a:solidFill>
          <a:ln w="12700">
            <a:solidFill>
              <a:srgbClr val="12301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858000" y="10058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1FF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Installer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6858000" y="201168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Version herunterladen und installieren …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858000" y="3017520"/>
            <a:ext cx="4389120" cy="365760"/>
          </a:xfrm>
          <a:prstGeom prst="roundRect">
            <a:avLst>
              <a:gd name="adj" fmla="val 25000"/>
            </a:avLst>
          </a:prstGeom>
          <a:solidFill>
            <a:srgbClr val="DDF3B8"/>
          </a:solidFill>
          <a:ln w="12700">
            <a:solidFill>
              <a:srgbClr val="B8D98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858000" y="3017520"/>
            <a:ext cx="1828800" cy="365760"/>
          </a:xfrm>
          <a:prstGeom prst="roundRect">
            <a:avLst>
              <a:gd name="adj" fmla="val 25000"/>
            </a:avLst>
          </a:prstGeom>
          <a:solidFill>
            <a:srgbClr val="26720A"/>
          </a:solidFill>
          <a:ln w="12700">
            <a:solidFill>
              <a:srgbClr val="26720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863840" y="4754880"/>
            <a:ext cx="3108960" cy="548640"/>
          </a:xfrm>
          <a:prstGeom prst="roundRect">
            <a:avLst>
              <a:gd name="adj" fmla="val 13333"/>
            </a:avLst>
          </a:prstGeom>
          <a:solidFill>
            <a:srgbClr val="FF7A45"/>
          </a:solidFill>
          <a:ln w="12700">
            <a:solidFill>
              <a:srgbClr val="FF7A4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863840" y="47548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nervig in der Schule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1FF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Meine Alternative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600200"/>
            <a:ext cx="5669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dirty="0">
                <a:solidFill>
                  <a:srgbClr val="EFFBD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Kostenlos </a:t>
            </a:r>
            <a:pPr indent="0" marL="0">
              <a:lnSpc>
                <a:spcPct val="105000"/>
              </a:lnSpc>
              <a:buNone/>
            </a:pPr>
            <a:r>
              <a:rPr lang="en-US" sz="4400" dirty="0">
                <a:solidFill>
                  <a:srgbClr val="B1FF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im Browser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3931920"/>
            <a:ext cx="5303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A9C79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Läuft völlig kostenlos im Internet, ohne Download.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6583680" y="914400"/>
            <a:ext cx="4937760" cy="4480560"/>
          </a:xfrm>
          <a:prstGeom prst="roundRect">
            <a:avLst>
              <a:gd name="adj" fmla="val 2449"/>
            </a:avLst>
          </a:prstGeom>
          <a:solidFill>
            <a:srgbClr val="FBFFF4"/>
          </a:solidFill>
          <a:ln w="25400">
            <a:solidFill>
              <a:srgbClr val="B8D98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583680" y="914400"/>
            <a:ext cx="4937760" cy="640080"/>
          </a:xfrm>
          <a:prstGeom prst="roundRect">
            <a:avLst>
              <a:gd name="adj" fmla="val 17143"/>
            </a:avLst>
          </a:prstGeom>
          <a:solidFill>
            <a:srgbClr val="1B4527"/>
          </a:solidFill>
          <a:ln w="19050">
            <a:solidFill>
              <a:srgbClr val="2F6B3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784848" y="1161288"/>
            <a:ext cx="146304" cy="146304"/>
          </a:xfrm>
          <a:prstGeom prst="ellipse">
            <a:avLst/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040880" y="1161288"/>
            <a:ext cx="146304" cy="146304"/>
          </a:xfrm>
          <a:prstGeom prst="ellipse">
            <a:avLst/>
          </a:prstGeom>
          <a:solidFill>
            <a:srgbClr val="6FCF3C"/>
          </a:solidFill>
          <a:ln w="12700">
            <a:solidFill>
              <a:srgbClr val="6FCF3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296912" y="1161288"/>
            <a:ext cx="146304" cy="146304"/>
          </a:xfrm>
          <a:prstGeom prst="ellipse">
            <a:avLst/>
          </a:prstGeom>
          <a:solidFill>
            <a:srgbClr val="B8D98A"/>
          </a:solidFill>
          <a:ln w="12700">
            <a:solidFill>
              <a:srgbClr val="B8D98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863840" y="1051560"/>
            <a:ext cx="3474720" cy="365760"/>
          </a:xfrm>
          <a:prstGeom prst="roundRect">
            <a:avLst>
              <a:gd name="adj" fmla="val 25000"/>
            </a:avLst>
          </a:prstGeom>
          <a:solidFill>
            <a:srgbClr val="DDF3B8"/>
          </a:solidFill>
          <a:ln w="12700">
            <a:solidFill>
              <a:srgbClr val="B8D98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315200" y="1828800"/>
            <a:ext cx="868680" cy="868680"/>
          </a:xfrm>
          <a:prstGeom prst="rect">
            <a:avLst/>
          </a:prstGeom>
          <a:solidFill>
            <a:srgbClr val="FBFFF4"/>
          </a:solidFill>
          <a:ln w="12700">
            <a:solidFill>
              <a:srgbClr val="B8D98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183880" y="1828800"/>
            <a:ext cx="868680" cy="868680"/>
          </a:xfrm>
          <a:prstGeom prst="rect">
            <a:avLst/>
          </a:prstGeom>
          <a:solidFill>
            <a:srgbClr val="DDF3B8"/>
          </a:solidFill>
          <a:ln w="12700">
            <a:solidFill>
              <a:srgbClr val="B8D98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9052560" y="1828800"/>
            <a:ext cx="868680" cy="868680"/>
          </a:xfrm>
          <a:prstGeom prst="rect">
            <a:avLst/>
          </a:prstGeom>
          <a:solidFill>
            <a:srgbClr val="FBFFF4"/>
          </a:solidFill>
          <a:ln w="12700">
            <a:solidFill>
              <a:srgbClr val="B8D98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9921240" y="1828800"/>
            <a:ext cx="868680" cy="868680"/>
          </a:xfrm>
          <a:prstGeom prst="rect">
            <a:avLst/>
          </a:prstGeom>
          <a:solidFill>
            <a:srgbClr val="DDF3B8"/>
          </a:solidFill>
          <a:ln w="12700">
            <a:solidFill>
              <a:srgbClr val="B8D98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315200" y="2697480"/>
            <a:ext cx="868680" cy="868680"/>
          </a:xfrm>
          <a:prstGeom prst="rect">
            <a:avLst/>
          </a:prstGeom>
          <a:solidFill>
            <a:srgbClr val="DDF3B8"/>
          </a:solidFill>
          <a:ln w="12700">
            <a:solidFill>
              <a:srgbClr val="B8D98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183880" y="2697480"/>
            <a:ext cx="868680" cy="868680"/>
          </a:xfrm>
          <a:prstGeom prst="rect">
            <a:avLst/>
          </a:prstGeom>
          <a:solidFill>
            <a:srgbClr val="FBFFF4"/>
          </a:solidFill>
          <a:ln w="12700">
            <a:solidFill>
              <a:srgbClr val="B8D98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052560" y="2697480"/>
            <a:ext cx="868680" cy="868680"/>
          </a:xfrm>
          <a:prstGeom prst="rect">
            <a:avLst/>
          </a:prstGeom>
          <a:solidFill>
            <a:srgbClr val="DDF3B8"/>
          </a:solidFill>
          <a:ln w="12700">
            <a:solidFill>
              <a:srgbClr val="B8D98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921240" y="2697480"/>
            <a:ext cx="868680" cy="868680"/>
          </a:xfrm>
          <a:prstGeom prst="rect">
            <a:avLst/>
          </a:prstGeom>
          <a:solidFill>
            <a:srgbClr val="FBFFF4"/>
          </a:solidFill>
          <a:ln w="12700">
            <a:solidFill>
              <a:srgbClr val="B8D98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315200" y="3566160"/>
            <a:ext cx="868680" cy="868680"/>
          </a:xfrm>
          <a:prstGeom prst="rect">
            <a:avLst/>
          </a:prstGeom>
          <a:solidFill>
            <a:srgbClr val="FBFFF4"/>
          </a:solidFill>
          <a:ln w="12700">
            <a:solidFill>
              <a:srgbClr val="B8D98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183880" y="3566160"/>
            <a:ext cx="868680" cy="868680"/>
          </a:xfrm>
          <a:prstGeom prst="rect">
            <a:avLst/>
          </a:prstGeom>
          <a:solidFill>
            <a:srgbClr val="DDF3B8"/>
          </a:solidFill>
          <a:ln w="12700">
            <a:solidFill>
              <a:srgbClr val="B8D98A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9052560" y="3566160"/>
            <a:ext cx="868680" cy="868680"/>
          </a:xfrm>
          <a:prstGeom prst="rect">
            <a:avLst/>
          </a:prstGeom>
          <a:solidFill>
            <a:srgbClr val="FBFFF4"/>
          </a:solidFill>
          <a:ln w="12700">
            <a:solidFill>
              <a:srgbClr val="B8D98A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9921240" y="3566160"/>
            <a:ext cx="868680" cy="868680"/>
          </a:xfrm>
          <a:prstGeom prst="rect">
            <a:avLst/>
          </a:prstGeom>
          <a:solidFill>
            <a:srgbClr val="DDF3B8"/>
          </a:solidFill>
          <a:ln w="12700">
            <a:solidFill>
              <a:srgbClr val="B8D98A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744968" y="2774290"/>
            <a:ext cx="0" cy="102413"/>
          </a:xfrm>
          <a:prstGeom prst="line">
            <a:avLst/>
          </a:prstGeom>
          <a:noFill/>
          <a:ln w="38100">
            <a:solidFill>
              <a:srgbClr val="12301A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7701077" y="2715768"/>
            <a:ext cx="87782" cy="87782"/>
          </a:xfrm>
          <a:prstGeom prst="ellipse">
            <a:avLst/>
          </a:prstGeom>
          <a:solidFill>
            <a:srgbClr val="B1FF37"/>
          </a:solidFill>
          <a:ln w="25400">
            <a:solidFill>
              <a:srgbClr val="12301A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379208" y="2862072"/>
            <a:ext cx="731520" cy="570586"/>
          </a:xfrm>
          <a:prstGeom prst="roundRect">
            <a:avLst>
              <a:gd name="adj" fmla="val 23077"/>
            </a:avLst>
          </a:prstGeom>
          <a:solidFill>
            <a:srgbClr val="12301A"/>
          </a:solidFill>
          <a:ln w="12700">
            <a:solidFill>
              <a:srgbClr val="12301A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532827" y="3044952"/>
            <a:ext cx="131674" cy="131674"/>
          </a:xfrm>
          <a:prstGeom prst="ellipse">
            <a:avLst/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825435" y="3044952"/>
            <a:ext cx="131674" cy="131674"/>
          </a:xfrm>
          <a:prstGeom prst="ellipse">
            <a:avLst/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584034" y="3271723"/>
            <a:ext cx="321869" cy="58522"/>
          </a:xfrm>
          <a:prstGeom prst="roundRect">
            <a:avLst>
              <a:gd name="adj" fmla="val 46875"/>
            </a:avLst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9326880" y="4617720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B1FF37"/>
          </a:solidFill>
          <a:ln w="12700">
            <a:solidFill>
              <a:srgbClr val="B1FF37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9326880" y="46177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F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kostenlos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leverbox Gruen">
  <a:themeElements>
    <a:clrScheme name="Cleverbox Gruen">
      <a:dk1>
        <a:srgbClr val="0E1F0C"/>
      </a:dk1>
      <a:lt1>
        <a:srgbClr val="FBFFF4"/>
      </a:lt1>
      <a:dk2>
        <a:srgbClr val="12301A"/>
      </a:dk2>
      <a:lt2>
        <a:srgbClr val="EFFBDC"/>
      </a:lt2>
      <a:accent1>
        <a:srgbClr val="B1FF37"/>
      </a:accent1>
      <a:accent2>
        <a:srgbClr val="26720A"/>
      </a:accent2>
      <a:accent3>
        <a:srgbClr val="DDF3B8"/>
      </a:accent3>
      <a:accent4>
        <a:srgbClr val="5B6B50"/>
      </a:accent4>
      <a:accent5>
        <a:srgbClr val="FF7A45"/>
      </a:accent5>
      <a:accent6>
        <a:srgbClr val="B8D98A"/>
      </a:accent6>
      <a:hlink>
        <a:srgbClr val="26720A"/>
      </a:hlink>
      <a:folHlink>
        <a:srgbClr val="5B6B50"/>
      </a:folHlink>
    </a:clrScheme>
    <a:fontScheme name="Cleverbox Gruen">
      <a:majorFont>
        <a:latin typeface="Poppi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oppi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Programmieren lernen – Denken vor Syntax</dc:title>
  <dc:subject>PptxGenJS Presentation</dc:subject>
  <dc:creator>Cleverbox</dc:creator>
  <cp:lastModifiedBy>Cleverbox</cp:lastModifiedBy>
  <cp:revision>1</cp:revision>
  <dcterms:created xsi:type="dcterms:W3CDTF">2026-10-24T13:50:37Z</dcterms:created>
  <dcterms:modified xsi:type="dcterms:W3CDTF">2026-10-24T13:50:37Z</dcterms:modified>
</cp:coreProperties>
</file>