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01: Rechteck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02: Quadrat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03: Rechtwinkliges Dreieck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04: Parallelogramm (Grundseite 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05: Parallelogramm (Grundseite b)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06: Raute (Seite a, Höhe 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07: Raute (Diagonalen e, f)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08: Trapez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09: Deltoid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10: Allgemeines Dreieck (Grundseite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11: Allgemeines Dreieck (Grundseite 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12: Allgemeines Dreieck (Grundseite b)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 01 Fläche Rechteck"/>
          <p:cNvSpPr/>
          <p:nvPr/>
        </p:nvSpPr>
        <p:spPr>
          <a:xfrm>
            <a:off x="3817620" y="2133600"/>
            <a:ext cx="4556760" cy="2590800"/>
          </a:xfrm>
          <a:prstGeom prst="roundRect">
            <a:avLst>
              <a:gd name="adj" fmla="val 12353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1 Text 1"/>
          <p:cNvSpPr txBox="1"/>
          <p:nvPr/>
        </p:nvSpPr>
        <p:spPr>
          <a:xfrm>
            <a:off x="4381500" y="2895600"/>
            <a:ext cx="3435191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</a:t>
            </a:r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· b</a:t>
            </a:r>
            <a:endParaRPr lang="en-US" sz="6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 02 Fläche Quadrat"/>
          <p:cNvSpPr/>
          <p:nvPr/>
        </p:nvSpPr>
        <p:spPr>
          <a:xfrm>
            <a:off x="3836670" y="2133600"/>
            <a:ext cx="4518660" cy="2590800"/>
          </a:xfrm>
          <a:prstGeom prst="roundRect">
            <a:avLst>
              <a:gd name="adj" fmla="val 12353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2 Text 1"/>
          <p:cNvSpPr txBox="1"/>
          <p:nvPr/>
        </p:nvSpPr>
        <p:spPr>
          <a:xfrm>
            <a:off x="4400550" y="2895600"/>
            <a:ext cx="339268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</a:t>
            </a:r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· a</a:t>
            </a:r>
            <a:endParaRPr lang="en-US" sz="6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 03 Fläche Rechtwinkliges Dreieck"/>
          <p:cNvSpPr/>
          <p:nvPr/>
        </p:nvSpPr>
        <p:spPr>
          <a:xfrm>
            <a:off x="3627120" y="2133600"/>
            <a:ext cx="4937760" cy="2590800"/>
          </a:xfrm>
          <a:prstGeom prst="roundRect">
            <a:avLst>
              <a:gd name="adj" fmla="val 12353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3 Text 1"/>
          <p:cNvSpPr txBox="1"/>
          <p:nvPr/>
        </p:nvSpPr>
        <p:spPr>
          <a:xfrm>
            <a:off x="4191000" y="2895600"/>
            <a:ext cx="1712238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</a:t>
            </a:r>
            <a:endParaRPr lang="en-US" sz="6000" dirty="0"/>
          </a:p>
        </p:txBody>
      </p:sp>
      <p:sp>
        <p:nvSpPr>
          <p:cNvPr id="5" name="Formel 03 Text 2"/>
          <p:cNvSpPr txBox="1"/>
          <p:nvPr/>
        </p:nvSpPr>
        <p:spPr>
          <a:xfrm>
            <a:off x="6002298" y="2392680"/>
            <a:ext cx="1814393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· b</a:t>
            </a:r>
            <a:endParaRPr lang="en-US" sz="6000" dirty="0"/>
          </a:p>
        </p:txBody>
      </p:sp>
      <p:sp>
        <p:nvSpPr>
          <p:cNvPr id="6" name="Formel 03 Text 3"/>
          <p:cNvSpPr txBox="1"/>
          <p:nvPr/>
        </p:nvSpPr>
        <p:spPr>
          <a:xfrm>
            <a:off x="6594991" y="3429000"/>
            <a:ext cx="629007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6000" dirty="0"/>
          </a:p>
        </p:txBody>
      </p:sp>
      <p:sp>
        <p:nvSpPr>
          <p:cNvPr id="7" name="Formel 03 Bruchstrich"/>
          <p:cNvSpPr/>
          <p:nvPr/>
        </p:nvSpPr>
        <p:spPr>
          <a:xfrm>
            <a:off x="5857518" y="3398520"/>
            <a:ext cx="2103953" cy="60960"/>
          </a:xfrm>
          <a:prstGeom prst="rect">
            <a:avLst/>
          </a:prstGeom>
          <a:solidFill>
            <a:srgbClr val="8DBBF2"/>
          </a:solidFill>
          <a:ln w="12700">
            <a:solidFill>
              <a:srgbClr val="8DBBF2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 04 Fläche Parallelogramm (Grundseite a)"/>
          <p:cNvSpPr/>
          <p:nvPr/>
        </p:nvSpPr>
        <p:spPr>
          <a:xfrm>
            <a:off x="3665220" y="2133600"/>
            <a:ext cx="4861560" cy="2590800"/>
          </a:xfrm>
          <a:prstGeom prst="roundRect">
            <a:avLst>
              <a:gd name="adj" fmla="val 12353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4 Text 1"/>
          <p:cNvSpPr txBox="1"/>
          <p:nvPr/>
        </p:nvSpPr>
        <p:spPr>
          <a:xfrm>
            <a:off x="4229100" y="2895600"/>
            <a:ext cx="3738205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</a:t>
            </a:r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· </a:t>
            </a:r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0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6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 05 Fläche Parallelogramm (Grundseite b)"/>
          <p:cNvSpPr/>
          <p:nvPr/>
        </p:nvSpPr>
        <p:spPr>
          <a:xfrm>
            <a:off x="3630930" y="2133600"/>
            <a:ext cx="4930140" cy="2590800"/>
          </a:xfrm>
          <a:prstGeom prst="roundRect">
            <a:avLst>
              <a:gd name="adj" fmla="val 12353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5 Text 1"/>
          <p:cNvSpPr txBox="1"/>
          <p:nvPr/>
        </p:nvSpPr>
        <p:spPr>
          <a:xfrm>
            <a:off x="4194810" y="2895600"/>
            <a:ext cx="3807262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</a:t>
            </a:r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 · </a:t>
            </a:r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0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6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 06 Fläche Raute (Seite a, Höhe h)"/>
          <p:cNvSpPr/>
          <p:nvPr/>
        </p:nvSpPr>
        <p:spPr>
          <a:xfrm>
            <a:off x="3821430" y="2133600"/>
            <a:ext cx="4549140" cy="2590800"/>
          </a:xfrm>
          <a:prstGeom prst="roundRect">
            <a:avLst>
              <a:gd name="adj" fmla="val 12353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6 Text 1"/>
          <p:cNvSpPr txBox="1"/>
          <p:nvPr/>
        </p:nvSpPr>
        <p:spPr>
          <a:xfrm>
            <a:off x="4385310" y="2895600"/>
            <a:ext cx="3428524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</a:t>
            </a:r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· h</a:t>
            </a:r>
            <a:endParaRPr lang="en-US" sz="6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 07 Fläche Raute (Diagonalen e, f)"/>
          <p:cNvSpPr/>
          <p:nvPr/>
        </p:nvSpPr>
        <p:spPr>
          <a:xfrm>
            <a:off x="3718560" y="2133600"/>
            <a:ext cx="4754880" cy="2590800"/>
          </a:xfrm>
          <a:prstGeom prst="roundRect">
            <a:avLst>
              <a:gd name="adj" fmla="val 12353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7 Text 1"/>
          <p:cNvSpPr txBox="1"/>
          <p:nvPr/>
        </p:nvSpPr>
        <p:spPr>
          <a:xfrm>
            <a:off x="4282440" y="2895600"/>
            <a:ext cx="1712238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</a:t>
            </a:r>
            <a:endParaRPr lang="en-US" sz="6000" dirty="0"/>
          </a:p>
        </p:txBody>
      </p:sp>
      <p:sp>
        <p:nvSpPr>
          <p:cNvPr id="5" name="Formel 07 Text 2"/>
          <p:cNvSpPr txBox="1"/>
          <p:nvPr/>
        </p:nvSpPr>
        <p:spPr>
          <a:xfrm>
            <a:off x="6093738" y="2392680"/>
            <a:ext cx="1628894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· f</a:t>
            </a:r>
            <a:endParaRPr lang="en-US" sz="6000" dirty="0"/>
          </a:p>
        </p:txBody>
      </p:sp>
      <p:sp>
        <p:nvSpPr>
          <p:cNvPr id="6" name="Formel 07 Text 3"/>
          <p:cNvSpPr txBox="1"/>
          <p:nvPr/>
        </p:nvSpPr>
        <p:spPr>
          <a:xfrm>
            <a:off x="6593681" y="3429000"/>
            <a:ext cx="629007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6000" dirty="0"/>
          </a:p>
        </p:txBody>
      </p:sp>
      <p:sp>
        <p:nvSpPr>
          <p:cNvPr id="7" name="Formel 07 Bruchstrich"/>
          <p:cNvSpPr/>
          <p:nvPr/>
        </p:nvSpPr>
        <p:spPr>
          <a:xfrm>
            <a:off x="5948958" y="3398520"/>
            <a:ext cx="1918454" cy="60960"/>
          </a:xfrm>
          <a:prstGeom prst="rect">
            <a:avLst/>
          </a:prstGeom>
          <a:solidFill>
            <a:srgbClr val="8DBBF2"/>
          </a:solidFill>
          <a:ln w="12700">
            <a:solidFill>
              <a:srgbClr val="8DBBF2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 08 Fläche Trapez"/>
          <p:cNvSpPr/>
          <p:nvPr/>
        </p:nvSpPr>
        <p:spPr>
          <a:xfrm>
            <a:off x="2571750" y="2133600"/>
            <a:ext cx="7048500" cy="2590800"/>
          </a:xfrm>
          <a:prstGeom prst="roundRect">
            <a:avLst>
              <a:gd name="adj" fmla="val 12353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8 Text 1"/>
          <p:cNvSpPr txBox="1"/>
          <p:nvPr/>
        </p:nvSpPr>
        <p:spPr>
          <a:xfrm>
            <a:off x="3135630" y="2895600"/>
            <a:ext cx="1712238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</a:t>
            </a:r>
            <a:endParaRPr lang="en-US" sz="6000" dirty="0"/>
          </a:p>
        </p:txBody>
      </p:sp>
      <p:sp>
        <p:nvSpPr>
          <p:cNvPr id="5" name="Formel 08 Text 2"/>
          <p:cNvSpPr txBox="1"/>
          <p:nvPr/>
        </p:nvSpPr>
        <p:spPr>
          <a:xfrm>
            <a:off x="4946928" y="2392680"/>
            <a:ext cx="392608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(a + c) · h</a:t>
            </a:r>
            <a:endParaRPr lang="en-US" sz="6000" dirty="0"/>
          </a:p>
        </p:txBody>
      </p:sp>
      <p:sp>
        <p:nvSpPr>
          <p:cNvPr id="6" name="Formel 08 Text 3"/>
          <p:cNvSpPr txBox="1"/>
          <p:nvPr/>
        </p:nvSpPr>
        <p:spPr>
          <a:xfrm>
            <a:off x="6595467" y="3429000"/>
            <a:ext cx="629007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6000" dirty="0"/>
          </a:p>
        </p:txBody>
      </p:sp>
      <p:sp>
        <p:nvSpPr>
          <p:cNvPr id="7" name="Formel 08 Bruchstrich"/>
          <p:cNvSpPr/>
          <p:nvPr/>
        </p:nvSpPr>
        <p:spPr>
          <a:xfrm>
            <a:off x="4802148" y="3398520"/>
            <a:ext cx="4215646" cy="60960"/>
          </a:xfrm>
          <a:prstGeom prst="rect">
            <a:avLst/>
          </a:prstGeom>
          <a:solidFill>
            <a:srgbClr val="8DBBF2"/>
          </a:solidFill>
          <a:ln w="12700">
            <a:solidFill>
              <a:srgbClr val="8DBBF2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 09 Fläche Deltoid"/>
          <p:cNvSpPr/>
          <p:nvPr/>
        </p:nvSpPr>
        <p:spPr>
          <a:xfrm>
            <a:off x="3718560" y="2133600"/>
            <a:ext cx="4754880" cy="2590800"/>
          </a:xfrm>
          <a:prstGeom prst="roundRect">
            <a:avLst>
              <a:gd name="adj" fmla="val 12353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9 Text 1"/>
          <p:cNvSpPr txBox="1"/>
          <p:nvPr/>
        </p:nvSpPr>
        <p:spPr>
          <a:xfrm>
            <a:off x="4282440" y="2895600"/>
            <a:ext cx="1712238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</a:t>
            </a:r>
            <a:endParaRPr lang="en-US" sz="6000" dirty="0"/>
          </a:p>
        </p:txBody>
      </p:sp>
      <p:sp>
        <p:nvSpPr>
          <p:cNvPr id="5" name="Formel 09 Text 2"/>
          <p:cNvSpPr txBox="1"/>
          <p:nvPr/>
        </p:nvSpPr>
        <p:spPr>
          <a:xfrm>
            <a:off x="6093738" y="2392680"/>
            <a:ext cx="1628894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· f</a:t>
            </a:r>
            <a:endParaRPr lang="en-US" sz="6000" dirty="0"/>
          </a:p>
        </p:txBody>
      </p:sp>
      <p:sp>
        <p:nvSpPr>
          <p:cNvPr id="6" name="Formel 09 Text 3"/>
          <p:cNvSpPr txBox="1"/>
          <p:nvPr/>
        </p:nvSpPr>
        <p:spPr>
          <a:xfrm>
            <a:off x="6593681" y="3429000"/>
            <a:ext cx="629007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6000" dirty="0"/>
          </a:p>
        </p:txBody>
      </p:sp>
      <p:sp>
        <p:nvSpPr>
          <p:cNvPr id="7" name="Formel 09 Bruchstrich"/>
          <p:cNvSpPr/>
          <p:nvPr/>
        </p:nvSpPr>
        <p:spPr>
          <a:xfrm>
            <a:off x="5948958" y="3398520"/>
            <a:ext cx="1918454" cy="60960"/>
          </a:xfrm>
          <a:prstGeom prst="rect">
            <a:avLst/>
          </a:prstGeom>
          <a:solidFill>
            <a:srgbClr val="8DBBF2"/>
          </a:solidFill>
          <a:ln w="12700">
            <a:solidFill>
              <a:srgbClr val="8DBBF2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 10 Fläche Allgemeines Dreieck (Grundseite c)"/>
          <p:cNvSpPr/>
          <p:nvPr/>
        </p:nvSpPr>
        <p:spPr>
          <a:xfrm>
            <a:off x="3467100" y="2133600"/>
            <a:ext cx="5257800" cy="2590800"/>
          </a:xfrm>
          <a:prstGeom prst="roundRect">
            <a:avLst>
              <a:gd name="adj" fmla="val 12353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10 Text 1"/>
          <p:cNvSpPr txBox="1"/>
          <p:nvPr/>
        </p:nvSpPr>
        <p:spPr>
          <a:xfrm>
            <a:off x="4030980" y="2895600"/>
            <a:ext cx="1712238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</a:t>
            </a:r>
            <a:endParaRPr lang="en-US" sz="6000" dirty="0"/>
          </a:p>
        </p:txBody>
      </p:sp>
      <p:sp>
        <p:nvSpPr>
          <p:cNvPr id="5" name="Formel 10 Text 2"/>
          <p:cNvSpPr txBox="1"/>
          <p:nvPr/>
        </p:nvSpPr>
        <p:spPr>
          <a:xfrm>
            <a:off x="5842278" y="2392680"/>
            <a:ext cx="2128242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 · </a:t>
            </a:r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0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endParaRPr lang="en-US" sz="6000" dirty="0"/>
          </a:p>
        </p:txBody>
      </p:sp>
      <p:sp>
        <p:nvSpPr>
          <p:cNvPr id="6" name="Formel 10 Text 3"/>
          <p:cNvSpPr txBox="1"/>
          <p:nvPr/>
        </p:nvSpPr>
        <p:spPr>
          <a:xfrm>
            <a:off x="6591895" y="3429000"/>
            <a:ext cx="629007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6000" dirty="0"/>
          </a:p>
        </p:txBody>
      </p:sp>
      <p:sp>
        <p:nvSpPr>
          <p:cNvPr id="7" name="Formel 10 Bruchstrich"/>
          <p:cNvSpPr/>
          <p:nvPr/>
        </p:nvSpPr>
        <p:spPr>
          <a:xfrm>
            <a:off x="5697498" y="3398520"/>
            <a:ext cx="2417802" cy="60960"/>
          </a:xfrm>
          <a:prstGeom prst="rect">
            <a:avLst/>
          </a:prstGeom>
          <a:solidFill>
            <a:srgbClr val="8DBBF2"/>
          </a:solidFill>
          <a:ln w="12700">
            <a:solidFill>
              <a:srgbClr val="8DBBF2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 11 Fläche Allgemeines Dreieck (Grundseite a)"/>
          <p:cNvSpPr/>
          <p:nvPr/>
        </p:nvSpPr>
        <p:spPr>
          <a:xfrm>
            <a:off x="3474720" y="2133600"/>
            <a:ext cx="5242560" cy="2590800"/>
          </a:xfrm>
          <a:prstGeom prst="roundRect">
            <a:avLst>
              <a:gd name="adj" fmla="val 12353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11 Text 1"/>
          <p:cNvSpPr txBox="1"/>
          <p:nvPr/>
        </p:nvSpPr>
        <p:spPr>
          <a:xfrm>
            <a:off x="4038600" y="2895600"/>
            <a:ext cx="1712238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</a:t>
            </a:r>
            <a:endParaRPr lang="en-US" sz="6000" dirty="0"/>
          </a:p>
        </p:txBody>
      </p:sp>
      <p:sp>
        <p:nvSpPr>
          <p:cNvPr id="5" name="Formel 11 Text 2"/>
          <p:cNvSpPr txBox="1"/>
          <p:nvPr/>
        </p:nvSpPr>
        <p:spPr>
          <a:xfrm>
            <a:off x="5849898" y="2392680"/>
            <a:ext cx="2117408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· </a:t>
            </a:r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0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6000" dirty="0"/>
          </a:p>
        </p:txBody>
      </p:sp>
      <p:sp>
        <p:nvSpPr>
          <p:cNvPr id="6" name="Formel 11 Text 3"/>
          <p:cNvSpPr txBox="1"/>
          <p:nvPr/>
        </p:nvSpPr>
        <p:spPr>
          <a:xfrm>
            <a:off x="6594098" y="3429000"/>
            <a:ext cx="629007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6000" dirty="0"/>
          </a:p>
        </p:txBody>
      </p:sp>
      <p:sp>
        <p:nvSpPr>
          <p:cNvPr id="7" name="Formel 11 Bruchstrich"/>
          <p:cNvSpPr/>
          <p:nvPr/>
        </p:nvSpPr>
        <p:spPr>
          <a:xfrm>
            <a:off x="5705118" y="3398520"/>
            <a:ext cx="2406968" cy="60960"/>
          </a:xfrm>
          <a:prstGeom prst="rect">
            <a:avLst/>
          </a:prstGeom>
          <a:solidFill>
            <a:srgbClr val="8DBBF2"/>
          </a:solidFill>
          <a:ln w="12700">
            <a:solidFill>
              <a:srgbClr val="8DBBF2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 12 Fläche Allgemeines Dreieck (Grundseite b)"/>
          <p:cNvSpPr/>
          <p:nvPr/>
        </p:nvSpPr>
        <p:spPr>
          <a:xfrm>
            <a:off x="3440430" y="2133600"/>
            <a:ext cx="5311140" cy="2590800"/>
          </a:xfrm>
          <a:prstGeom prst="roundRect">
            <a:avLst>
              <a:gd name="adj" fmla="val 12353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12 Text 1"/>
          <p:cNvSpPr txBox="1"/>
          <p:nvPr/>
        </p:nvSpPr>
        <p:spPr>
          <a:xfrm>
            <a:off x="4004310" y="2895600"/>
            <a:ext cx="1712238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</a:t>
            </a:r>
            <a:endParaRPr lang="en-US" sz="6000" dirty="0"/>
          </a:p>
        </p:txBody>
      </p:sp>
      <p:sp>
        <p:nvSpPr>
          <p:cNvPr id="5" name="Formel 12 Text 2"/>
          <p:cNvSpPr txBox="1"/>
          <p:nvPr/>
        </p:nvSpPr>
        <p:spPr>
          <a:xfrm>
            <a:off x="5815608" y="2392680"/>
            <a:ext cx="2186464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 · </a:t>
            </a:r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0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6000" dirty="0"/>
          </a:p>
        </p:txBody>
      </p:sp>
      <p:sp>
        <p:nvSpPr>
          <p:cNvPr id="6" name="Formel 12 Text 3"/>
          <p:cNvSpPr txBox="1"/>
          <p:nvPr/>
        </p:nvSpPr>
        <p:spPr>
          <a:xfrm>
            <a:off x="6594336" y="3429000"/>
            <a:ext cx="629007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6000" dirty="0"/>
          </a:p>
        </p:txBody>
      </p:sp>
      <p:sp>
        <p:nvSpPr>
          <p:cNvPr id="7" name="Formel 12 Bruchstrich"/>
          <p:cNvSpPr/>
          <p:nvPr/>
        </p:nvSpPr>
        <p:spPr>
          <a:xfrm>
            <a:off x="5670828" y="3398520"/>
            <a:ext cx="2476024" cy="60960"/>
          </a:xfrm>
          <a:prstGeom prst="rect">
            <a:avLst/>
          </a:prstGeom>
          <a:solidFill>
            <a:srgbClr val="8DBBF2"/>
          </a:solidFill>
          <a:ln w="12700">
            <a:solidFill>
              <a:srgbClr val="8DBBF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Flächeninhalt – Formeln</dc:title>
  <dc:subject>PptxGenJS Presentation</dc:subject>
  <dc:creator>PptxGenJS</dc:creator>
  <cp:lastModifiedBy>PptxGenJS</cp:lastModifiedBy>
  <cp:revision>1</cp:revision>
  <dcterms:created xsi:type="dcterms:W3CDTF">2026-10-22T16:54:20Z</dcterms:created>
  <dcterms:modified xsi:type="dcterms:W3CDTF">2026-10-22T16:54:20Z</dcterms:modified>
</cp:coreProperties>
</file>