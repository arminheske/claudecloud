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1 – Skript: Personalbedarf und Personalbeschaffung. Jedes Unternehmen ist nur so gut wie seine Mitarbeiter.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2 – Skript: Aber wie findet ein Unternehmen genau die Person, die wirklich passt? Genau das schauen wir uns jetzt an: vom Personalbedarf bis zum unterschriebenen Arbeitsvertrag.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3 – Skript: Das Ziel ist einfach: Die Anforderungen des Unternehmens sollen so gut wie möglich mit den Qualifikationen der Bewerber übereinstimmen.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4 – Skript: Die Stellen optimal zu besetzen ist eine der zentralen Herausforderungen in jedem Unternehmen.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5 – Skript: Am Anfang steht die Frage: Haben wir zu wenig oder zu viel Personal?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6 – Skript: In beiden Fällen muss das Unternehmen handeln. Dazu gehört auch die Personalentwicklung, also Umschulung und Weiterbildung der Mitarbeiter.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7 – Skript: Ist neues Personal nötig, dauert der Prozess oft mehrere Wochen bis Monate und läuft in mehreren Schritten 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8 – Skript: Die Grundlage ist die Stellenbeschreibung. Sie enthält die wichtigsten Informationen zur Stelle, die Zielsetzung, die Haupt- und Einzelaufgaben, die Verantwortlichkeiten und Befugnisse sowie die Anforderungen an den Stelleninhaber.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9 – Skript: Daraus entsteht das Anforderungsprofil. Dort stehen die Kompetenzen, also die Fähigkeiten und Fertigkeiten, die man braucht, um die Aufgaben optimal zu erfüllen.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10 – Skript: Die Personalabteilung schreibt daraus die Stellenanzeige. Sie ist der erste Kontakt zwischen Dienstgeber und möglichem Dienstnehmer.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11 – Skript: Wichtig sind vier Dinge: Dienstgeber und Dienstort, die Stelle mit Anforderungen und Qualifikationen, die Bezahlung, mindestens das Mindestgehalt laut Kollektivvertrag, und die Bewerbungsmöglichkeit mit Ansprechperson.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12 – Skript: Veröffentlichen kann man die Anzeige auf vielen Wegen: am Schwarzen Brett im eigenen Unternehmen, auf der Firmenwebsite, auf Internet-Plattformen wie stepstone oder karriere.at, über Social Media, in Zeitung, Radio und Fernsehen, durch Aushänge an Schulen und Universitäten oder über das 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13 – Skript: Jobsuchende wählen die Anzeigen, die sie ansprechen, und bewerben sich mit drei Teilen: dem Bewerbungsschreiben, dem Lebenslauf mit Foto und den Beilagen, also Zeugnissen und weiteren Qualifikationen.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14 – Skript: Im Bewerbungsschreiben zeigt man sein Interesse an der Stelle. Dafür liest man die Anzeige genau und überlegt, welche Fähigkeiten und Kenntnisse man mitbringt.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15 – Skript: Der Lebenslauf muss übersichtlich und vollständig sein, vor allem bei Ausbildung und Berufserfahrung.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16 – Skript: Beim Unternehmen werden alle Bewerbungen geprüft. Formal schaut man auf Vollständigkeit, Sauberkeit, korrekte Rechtschreibung und den Gesamteindruck.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17 – Skript: Inhaltlich zählen Informationen, Stil, berufliche Entwicklung, Lücken im Lebenslauf, die Häufigkeit von Jobwechseln, Referenzen und vor allem: Passen die Qualifikationen zum Anforderungsprofil?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18 – Skript: Wer überzeugt, wird zum Vorstellungsgespräch eingeladen. Dort lernt man sich persönlich kennen. Dazu kommen je nach Unternehmen weitere Auswahlverfahren.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19 – Skript: Hat sich das Unternehmen entschieden, werden Eintrittsdatum, Arbeitszeit und Gehalt vereinbart, und der Arbeitsvertrag wird unterschrieben.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20 – Skript: Fassen wir zusammen: Bedarf feststellen, Stelle beschreiben, Anforderungsprofil erstellen, Anzeige schalten, Bewerbungen prüfen, Gespräche führen, Vertrag abschließen.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21 – Skript: So finden Unternehmen die richtige Person für die richtige Stelle. Danke fürs Zuschauen!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D8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A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Digitale Grundbildung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D7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Digitale Grundbildung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N">
    <p:bg>
      <p:bgPr>
        <a:solidFill>
          <a:srgbClr val="5FE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Digitale Grundbildung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5C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Betriebswirtschaft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Personalbedarf und 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A5C66"/>
                </a:solidFill>
                <a:highlight>
                  <a:srgbClr val="5FE0E6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Personalbeschaffung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57200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A6A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Jedes Unternehmen ist nur so gut wie seine Mitarbeiter.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1463040"/>
            <a:ext cx="4937760" cy="3108960"/>
          </a:xfrm>
          <a:prstGeom prst="roundRect">
            <a:avLst>
              <a:gd name="adj" fmla="val 4412"/>
            </a:avLst>
          </a:prstGeom>
          <a:solidFill>
            <a:srgbClr val="F3FCFC"/>
          </a:solidFill>
          <a:ln w="15875">
            <a:solidFill>
              <a:srgbClr val="9FCFD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040880" y="2194560"/>
            <a:ext cx="365760" cy="365760"/>
          </a:xfrm>
          <a:prstGeom prst="ellipse">
            <a:avLst/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0" y="2618842"/>
            <a:ext cx="731520" cy="453542"/>
          </a:xfrm>
          <a:prstGeom prst="roundRect">
            <a:avLst>
              <a:gd name="adj" fmla="val 45161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55280" y="2194560"/>
            <a:ext cx="365760" cy="365760"/>
          </a:xfrm>
          <a:prstGeom prst="ellipse">
            <a:avLst/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0" y="2618842"/>
            <a:ext cx="731520" cy="453542"/>
          </a:xfrm>
          <a:prstGeom prst="roundRect">
            <a:avLst>
              <a:gd name="adj" fmla="val 45161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869680" y="2194560"/>
            <a:ext cx="365760" cy="365760"/>
          </a:xfrm>
          <a:prstGeom prst="ellipse">
            <a:avLst/>
          </a:prstGeom>
          <a:solidFill>
            <a:srgbClr val="5FE0E6"/>
          </a:solidFill>
          <a:ln w="12700">
            <a:solidFill>
              <a:srgbClr val="5FE0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0" y="2618842"/>
            <a:ext cx="731520" cy="453542"/>
          </a:xfrm>
          <a:prstGeom prst="roundRect">
            <a:avLst>
              <a:gd name="adj" fmla="val 45161"/>
            </a:avLst>
          </a:prstGeom>
          <a:solidFill>
            <a:srgbClr val="5FE0E6"/>
          </a:solidFill>
          <a:ln w="12700">
            <a:solidFill>
              <a:srgbClr val="5FE0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784080" y="2194560"/>
            <a:ext cx="365760" cy="365760"/>
          </a:xfrm>
          <a:prstGeom prst="ellipse">
            <a:avLst/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601200" y="2618842"/>
            <a:ext cx="731520" cy="453542"/>
          </a:xfrm>
          <a:prstGeom prst="roundRect">
            <a:avLst>
              <a:gd name="adj" fmla="val 45161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698480" y="2194560"/>
            <a:ext cx="365760" cy="365760"/>
          </a:xfrm>
          <a:prstGeom prst="ellipse">
            <a:avLst/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515600" y="2618842"/>
            <a:ext cx="731520" cy="453542"/>
          </a:xfrm>
          <a:prstGeom prst="roundRect">
            <a:avLst>
              <a:gd name="adj" fmla="val 45161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59368" y="1691640"/>
            <a:ext cx="457200" cy="457200"/>
          </a:xfrm>
          <a:prstGeom prst="star5">
            <a:avLst/>
          </a:prstGeom>
          <a:solidFill>
            <a:srgbClr val="5FE0E6"/>
          </a:solidFill>
          <a:ln w="25400">
            <a:solidFill>
              <a:srgbClr val="0F3A4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680960" y="374904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680960" y="3749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FE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Mitarbeiter:innen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5C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 Thema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Wie findet ein Unternehmen 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A5C66"/>
                </a:solidFill>
                <a:highlight>
                  <a:srgbClr val="5FE0E6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genau die Person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die passt?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48056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A6A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Vom Personalbedarf bis zum unterschriebenen Arbeitsvertrag.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315200" y="1645920"/>
            <a:ext cx="0" cy="3566160"/>
          </a:xfrm>
          <a:prstGeom prst="line">
            <a:avLst/>
          </a:prstGeom>
          <a:noFill/>
          <a:ln w="50800">
            <a:solidFill>
              <a:srgbClr val="0A5C66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7214616" y="2002536"/>
            <a:ext cx="201168" cy="201168"/>
          </a:xfrm>
          <a:prstGeom prst="ellipse">
            <a:avLst/>
          </a:prstGeom>
          <a:solidFill>
            <a:srgbClr val="2F7C85"/>
          </a:solidFill>
          <a:ln w="12700">
            <a:solidFill>
              <a:srgbClr val="2F7C8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14616" y="2779776"/>
            <a:ext cx="201168" cy="201168"/>
          </a:xfrm>
          <a:prstGeom prst="ellipse">
            <a:avLst/>
          </a:prstGeom>
          <a:solidFill>
            <a:srgbClr val="2F7C85"/>
          </a:solidFill>
          <a:ln w="12700">
            <a:solidFill>
              <a:srgbClr val="2F7C8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214616" y="3557016"/>
            <a:ext cx="201168" cy="201168"/>
          </a:xfrm>
          <a:prstGeom prst="ellipse">
            <a:avLst/>
          </a:prstGeom>
          <a:solidFill>
            <a:srgbClr val="2F7C85"/>
          </a:solidFill>
          <a:ln w="12700">
            <a:solidFill>
              <a:srgbClr val="2F7C8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214616" y="4334256"/>
            <a:ext cx="201168" cy="201168"/>
          </a:xfrm>
          <a:prstGeom prst="ellipse">
            <a:avLst/>
          </a:prstGeom>
          <a:solidFill>
            <a:srgbClr val="2F7C85"/>
          </a:solidFill>
          <a:ln w="12700">
            <a:solidFill>
              <a:srgbClr val="2F7C8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214616" y="5111496"/>
            <a:ext cx="201168" cy="201168"/>
          </a:xfrm>
          <a:prstGeom prst="ellipse">
            <a:avLst/>
          </a:prstGeom>
          <a:solidFill>
            <a:srgbClr val="2F7C85"/>
          </a:solidFill>
          <a:ln w="12700">
            <a:solidFill>
              <a:srgbClr val="2F7C8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995160" y="1051560"/>
            <a:ext cx="640080" cy="640080"/>
          </a:xfrm>
          <a:prstGeom prst="ellipse">
            <a:avLst/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995160" y="10972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FE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955280" y="1051560"/>
            <a:ext cx="3566160" cy="640080"/>
          </a:xfrm>
          <a:prstGeom prst="roundRect">
            <a:avLst>
              <a:gd name="adj" fmla="val 17143"/>
            </a:avLst>
          </a:prstGeom>
          <a:solidFill>
            <a:srgbClr val="5FE0E6"/>
          </a:solidFill>
          <a:ln w="12700">
            <a:solidFill>
              <a:srgbClr val="5FE0E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55280" y="10515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Personalbedarf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6995160" y="5120640"/>
            <a:ext cx="640080" cy="640080"/>
          </a:xfrm>
          <a:prstGeom prst="ellipse">
            <a:avLst/>
          </a:prstGeom>
          <a:solidFill>
            <a:srgbClr val="5FE0E6"/>
          </a:solidFill>
          <a:ln w="25400">
            <a:solidFill>
              <a:srgbClr val="0F3A4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150608" y="5276088"/>
            <a:ext cx="329184" cy="329184"/>
          </a:xfrm>
          <a:prstGeom prst="rect">
            <a:avLst/>
          </a:prstGeom>
          <a:solidFill>
            <a:srgbClr val="F3FCFC"/>
          </a:solidFill>
          <a:ln w="25400">
            <a:solidFill>
              <a:srgbClr val="0F3A4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955280" y="5120640"/>
            <a:ext cx="3566160" cy="640080"/>
          </a:xfrm>
          <a:prstGeom prst="roundRect">
            <a:avLst>
              <a:gd name="adj" fmla="val 17143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955280" y="51206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FE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Arbeitsvertrag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5C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 Ziel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Anforderungen und Qualifikationen sollen </a:t>
            </a:r>
            <a:pPr indent="0" marL="0">
              <a:lnSpc>
                <a:spcPct val="105000"/>
              </a:lnSpc>
              <a:buNone/>
            </a:pPr>
            <a:r>
              <a:rPr lang="en-US" sz="3600" dirty="0">
                <a:solidFill>
                  <a:srgbClr val="0A5C66"/>
                </a:solidFill>
                <a:highlight>
                  <a:srgbClr val="5FE0E6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übereinstimmen.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38912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A6A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gut wie möglich.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1097280"/>
            <a:ext cx="3017520" cy="3017520"/>
          </a:xfrm>
          <a:prstGeom prst="ellipse">
            <a:avLst/>
          </a:prstGeom>
          <a:solidFill>
            <a:srgbClr val="BFE8EA">
              <a:alpha val="80000"/>
            </a:srgbClr>
          </a:solidFill>
          <a:ln w="31750">
            <a:solidFill>
              <a:srgbClr val="0A5C6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503920" y="1097280"/>
            <a:ext cx="3017520" cy="3017520"/>
          </a:xfrm>
          <a:prstGeom prst="ellipse">
            <a:avLst/>
          </a:prstGeom>
          <a:solidFill>
            <a:srgbClr val="5FE0E6">
              <a:alpha val="65000"/>
            </a:srgbClr>
          </a:solidFill>
          <a:ln w="31750">
            <a:solidFill>
              <a:srgbClr val="0A5C6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503920" y="21031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Passt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43891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Anforderungen des Unternehmens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052560" y="43891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Qualifikationen der Bewerber:innen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5C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 Herausforderung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Stellen 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A5C66"/>
                </a:solidFill>
                <a:highlight>
                  <a:srgbClr val="5FE0E6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optimal besetzen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in jedem Unternehmen.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38912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A6A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Eine der zentralen Herausforderungen.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955280" y="1005840"/>
            <a:ext cx="2194560" cy="731520"/>
          </a:xfrm>
          <a:prstGeom prst="roundRect">
            <a:avLst>
              <a:gd name="adj" fmla="val 15000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955280" y="10058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E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Unternehmen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052560" y="1737360"/>
            <a:ext cx="0" cy="457200"/>
          </a:xfrm>
          <a:prstGeom prst="line">
            <a:avLst/>
          </a:prstGeom>
          <a:noFill/>
          <a:ln w="38100">
            <a:solidFill>
              <a:srgbClr val="0F3A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35240" y="2194560"/>
            <a:ext cx="2834640" cy="0"/>
          </a:xfrm>
          <a:prstGeom prst="line">
            <a:avLst/>
          </a:prstGeom>
          <a:noFill/>
          <a:ln w="38100">
            <a:solidFill>
              <a:srgbClr val="0F3A4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35240" y="2194560"/>
            <a:ext cx="0" cy="365760"/>
          </a:xfrm>
          <a:prstGeom prst="line">
            <a:avLst/>
          </a:prstGeom>
          <a:noFill/>
          <a:ln w="38100">
            <a:solidFill>
              <a:srgbClr val="0F3A4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469880" y="2194560"/>
            <a:ext cx="0" cy="365760"/>
          </a:xfrm>
          <a:prstGeom prst="line">
            <a:avLst/>
          </a:prstGeom>
          <a:noFill/>
          <a:ln w="38100">
            <a:solidFill>
              <a:srgbClr val="0F3A4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766560" y="2560320"/>
            <a:ext cx="1737360" cy="731520"/>
          </a:xfrm>
          <a:prstGeom prst="roundRect">
            <a:avLst>
              <a:gd name="adj" fmla="val 15000"/>
            </a:avLst>
          </a:prstGeom>
          <a:solidFill>
            <a:srgbClr val="BFE8EA"/>
          </a:solidFill>
          <a:ln w="12700">
            <a:solidFill>
              <a:srgbClr val="BFE8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766560" y="25603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Abteilung A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9601200" y="2560320"/>
            <a:ext cx="1737360" cy="731520"/>
          </a:xfrm>
          <a:prstGeom prst="roundRect">
            <a:avLst>
              <a:gd name="adj" fmla="val 15000"/>
            </a:avLst>
          </a:prstGeom>
          <a:solidFill>
            <a:srgbClr val="BFE8EA"/>
          </a:solidFill>
          <a:ln w="12700">
            <a:solidFill>
              <a:srgbClr val="BFE8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601200" y="25603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Abteilung B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635240" y="3291840"/>
            <a:ext cx="0" cy="548640"/>
          </a:xfrm>
          <a:prstGeom prst="line">
            <a:avLst/>
          </a:prstGeom>
          <a:noFill/>
          <a:ln w="38100">
            <a:solidFill>
              <a:srgbClr val="0F3A4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469880" y="3291840"/>
            <a:ext cx="0" cy="548640"/>
          </a:xfrm>
          <a:prstGeom prst="line">
            <a:avLst/>
          </a:prstGeom>
          <a:noFill/>
          <a:ln w="38100">
            <a:solidFill>
              <a:srgbClr val="0F3A4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452360" y="3931920"/>
            <a:ext cx="365760" cy="365760"/>
          </a:xfrm>
          <a:prstGeom prst="ellipse">
            <a:avLst/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269480" y="4356202"/>
            <a:ext cx="731520" cy="453542"/>
          </a:xfrm>
          <a:prstGeom prst="roundRect">
            <a:avLst>
              <a:gd name="adj" fmla="val 45161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601200" y="3931920"/>
            <a:ext cx="1737360" cy="1097280"/>
          </a:xfrm>
          <a:prstGeom prst="roundRect">
            <a:avLst>
              <a:gd name="adj" fmla="val 10000"/>
            </a:avLst>
          </a:prstGeom>
          <a:solidFill>
            <a:srgbClr val="F3FCFC"/>
          </a:solidFill>
          <a:ln w="31750">
            <a:solidFill>
              <a:srgbClr val="FF7A45"/>
            </a:solidFill>
            <a:prstDash val="dash"/>
          </a:ln>
        </p:spPr>
      </p:sp>
      <p:sp>
        <p:nvSpPr>
          <p:cNvPr id="21" name="Text 18"/>
          <p:cNvSpPr txBox="1"/>
          <p:nvPr/>
        </p:nvSpPr>
        <p:spPr>
          <a:xfrm>
            <a:off x="9601200" y="39319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7A4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n-US" sz="3000" dirty="0"/>
          </a:p>
        </p:txBody>
      </p:sp>
      <p:sp>
        <p:nvSpPr>
          <p:cNvPr id="22" name="Text 19"/>
          <p:cNvSpPr txBox="1"/>
          <p:nvPr/>
        </p:nvSpPr>
        <p:spPr>
          <a:xfrm>
            <a:off x="9601200" y="4572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offene Stelle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5C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 Anfang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Haben wir zu </a:t>
            </a:r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0A5C66"/>
                </a:solidFill>
                <a:highlight>
                  <a:srgbClr val="5FE0E6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wenig</a:t>
            </a:r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oder zu </a:t>
            </a:r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0A5C66"/>
                </a:solidFill>
                <a:highlight>
                  <a:srgbClr val="5FE0E6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viel</a:t>
            </a:r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Personal?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6583680" y="914400"/>
            <a:ext cx="4937760" cy="2468880"/>
          </a:xfrm>
          <a:prstGeom prst="roundRect">
            <a:avLst>
              <a:gd name="adj" fmla="val 5556"/>
            </a:avLst>
          </a:prstGeom>
          <a:solidFill>
            <a:srgbClr val="F3FCFC"/>
          </a:solidFill>
          <a:ln w="15875">
            <a:solidFill>
              <a:srgbClr val="9FCFD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1228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zu wenig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109460" y="1645920"/>
            <a:ext cx="320040" cy="320040"/>
          </a:xfrm>
          <a:prstGeom prst="ellipse">
            <a:avLst/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949440" y="2017166"/>
            <a:ext cx="640080" cy="396850"/>
          </a:xfrm>
          <a:prstGeom prst="roundRect">
            <a:avLst>
              <a:gd name="adj" fmla="val 45161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023860" y="1645920"/>
            <a:ext cx="320040" cy="320040"/>
          </a:xfrm>
          <a:prstGeom prst="ellipse">
            <a:avLst/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863840" y="2017166"/>
            <a:ext cx="640080" cy="396850"/>
          </a:xfrm>
          <a:prstGeom prst="roundRect">
            <a:avLst>
              <a:gd name="adj" fmla="val 45161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38260" y="1645920"/>
            <a:ext cx="320040" cy="320040"/>
          </a:xfrm>
          <a:prstGeom prst="ellipse">
            <a:avLst/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778240" y="2017166"/>
            <a:ext cx="640080" cy="396850"/>
          </a:xfrm>
          <a:prstGeom prst="roundRect">
            <a:avLst>
              <a:gd name="adj" fmla="val 45161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852660" y="1645920"/>
            <a:ext cx="320040" cy="320040"/>
          </a:xfrm>
          <a:prstGeom prst="ellipse">
            <a:avLst/>
          </a:prstGeom>
          <a:solidFill>
            <a:srgbClr val="F3FCFC"/>
          </a:solidFill>
          <a:ln w="25400">
            <a:solidFill>
              <a:srgbClr val="FF7A45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9692640" y="2017166"/>
            <a:ext cx="640080" cy="396850"/>
          </a:xfrm>
          <a:prstGeom prst="roundRect">
            <a:avLst>
              <a:gd name="adj" fmla="val 45161"/>
            </a:avLst>
          </a:prstGeom>
          <a:solidFill>
            <a:srgbClr val="F3FCFC"/>
          </a:solidFill>
          <a:ln w="25400">
            <a:solidFill>
              <a:srgbClr val="FF7A45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10767060" y="1645920"/>
            <a:ext cx="320040" cy="320040"/>
          </a:xfrm>
          <a:prstGeom prst="ellipse">
            <a:avLst/>
          </a:prstGeom>
          <a:solidFill>
            <a:srgbClr val="F3FCFC"/>
          </a:solidFill>
          <a:ln w="25400">
            <a:solidFill>
              <a:srgbClr val="FF7A45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10607040" y="2017166"/>
            <a:ext cx="640080" cy="396850"/>
          </a:xfrm>
          <a:prstGeom prst="roundRect">
            <a:avLst>
              <a:gd name="adj" fmla="val 45161"/>
            </a:avLst>
          </a:prstGeom>
          <a:solidFill>
            <a:srgbClr val="F3FCFC"/>
          </a:solidFill>
          <a:ln w="25400">
            <a:solidFill>
              <a:srgbClr val="FF7A45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6812280" y="2926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6A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Beispiel: Stellen unbesetzt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3566160"/>
            <a:ext cx="4937760" cy="2468880"/>
          </a:xfrm>
          <a:prstGeom prst="roundRect">
            <a:avLst>
              <a:gd name="adj" fmla="val 5556"/>
            </a:avLst>
          </a:prstGeom>
          <a:solidFill>
            <a:srgbClr val="F3FCFC"/>
          </a:solidFill>
          <a:ln w="15875">
            <a:solidFill>
              <a:srgbClr val="9FCF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12280" y="3657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zu viel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6983730" y="4297680"/>
            <a:ext cx="297180" cy="297180"/>
          </a:xfrm>
          <a:prstGeom prst="ellipse">
            <a:avLst/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835140" y="4642409"/>
            <a:ext cx="594360" cy="368503"/>
          </a:xfrm>
          <a:prstGeom prst="roundRect">
            <a:avLst>
              <a:gd name="adj" fmla="val 45161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760970" y="4297680"/>
            <a:ext cx="297180" cy="297180"/>
          </a:xfrm>
          <a:prstGeom prst="ellipse">
            <a:avLst/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612380" y="4642409"/>
            <a:ext cx="594360" cy="368503"/>
          </a:xfrm>
          <a:prstGeom prst="roundRect">
            <a:avLst>
              <a:gd name="adj" fmla="val 45161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538210" y="4297680"/>
            <a:ext cx="297180" cy="297180"/>
          </a:xfrm>
          <a:prstGeom prst="ellipse">
            <a:avLst/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389620" y="4642409"/>
            <a:ext cx="594360" cy="368503"/>
          </a:xfrm>
          <a:prstGeom prst="roundRect">
            <a:avLst>
              <a:gd name="adj" fmla="val 45161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315450" y="4297680"/>
            <a:ext cx="297180" cy="297180"/>
          </a:xfrm>
          <a:prstGeom prst="ellipse">
            <a:avLst/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166860" y="4642409"/>
            <a:ext cx="594360" cy="368503"/>
          </a:xfrm>
          <a:prstGeom prst="roundRect">
            <a:avLst>
              <a:gd name="adj" fmla="val 45161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092690" y="4297680"/>
            <a:ext cx="297180" cy="297180"/>
          </a:xfrm>
          <a:prstGeom prst="ellipse">
            <a:avLst/>
          </a:prstGeom>
          <a:solidFill>
            <a:srgbClr val="FF7A45"/>
          </a:solidFill>
          <a:ln w="12700">
            <a:solidFill>
              <a:srgbClr val="FF7A4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944100" y="4642409"/>
            <a:ext cx="594360" cy="368503"/>
          </a:xfrm>
          <a:prstGeom prst="roundRect">
            <a:avLst>
              <a:gd name="adj" fmla="val 45161"/>
            </a:avLst>
          </a:prstGeom>
          <a:solidFill>
            <a:srgbClr val="FF7A45"/>
          </a:solidFill>
          <a:ln w="12700">
            <a:solidFill>
              <a:srgbClr val="FF7A4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869930" y="4297680"/>
            <a:ext cx="297180" cy="297180"/>
          </a:xfrm>
          <a:prstGeom prst="ellipse">
            <a:avLst/>
          </a:prstGeom>
          <a:solidFill>
            <a:srgbClr val="FF7A45"/>
          </a:solidFill>
          <a:ln w="12700">
            <a:solidFill>
              <a:srgbClr val="FF7A4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721340" y="4642409"/>
            <a:ext cx="594360" cy="368503"/>
          </a:xfrm>
          <a:prstGeom prst="roundRect">
            <a:avLst>
              <a:gd name="adj" fmla="val 45161"/>
            </a:avLst>
          </a:prstGeom>
          <a:solidFill>
            <a:srgbClr val="FF7A45"/>
          </a:solidFill>
          <a:ln w="12700">
            <a:solidFill>
              <a:srgbClr val="FF7A45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812280" y="55778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6A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Beispiel: mehr Personal als nötig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5C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Handeln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beiden Fällen muss das Unternehmen </a:t>
            </a:r>
            <a:pPr indent="0" marL="0">
              <a:lnSpc>
                <a:spcPct val="105000"/>
              </a:lnSpc>
              <a:buNone/>
            </a:pPr>
            <a:r>
              <a:rPr lang="en-US" sz="3600" dirty="0">
                <a:solidFill>
                  <a:srgbClr val="0A5C66"/>
                </a:solidFill>
                <a:highlight>
                  <a:srgbClr val="5FE0E6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handeln.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48056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A6A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Dazu gehört auch die Personalentwicklung.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4846320"/>
            <a:ext cx="1005840" cy="640080"/>
          </a:xfrm>
          <a:prstGeom prst="rect">
            <a:avLst/>
          </a:prstGeom>
          <a:solidFill>
            <a:srgbClr val="BFE8EA"/>
          </a:solidFill>
          <a:ln w="25400">
            <a:solidFill>
              <a:srgbClr val="0F3A4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589520" y="4206240"/>
            <a:ext cx="1005840" cy="1280160"/>
          </a:xfrm>
          <a:prstGeom prst="rect">
            <a:avLst/>
          </a:prstGeom>
          <a:solidFill>
            <a:srgbClr val="BFE8EA"/>
          </a:solidFill>
          <a:ln w="25400">
            <a:solidFill>
              <a:srgbClr val="0F3A4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595360" y="3566160"/>
            <a:ext cx="1005840" cy="1920240"/>
          </a:xfrm>
          <a:prstGeom prst="rect">
            <a:avLst/>
          </a:prstGeom>
          <a:solidFill>
            <a:srgbClr val="BFE8EA"/>
          </a:solidFill>
          <a:ln w="25400">
            <a:solidFill>
              <a:srgbClr val="0F3A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601200" y="2926080"/>
            <a:ext cx="1005840" cy="2560320"/>
          </a:xfrm>
          <a:prstGeom prst="rect">
            <a:avLst/>
          </a:prstGeom>
          <a:solidFill>
            <a:srgbClr val="5FE0E6"/>
          </a:solidFill>
          <a:ln w="25400">
            <a:solidFill>
              <a:srgbClr val="0F3A4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898380" y="2194560"/>
            <a:ext cx="320040" cy="320040"/>
          </a:xfrm>
          <a:prstGeom prst="ellipse">
            <a:avLst/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738360" y="2565806"/>
            <a:ext cx="640080" cy="396850"/>
          </a:xfrm>
          <a:prstGeom prst="roundRect">
            <a:avLst>
              <a:gd name="adj" fmla="val 45161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064240" y="2377440"/>
            <a:ext cx="365760" cy="1188720"/>
          </a:xfrm>
          <a:prstGeom prst="upArrow">
            <a:avLst/>
          </a:prstGeom>
          <a:solidFill>
            <a:srgbClr val="0A5C66"/>
          </a:solidFill>
          <a:ln w="12700">
            <a:solidFill>
              <a:srgbClr val="0A5C6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0" y="571500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83680" y="5715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FE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Umschulung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9144000" y="571500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44000" y="5715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FE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Weiterbildung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58368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5C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Personalentwicklung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5C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Neues Personal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Der Prozess dauert oft 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A5C66"/>
                </a:solidFill>
                <a:highlight>
                  <a:srgbClr val="5FE0E6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Wochen bis Monate.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38912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A6A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Und läuft in mehreren Schritten ab.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766560" y="1737360"/>
            <a:ext cx="4663440" cy="0"/>
          </a:xfrm>
          <a:prstGeom prst="line">
            <a:avLst/>
          </a:prstGeom>
          <a:noFill/>
          <a:ln w="38100">
            <a:solidFill>
              <a:srgbClr val="0F3A40"/>
            </a:solidFill>
            <a:prstDash val="solid"/>
            <a:headEnd type="triangle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6583680" y="1051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mehrere Wochen bis Monate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040880" y="2286000"/>
            <a:ext cx="0" cy="0"/>
          </a:xfrm>
          <a:prstGeom prst="line">
            <a:avLst/>
          </a:prstGeom>
          <a:noFill/>
          <a:ln w="12700">
            <a:solidFill>
              <a:srgbClr val="0F3A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12280" y="2240280"/>
            <a:ext cx="502920" cy="502920"/>
          </a:xfrm>
          <a:prstGeom prst="ellipse">
            <a:avLst/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122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E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754112" y="2286000"/>
            <a:ext cx="0" cy="0"/>
          </a:xfrm>
          <a:prstGeom prst="line">
            <a:avLst/>
          </a:prstGeom>
          <a:noFill/>
          <a:ln w="12700">
            <a:solidFill>
              <a:srgbClr val="0F3A4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525512" y="2240280"/>
            <a:ext cx="502920" cy="502920"/>
          </a:xfrm>
          <a:prstGeom prst="ellipse">
            <a:avLst/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525512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E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467344" y="2286000"/>
            <a:ext cx="0" cy="0"/>
          </a:xfrm>
          <a:prstGeom prst="line">
            <a:avLst/>
          </a:prstGeom>
          <a:noFill/>
          <a:ln w="12700">
            <a:solidFill>
              <a:srgbClr val="0F3A4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38744" y="2240280"/>
            <a:ext cx="502920" cy="502920"/>
          </a:xfrm>
          <a:prstGeom prst="ellipse">
            <a:avLst/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38744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E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9180576" y="2286000"/>
            <a:ext cx="0" cy="0"/>
          </a:xfrm>
          <a:prstGeom prst="line">
            <a:avLst/>
          </a:prstGeom>
          <a:noFill/>
          <a:ln w="12700">
            <a:solidFill>
              <a:srgbClr val="0F3A4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951976" y="2240280"/>
            <a:ext cx="502920" cy="502920"/>
          </a:xfrm>
          <a:prstGeom prst="ellipse">
            <a:avLst/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951976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E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9893808" y="2286000"/>
            <a:ext cx="0" cy="0"/>
          </a:xfrm>
          <a:prstGeom prst="line">
            <a:avLst/>
          </a:prstGeom>
          <a:noFill/>
          <a:ln w="12700">
            <a:solidFill>
              <a:srgbClr val="0F3A4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665208" y="2240280"/>
            <a:ext cx="502920" cy="502920"/>
          </a:xfrm>
          <a:prstGeom prst="ellipse">
            <a:avLst/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665208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E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0607040" y="2286000"/>
            <a:ext cx="0" cy="0"/>
          </a:xfrm>
          <a:prstGeom prst="line">
            <a:avLst/>
          </a:prstGeom>
          <a:noFill/>
          <a:ln w="12700">
            <a:solidFill>
              <a:srgbClr val="0F3A4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378440" y="2240280"/>
            <a:ext cx="502920" cy="502920"/>
          </a:xfrm>
          <a:prstGeom prst="ellipse">
            <a:avLst/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37844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E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1320272" y="2286000"/>
            <a:ext cx="0" cy="0"/>
          </a:xfrm>
          <a:prstGeom prst="line">
            <a:avLst/>
          </a:prstGeom>
          <a:noFill/>
          <a:ln w="12700">
            <a:solidFill>
              <a:srgbClr val="0F3A4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091672" y="2240280"/>
            <a:ext cx="502920" cy="502920"/>
          </a:xfrm>
          <a:prstGeom prst="ellipse">
            <a:avLst/>
          </a:prstGeom>
          <a:solidFill>
            <a:srgbClr val="5FE0E6"/>
          </a:solidFill>
          <a:ln w="12700">
            <a:solidFill>
              <a:srgbClr val="5FE0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583680" y="3200400"/>
            <a:ext cx="4937760" cy="2651760"/>
          </a:xfrm>
          <a:prstGeom prst="roundRect">
            <a:avLst>
              <a:gd name="adj" fmla="val 5172"/>
            </a:avLst>
          </a:prstGeom>
          <a:solidFill>
            <a:srgbClr val="F3FCFC"/>
          </a:solidFill>
          <a:ln w="15875">
            <a:solidFill>
              <a:srgbClr val="9FCFD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812280" y="3383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 Bedarf feststellen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812280" y="39502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 Stelle beschreiben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812280" y="451713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 Anforderungsprofil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812280" y="508406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 Anzeige schalten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9235440" y="3383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 Bewerbungen prüfen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9235440" y="39502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 Gespräche führen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9235440" y="451713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 Vertrag abschließen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5C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 Grundlage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 </a:t>
            </a:r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0A5C66"/>
                </a:solidFill>
                <a:highlight>
                  <a:srgbClr val="5FE0E6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Stellenbeschreibung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0624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A6A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Sie enthält alles Wichtige zur Stelle.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914400"/>
            <a:ext cx="4937760" cy="5212080"/>
          </a:xfrm>
          <a:prstGeom prst="roundRect">
            <a:avLst>
              <a:gd name="adj" fmla="val 2778"/>
            </a:avLst>
          </a:prstGeom>
          <a:solidFill>
            <a:srgbClr val="F3FCFC"/>
          </a:solidFill>
          <a:ln w="15875">
            <a:solidFill>
              <a:srgbClr val="9FCFD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0" y="914400"/>
            <a:ext cx="4937760" cy="502920"/>
          </a:xfrm>
          <a:prstGeom prst="roundRect">
            <a:avLst>
              <a:gd name="adj" fmla="val 27273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92824" y="1188720"/>
            <a:ext cx="4919472" cy="228600"/>
          </a:xfrm>
          <a:prstGeom prst="rect">
            <a:avLst/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20840" y="9144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E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Stellenbeschreibung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12280" y="1737360"/>
            <a:ext cx="457200" cy="457200"/>
          </a:xfrm>
          <a:prstGeom prst="ellipse">
            <a:avLst/>
          </a:prstGeom>
          <a:solidFill>
            <a:srgbClr val="5FE0E6"/>
          </a:solidFill>
          <a:ln w="12700">
            <a:solidFill>
              <a:srgbClr val="5FE0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122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498080" y="16459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 wichtigsten Informationen zur Stelle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812280" y="2395728"/>
            <a:ext cx="4480560" cy="0"/>
          </a:xfrm>
          <a:prstGeom prst="line">
            <a:avLst/>
          </a:prstGeom>
          <a:noFill/>
          <a:ln w="19050">
            <a:solidFill>
              <a:srgbClr val="BFE8E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12280" y="2606040"/>
            <a:ext cx="457200" cy="457200"/>
          </a:xfrm>
          <a:prstGeom prst="ellipse">
            <a:avLst/>
          </a:prstGeom>
          <a:solidFill>
            <a:srgbClr val="5FE0E6"/>
          </a:solidFill>
          <a:ln w="12700">
            <a:solidFill>
              <a:srgbClr val="5FE0E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1228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498080" y="25146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Zielsetzung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812280" y="3264408"/>
            <a:ext cx="4480560" cy="0"/>
          </a:xfrm>
          <a:prstGeom prst="line">
            <a:avLst/>
          </a:prstGeom>
          <a:noFill/>
          <a:ln w="19050">
            <a:solidFill>
              <a:srgbClr val="BFE8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812280" y="3474720"/>
            <a:ext cx="457200" cy="457200"/>
          </a:xfrm>
          <a:prstGeom prst="ellipse">
            <a:avLst/>
          </a:prstGeom>
          <a:solidFill>
            <a:srgbClr val="5FE0E6"/>
          </a:solidFill>
          <a:ln w="12700">
            <a:solidFill>
              <a:srgbClr val="5FE0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1228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498080" y="33832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Haupt- und Einzelaufgaben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812280" y="4133088"/>
            <a:ext cx="4480560" cy="0"/>
          </a:xfrm>
          <a:prstGeom prst="line">
            <a:avLst/>
          </a:prstGeom>
          <a:noFill/>
          <a:ln w="19050">
            <a:solidFill>
              <a:srgbClr val="BFE8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812280" y="4343400"/>
            <a:ext cx="457200" cy="457200"/>
          </a:xfrm>
          <a:prstGeom prst="ellipse">
            <a:avLst/>
          </a:prstGeom>
          <a:solidFill>
            <a:srgbClr val="5FE0E6"/>
          </a:solidFill>
          <a:ln w="12700">
            <a:solidFill>
              <a:srgbClr val="5FE0E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1228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7498080" y="42519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Verantwortlichkeiten und Befugnisse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812280" y="5001768"/>
            <a:ext cx="4480560" cy="0"/>
          </a:xfrm>
          <a:prstGeom prst="line">
            <a:avLst/>
          </a:prstGeom>
          <a:noFill/>
          <a:ln w="19050">
            <a:solidFill>
              <a:srgbClr val="BFE8E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812280" y="5212080"/>
            <a:ext cx="457200" cy="457200"/>
          </a:xfrm>
          <a:prstGeom prst="ellipse">
            <a:avLst/>
          </a:prstGeom>
          <a:solidFill>
            <a:srgbClr val="5FE0E6"/>
          </a:solidFill>
          <a:ln w="12700">
            <a:solidFill>
              <a:srgbClr val="5FE0E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81228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7498080" y="51206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Anforderungen an den Stelleninhaber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5C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 Anforderungsprofil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Daraus entsteht das 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A5C66"/>
                </a:solidFill>
                <a:highlight>
                  <a:srgbClr val="5FE0E6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Anforderungsprofil.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0624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A6A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Dort stehen die Kompetenzen: Fähigkeiten und Fertigkeiten für die optimale Erfüllung der Aufgaben.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1188720"/>
            <a:ext cx="1828800" cy="2377440"/>
          </a:xfrm>
          <a:prstGeom prst="roundRect">
            <a:avLst>
              <a:gd name="adj" fmla="val 7500"/>
            </a:avLst>
          </a:prstGeom>
          <a:solidFill>
            <a:srgbClr val="F3FCFC"/>
          </a:solidFill>
          <a:ln w="15875">
            <a:solidFill>
              <a:srgbClr val="9FCFD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629400" y="13716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Stellen-beschreibung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766560" y="2286000"/>
            <a:ext cx="1463040" cy="0"/>
          </a:xfrm>
          <a:prstGeom prst="line">
            <a:avLst/>
          </a:prstGeom>
          <a:noFill/>
          <a:ln w="25400">
            <a:solidFill>
              <a:srgbClr val="BFE8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766560" y="2651760"/>
            <a:ext cx="1463040" cy="0"/>
          </a:xfrm>
          <a:prstGeom prst="line">
            <a:avLst/>
          </a:prstGeom>
          <a:noFill/>
          <a:ln w="25400">
            <a:solidFill>
              <a:srgbClr val="BFE8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66560" y="3017520"/>
            <a:ext cx="1463040" cy="0"/>
          </a:xfrm>
          <a:prstGeom prst="line">
            <a:avLst/>
          </a:prstGeom>
          <a:noFill/>
          <a:ln w="25400">
            <a:solidFill>
              <a:srgbClr val="BFE8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03920" y="2148840"/>
            <a:ext cx="548640" cy="457200"/>
          </a:xfrm>
          <a:prstGeom prst="rightArrow">
            <a:avLst/>
          </a:prstGeom>
          <a:solidFill>
            <a:srgbClr val="0A5C66"/>
          </a:solidFill>
          <a:ln w="12700">
            <a:solidFill>
              <a:srgbClr val="0A5C6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144000" y="914400"/>
            <a:ext cx="2377440" cy="4572000"/>
          </a:xfrm>
          <a:prstGeom prst="roundRect">
            <a:avLst>
              <a:gd name="adj" fmla="val 5769"/>
            </a:avLst>
          </a:prstGeom>
          <a:solidFill>
            <a:srgbClr val="F3FCFC"/>
          </a:solidFill>
          <a:ln w="15875">
            <a:solidFill>
              <a:srgbClr val="9FCFD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44000" y="914400"/>
            <a:ext cx="2377440" cy="502920"/>
          </a:xfrm>
          <a:prstGeom prst="roundRect">
            <a:avLst>
              <a:gd name="adj" fmla="val 27273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53144" y="1188720"/>
            <a:ext cx="2359152" cy="228600"/>
          </a:xfrm>
          <a:prstGeom prst="rect">
            <a:avLst/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281160" y="914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E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Anforderungsprofil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9281160" y="173736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5FE0E6"/>
          </a:solidFill>
          <a:ln w="12700">
            <a:solidFill>
              <a:srgbClr val="5FE0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281160" y="1737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Fähigkeiten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9281160" y="2377440"/>
            <a:ext cx="2103120" cy="164592"/>
          </a:xfrm>
          <a:prstGeom prst="roundRect">
            <a:avLst>
              <a:gd name="adj" fmla="val 33333"/>
            </a:avLst>
          </a:prstGeom>
          <a:solidFill>
            <a:srgbClr val="BFE8EA"/>
          </a:solidFill>
          <a:ln w="12700">
            <a:solidFill>
              <a:srgbClr val="BFE8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281160" y="2697480"/>
            <a:ext cx="1645920" cy="164592"/>
          </a:xfrm>
          <a:prstGeom prst="roundRect">
            <a:avLst>
              <a:gd name="adj" fmla="val 33333"/>
            </a:avLst>
          </a:prstGeom>
          <a:solidFill>
            <a:srgbClr val="BFE8EA"/>
          </a:solidFill>
          <a:ln w="12700">
            <a:solidFill>
              <a:srgbClr val="BFE8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281160" y="3017520"/>
            <a:ext cx="1188720" cy="164592"/>
          </a:xfrm>
          <a:prstGeom prst="roundRect">
            <a:avLst>
              <a:gd name="adj" fmla="val 33333"/>
            </a:avLst>
          </a:prstGeom>
          <a:solidFill>
            <a:srgbClr val="BFE8EA"/>
          </a:solidFill>
          <a:ln w="12700">
            <a:solidFill>
              <a:srgbClr val="BFE8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281160" y="347472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5FE0E6"/>
          </a:solidFill>
          <a:ln w="12700">
            <a:solidFill>
              <a:srgbClr val="5FE0E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281160" y="3474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Fertigkeiten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9281160" y="4114800"/>
            <a:ext cx="2103120" cy="164592"/>
          </a:xfrm>
          <a:prstGeom prst="roundRect">
            <a:avLst>
              <a:gd name="adj" fmla="val 33333"/>
            </a:avLst>
          </a:prstGeom>
          <a:solidFill>
            <a:srgbClr val="BFE8EA"/>
          </a:solidFill>
          <a:ln w="12700">
            <a:solidFill>
              <a:srgbClr val="BFE8E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281160" y="4434840"/>
            <a:ext cx="1645920" cy="164592"/>
          </a:xfrm>
          <a:prstGeom prst="roundRect">
            <a:avLst>
              <a:gd name="adj" fmla="val 33333"/>
            </a:avLst>
          </a:prstGeom>
          <a:solidFill>
            <a:srgbClr val="BFE8EA"/>
          </a:solidFill>
          <a:ln w="12700">
            <a:solidFill>
              <a:srgbClr val="BFE8E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281160" y="4754880"/>
            <a:ext cx="1188720" cy="164592"/>
          </a:xfrm>
          <a:prstGeom prst="roundRect">
            <a:avLst>
              <a:gd name="adj" fmla="val 33333"/>
            </a:avLst>
          </a:prstGeom>
          <a:solidFill>
            <a:srgbClr val="BFE8EA"/>
          </a:solidFill>
          <a:ln w="12700">
            <a:solidFill>
              <a:srgbClr val="BFE8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144000" y="5623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5C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Kompetenzen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5C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 Stellenanzeige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 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A5C66"/>
                </a:solidFill>
                <a:highlight>
                  <a:srgbClr val="5FE0E6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Stellenanzeige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ist der erste Kontakt.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38912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A6A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Zwischen Dienstgeber und möglichem Dienstnehmer.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914400"/>
            <a:ext cx="3017520" cy="5120640"/>
          </a:xfrm>
          <a:prstGeom prst="roundRect">
            <a:avLst>
              <a:gd name="adj" fmla="val 4545"/>
            </a:avLst>
          </a:prstGeom>
          <a:solidFill>
            <a:srgbClr val="F3FCFC"/>
          </a:solidFill>
          <a:ln w="15875">
            <a:solidFill>
              <a:srgbClr val="9FCFD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0" y="914400"/>
            <a:ext cx="3017520" cy="502920"/>
          </a:xfrm>
          <a:prstGeom prst="roundRect">
            <a:avLst>
              <a:gd name="adj" fmla="val 27273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92824" y="1188720"/>
            <a:ext cx="2999232" cy="228600"/>
          </a:xfrm>
          <a:prstGeom prst="rect">
            <a:avLst/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20840" y="914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E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Stellenanzeige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766560" y="1600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Wir suchen dich!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886700" y="2377440"/>
            <a:ext cx="411480" cy="411480"/>
          </a:xfrm>
          <a:prstGeom prst="ellipse">
            <a:avLst/>
          </a:prstGeom>
          <a:solidFill>
            <a:srgbClr val="2F7C85"/>
          </a:solidFill>
          <a:ln w="12700">
            <a:solidFill>
              <a:srgbClr val="2F7C8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80960" y="2854757"/>
            <a:ext cx="822960" cy="510235"/>
          </a:xfrm>
          <a:prstGeom prst="roundRect">
            <a:avLst>
              <a:gd name="adj" fmla="val 45161"/>
            </a:avLst>
          </a:prstGeom>
          <a:solidFill>
            <a:srgbClr val="2F7C85"/>
          </a:solidFill>
          <a:ln w="12700">
            <a:solidFill>
              <a:srgbClr val="2F7C8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12280" y="3657600"/>
            <a:ext cx="2560320" cy="164592"/>
          </a:xfrm>
          <a:prstGeom prst="roundRect">
            <a:avLst>
              <a:gd name="adj" fmla="val 33333"/>
            </a:avLst>
          </a:prstGeom>
          <a:solidFill>
            <a:srgbClr val="BFE8EA"/>
          </a:solidFill>
          <a:ln w="12700">
            <a:solidFill>
              <a:srgbClr val="BFE8E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12280" y="4023360"/>
            <a:ext cx="2194560" cy="164592"/>
          </a:xfrm>
          <a:prstGeom prst="roundRect">
            <a:avLst>
              <a:gd name="adj" fmla="val 33333"/>
            </a:avLst>
          </a:prstGeom>
          <a:solidFill>
            <a:srgbClr val="BFE8EA"/>
          </a:solidFill>
          <a:ln w="12700">
            <a:solidFill>
              <a:srgbClr val="BFE8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12280" y="4389120"/>
            <a:ext cx="1828800" cy="164592"/>
          </a:xfrm>
          <a:prstGeom prst="roundRect">
            <a:avLst>
              <a:gd name="adj" fmla="val 33333"/>
            </a:avLst>
          </a:prstGeom>
          <a:solidFill>
            <a:srgbClr val="BFE8EA"/>
          </a:solidFill>
          <a:ln w="12700">
            <a:solidFill>
              <a:srgbClr val="BFE8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12280" y="4754880"/>
            <a:ext cx="1463040" cy="164592"/>
          </a:xfrm>
          <a:prstGeom prst="roundRect">
            <a:avLst>
              <a:gd name="adj" fmla="val 33333"/>
            </a:avLst>
          </a:prstGeom>
          <a:solidFill>
            <a:srgbClr val="BFE8EA"/>
          </a:solidFill>
          <a:ln w="12700">
            <a:solidFill>
              <a:srgbClr val="BFE8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469880" y="1097280"/>
            <a:ext cx="365760" cy="365760"/>
          </a:xfrm>
          <a:prstGeom prst="ellipse">
            <a:avLst/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287000" y="1521562"/>
            <a:ext cx="731520" cy="453542"/>
          </a:xfrm>
          <a:prstGeom prst="roundRect">
            <a:avLst>
              <a:gd name="adj" fmla="val 45161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78408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Dienstgeber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10469880" y="2743200"/>
            <a:ext cx="365760" cy="822960"/>
          </a:xfrm>
          <a:prstGeom prst="upArrow">
            <a:avLst/>
          </a:prstGeom>
          <a:solidFill>
            <a:srgbClr val="0A5C66"/>
          </a:solidFill>
          <a:ln w="12700">
            <a:solidFill>
              <a:srgbClr val="0A5C6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469880" y="2743200"/>
            <a:ext cx="365760" cy="822960"/>
          </a:xfrm>
          <a:prstGeom prst="downArrow">
            <a:avLst/>
          </a:prstGeom>
          <a:solidFill>
            <a:srgbClr val="0A5C66"/>
          </a:solidFill>
          <a:ln w="12700">
            <a:solidFill>
              <a:srgbClr val="0A5C6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469880" y="3794760"/>
            <a:ext cx="365760" cy="365760"/>
          </a:xfrm>
          <a:prstGeom prst="ellipse">
            <a:avLst/>
          </a:prstGeom>
          <a:solidFill>
            <a:srgbClr val="0A5C66"/>
          </a:solidFill>
          <a:ln w="12700">
            <a:solidFill>
              <a:srgbClr val="0A5C6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287000" y="4219042"/>
            <a:ext cx="731520" cy="453542"/>
          </a:xfrm>
          <a:prstGeom prst="roundRect">
            <a:avLst>
              <a:gd name="adj" fmla="val 45161"/>
            </a:avLst>
          </a:prstGeom>
          <a:solidFill>
            <a:srgbClr val="0A5C66"/>
          </a:solidFill>
          <a:ln w="12700">
            <a:solidFill>
              <a:srgbClr val="0A5C6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692640" y="4937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möglicher Dienstnehmer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5C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Wichtig sind vier Dinge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 gehört in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A5C66"/>
                </a:solidFill>
                <a:highlight>
                  <a:srgbClr val="5FE0E6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jede Stellenanzeige.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583680" y="914400"/>
            <a:ext cx="2377440" cy="2423160"/>
          </a:xfrm>
          <a:prstGeom prst="roundRect">
            <a:avLst>
              <a:gd name="adj" fmla="val 5769"/>
            </a:avLst>
          </a:prstGeom>
          <a:solidFill>
            <a:srgbClr val="F3FCFC"/>
          </a:solidFill>
          <a:ln w="15875">
            <a:solidFill>
              <a:srgbClr val="9FCFD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12280" y="1143000"/>
            <a:ext cx="548640" cy="548640"/>
          </a:xfrm>
          <a:prstGeom prst="ellipse">
            <a:avLst/>
          </a:prstGeom>
          <a:solidFill>
            <a:srgbClr val="5FE0E6"/>
          </a:solidFill>
          <a:ln w="12700">
            <a:solidFill>
              <a:srgbClr val="5FE0E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1228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812280" y="187452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Dienstgeber und Dienstort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144000" y="914400"/>
            <a:ext cx="2377440" cy="2423160"/>
          </a:xfrm>
          <a:prstGeom prst="roundRect">
            <a:avLst>
              <a:gd name="adj" fmla="val 5769"/>
            </a:avLst>
          </a:prstGeom>
          <a:solidFill>
            <a:srgbClr val="F3FCFC"/>
          </a:solidFill>
          <a:ln w="15875">
            <a:solidFill>
              <a:srgbClr val="9FCFD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372600" y="1143000"/>
            <a:ext cx="548640" cy="548640"/>
          </a:xfrm>
          <a:prstGeom prst="ellipse">
            <a:avLst/>
          </a:prstGeom>
          <a:solidFill>
            <a:srgbClr val="5FE0E6"/>
          </a:solidFill>
          <a:ln w="12700">
            <a:solidFill>
              <a:srgbClr val="5FE0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37260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9372600" y="187452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 Stelle mit Anforderungen und Qualifikationen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583680" y="3520440"/>
            <a:ext cx="2377440" cy="2423160"/>
          </a:xfrm>
          <a:prstGeom prst="roundRect">
            <a:avLst>
              <a:gd name="adj" fmla="val 5769"/>
            </a:avLst>
          </a:prstGeom>
          <a:solidFill>
            <a:srgbClr val="F3FCFC"/>
          </a:solidFill>
          <a:ln w="15875">
            <a:solidFill>
              <a:srgbClr val="9FCFD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12280" y="3749040"/>
            <a:ext cx="548640" cy="548640"/>
          </a:xfrm>
          <a:prstGeom prst="ellipse">
            <a:avLst/>
          </a:prstGeom>
          <a:solidFill>
            <a:srgbClr val="5FE0E6"/>
          </a:solidFill>
          <a:ln w="12700">
            <a:solidFill>
              <a:srgbClr val="5FE0E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1228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6812280" y="448056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 Bezahlung: mindestens das Mindestgehalt laut Kollektivvertrag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9144000" y="3520440"/>
            <a:ext cx="2377440" cy="2423160"/>
          </a:xfrm>
          <a:prstGeom prst="roundRect">
            <a:avLst>
              <a:gd name="adj" fmla="val 5769"/>
            </a:avLst>
          </a:prstGeom>
          <a:solidFill>
            <a:srgbClr val="F3FCFC"/>
          </a:solidFill>
          <a:ln w="15875">
            <a:solidFill>
              <a:srgbClr val="9FCFD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372600" y="3749040"/>
            <a:ext cx="548640" cy="548640"/>
          </a:xfrm>
          <a:prstGeom prst="ellipse">
            <a:avLst/>
          </a:prstGeom>
          <a:solidFill>
            <a:srgbClr val="5FE0E6"/>
          </a:solidFill>
          <a:ln w="12700">
            <a:solidFill>
              <a:srgbClr val="5FE0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37260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9372600" y="448056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Bewerbungs­möglichkeit mit Ansprechperson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5C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Veröffentlichen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 Anzeige kann man auf 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A5C66"/>
                </a:solidFill>
                <a:highlight>
                  <a:srgbClr val="5FE0E6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vielen Wegen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veröffentlichen.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8138160" y="1463040"/>
            <a:ext cx="548640" cy="1920240"/>
          </a:xfrm>
          <a:prstGeom prst="line">
            <a:avLst/>
          </a:prstGeom>
          <a:noFill/>
          <a:ln w="25400">
            <a:solidFill>
              <a:srgbClr val="9FCFD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138160" y="3383280"/>
            <a:ext cx="548640" cy="0"/>
          </a:xfrm>
          <a:prstGeom prst="line">
            <a:avLst/>
          </a:prstGeom>
          <a:noFill/>
          <a:ln w="25400">
            <a:solidFill>
              <a:srgbClr val="9FCFD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flipV="1">
            <a:off x="8138160" y="3383280"/>
            <a:ext cx="548640" cy="1920240"/>
          </a:xfrm>
          <a:prstGeom prst="line">
            <a:avLst/>
          </a:prstGeom>
          <a:noFill/>
          <a:ln w="25400">
            <a:solidFill>
              <a:srgbClr val="9FCFD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flipV="1">
            <a:off x="9601200" y="1188720"/>
            <a:ext cx="365760" cy="2194560"/>
          </a:xfrm>
          <a:prstGeom prst="line">
            <a:avLst/>
          </a:prstGeom>
          <a:noFill/>
          <a:ln w="25400">
            <a:solidFill>
              <a:srgbClr val="9FCFD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V="1">
            <a:off x="9601200" y="2606040"/>
            <a:ext cx="365760" cy="777240"/>
          </a:xfrm>
          <a:prstGeom prst="line">
            <a:avLst/>
          </a:prstGeom>
          <a:noFill/>
          <a:ln w="25400">
            <a:solidFill>
              <a:srgbClr val="9FCFD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01200" y="3383280"/>
            <a:ext cx="365760" cy="640080"/>
          </a:xfrm>
          <a:prstGeom prst="line">
            <a:avLst/>
          </a:prstGeom>
          <a:noFill/>
          <a:ln w="25400">
            <a:solidFill>
              <a:srgbClr val="9FCFD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01200" y="3383280"/>
            <a:ext cx="365760" cy="2057400"/>
          </a:xfrm>
          <a:prstGeom prst="line">
            <a:avLst/>
          </a:prstGeom>
          <a:noFill/>
          <a:ln w="25400">
            <a:solidFill>
              <a:srgbClr val="9FCFD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595360" y="2834640"/>
            <a:ext cx="1097280" cy="1097280"/>
          </a:xfrm>
          <a:prstGeom prst="ellipse">
            <a:avLst/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595360" y="3108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E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Anzeige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583680" y="1097280"/>
            <a:ext cx="1554480" cy="731520"/>
          </a:xfrm>
          <a:prstGeom prst="roundRect">
            <a:avLst>
              <a:gd name="adj" fmla="val 15000"/>
            </a:avLst>
          </a:prstGeom>
          <a:solidFill>
            <a:srgbClr val="5FE0E6"/>
          </a:solidFill>
          <a:ln w="12700">
            <a:solidFill>
              <a:srgbClr val="5FE0E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83680" y="10972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Schwarzes Brett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583680" y="3017520"/>
            <a:ext cx="1554480" cy="731520"/>
          </a:xfrm>
          <a:prstGeom prst="roundRect">
            <a:avLst>
              <a:gd name="adj" fmla="val 15000"/>
            </a:avLst>
          </a:prstGeom>
          <a:solidFill>
            <a:srgbClr val="BFE8EA"/>
          </a:solidFill>
          <a:ln w="12700">
            <a:solidFill>
              <a:srgbClr val="BFE8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0" y="30175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Firmen-website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4937760"/>
            <a:ext cx="1554480" cy="731520"/>
          </a:xfrm>
          <a:prstGeom prst="roundRect">
            <a:avLst>
              <a:gd name="adj" fmla="val 15000"/>
            </a:avLst>
          </a:prstGeom>
          <a:solidFill>
            <a:srgbClr val="5FE0E6"/>
          </a:solidFill>
          <a:ln w="12700">
            <a:solidFill>
              <a:srgbClr val="5FE0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49377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stepstone,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karriere.at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9966960" y="822960"/>
            <a:ext cx="1554480" cy="731520"/>
          </a:xfrm>
          <a:prstGeom prst="roundRect">
            <a:avLst>
              <a:gd name="adj" fmla="val 15000"/>
            </a:avLst>
          </a:prstGeom>
          <a:solidFill>
            <a:srgbClr val="BFE8EA"/>
          </a:solidFill>
          <a:ln w="12700">
            <a:solidFill>
              <a:srgbClr val="BFE8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966960" y="8229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Social Media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9966960" y="2240280"/>
            <a:ext cx="1554480" cy="731520"/>
          </a:xfrm>
          <a:prstGeom prst="roundRect">
            <a:avLst>
              <a:gd name="adj" fmla="val 15000"/>
            </a:avLst>
          </a:prstGeom>
          <a:solidFill>
            <a:srgbClr val="5FE0E6"/>
          </a:solidFill>
          <a:ln w="12700">
            <a:solidFill>
              <a:srgbClr val="5FE0E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966960" y="22402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Zeitung, Radio, TV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966960" y="3657600"/>
            <a:ext cx="1554480" cy="731520"/>
          </a:xfrm>
          <a:prstGeom prst="roundRect">
            <a:avLst>
              <a:gd name="adj" fmla="val 15000"/>
            </a:avLst>
          </a:prstGeom>
          <a:solidFill>
            <a:srgbClr val="BFE8EA"/>
          </a:solidFill>
          <a:ln w="12700">
            <a:solidFill>
              <a:srgbClr val="BFE8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966960" y="3657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Schulen &amp; Universitäten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9966960" y="5074920"/>
            <a:ext cx="1554480" cy="731520"/>
          </a:xfrm>
          <a:prstGeom prst="roundRect">
            <a:avLst>
              <a:gd name="adj" fmla="val 15000"/>
            </a:avLst>
          </a:prstGeom>
          <a:solidFill>
            <a:srgbClr val="5FE0E6"/>
          </a:solidFill>
          <a:ln w="12700">
            <a:solidFill>
              <a:srgbClr val="5FE0E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966960" y="50749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5C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 Bewerbung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Bewerben mit </a:t>
            </a:r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0A5C66"/>
                </a:solidFill>
                <a:highlight>
                  <a:srgbClr val="5FE0E6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drei Teilen.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0624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A6A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Jobsuchende wählen die Anzeigen, die sie ansprechen.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914400"/>
            <a:ext cx="1554480" cy="3108960"/>
          </a:xfrm>
          <a:prstGeom prst="roundRect">
            <a:avLst>
              <a:gd name="adj" fmla="val 8824"/>
            </a:avLst>
          </a:prstGeom>
          <a:solidFill>
            <a:srgbClr val="F3FCFC"/>
          </a:solidFill>
          <a:ln w="15875">
            <a:solidFill>
              <a:srgbClr val="9FCFD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66560" y="1371600"/>
            <a:ext cx="1188720" cy="0"/>
          </a:xfrm>
          <a:prstGeom prst="line">
            <a:avLst/>
          </a:prstGeom>
          <a:noFill/>
          <a:ln w="31750">
            <a:solidFill>
              <a:srgbClr val="BFE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766560" y="1737360"/>
            <a:ext cx="1188720" cy="0"/>
          </a:xfrm>
          <a:prstGeom prst="line">
            <a:avLst/>
          </a:prstGeom>
          <a:noFill/>
          <a:ln w="31750">
            <a:solidFill>
              <a:srgbClr val="BFE8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766560" y="2103120"/>
            <a:ext cx="1188720" cy="0"/>
          </a:xfrm>
          <a:prstGeom prst="line">
            <a:avLst/>
          </a:prstGeom>
          <a:noFill/>
          <a:ln w="31750">
            <a:solidFill>
              <a:srgbClr val="BFE8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66560" y="2468880"/>
            <a:ext cx="1188720" cy="0"/>
          </a:xfrm>
          <a:prstGeom prst="line">
            <a:avLst/>
          </a:prstGeom>
          <a:noFill/>
          <a:ln w="31750">
            <a:solidFill>
              <a:srgbClr val="BFE8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66560" y="2834640"/>
            <a:ext cx="1188720" cy="0"/>
          </a:xfrm>
          <a:prstGeom prst="line">
            <a:avLst/>
          </a:prstGeom>
          <a:noFill/>
          <a:ln w="31750">
            <a:solidFill>
              <a:srgbClr val="BFE8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766560" y="3200400"/>
            <a:ext cx="640080" cy="0"/>
          </a:xfrm>
          <a:prstGeom prst="line">
            <a:avLst/>
          </a:prstGeom>
          <a:noFill/>
          <a:ln w="31750">
            <a:solidFill>
              <a:srgbClr val="BFE8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83680" y="41148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Bewerbungs-schreiben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275320" y="914400"/>
            <a:ext cx="1554480" cy="3108960"/>
          </a:xfrm>
          <a:prstGeom prst="roundRect">
            <a:avLst>
              <a:gd name="adj" fmla="val 8824"/>
            </a:avLst>
          </a:prstGeom>
          <a:solidFill>
            <a:srgbClr val="F3FCFC"/>
          </a:solidFill>
          <a:ln w="15875">
            <a:solidFill>
              <a:srgbClr val="9FCFD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458200" y="1143000"/>
            <a:ext cx="548640" cy="685800"/>
          </a:xfrm>
          <a:prstGeom prst="rect">
            <a:avLst/>
          </a:prstGeom>
          <a:solidFill>
            <a:srgbClr val="2F7C85"/>
          </a:solidFill>
          <a:ln w="19050">
            <a:solidFill>
              <a:srgbClr val="0F3A4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144000" y="1234440"/>
            <a:ext cx="502920" cy="0"/>
          </a:xfrm>
          <a:prstGeom prst="line">
            <a:avLst/>
          </a:prstGeom>
          <a:noFill/>
          <a:ln w="31750">
            <a:solidFill>
              <a:srgbClr val="BFE8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144000" y="1554480"/>
            <a:ext cx="502920" cy="0"/>
          </a:xfrm>
          <a:prstGeom prst="line">
            <a:avLst/>
          </a:prstGeom>
          <a:noFill/>
          <a:ln w="31750">
            <a:solidFill>
              <a:srgbClr val="BFE8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144000" y="1874520"/>
            <a:ext cx="502920" cy="0"/>
          </a:xfrm>
          <a:prstGeom prst="line">
            <a:avLst/>
          </a:prstGeom>
          <a:noFill/>
          <a:ln w="31750">
            <a:solidFill>
              <a:srgbClr val="BFE8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458200" y="2194560"/>
            <a:ext cx="1188720" cy="0"/>
          </a:xfrm>
          <a:prstGeom prst="line">
            <a:avLst/>
          </a:prstGeom>
          <a:noFill/>
          <a:ln w="31750">
            <a:solidFill>
              <a:srgbClr val="BFE8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458200" y="2560320"/>
            <a:ext cx="1188720" cy="0"/>
          </a:xfrm>
          <a:prstGeom prst="line">
            <a:avLst/>
          </a:prstGeom>
          <a:noFill/>
          <a:ln w="31750">
            <a:solidFill>
              <a:srgbClr val="BFE8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458200" y="2926080"/>
            <a:ext cx="1188720" cy="0"/>
          </a:xfrm>
          <a:prstGeom prst="line">
            <a:avLst/>
          </a:prstGeom>
          <a:noFill/>
          <a:ln w="31750">
            <a:solidFill>
              <a:srgbClr val="BFE8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458200" y="3291840"/>
            <a:ext cx="1188720" cy="0"/>
          </a:xfrm>
          <a:prstGeom prst="line">
            <a:avLst/>
          </a:prstGeom>
          <a:noFill/>
          <a:ln w="31750">
            <a:solidFill>
              <a:srgbClr val="BFE8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75320" y="41148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Lebenslauf mit Foto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966960" y="914400"/>
            <a:ext cx="1554480" cy="3108960"/>
          </a:xfrm>
          <a:prstGeom prst="roundRect">
            <a:avLst>
              <a:gd name="adj" fmla="val 8824"/>
            </a:avLst>
          </a:prstGeom>
          <a:solidFill>
            <a:srgbClr val="F3FCFC"/>
          </a:solidFill>
          <a:ln w="15875">
            <a:solidFill>
              <a:srgbClr val="9FCFD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149840" y="1280160"/>
            <a:ext cx="914400" cy="1280160"/>
          </a:xfrm>
          <a:prstGeom prst="rect">
            <a:avLst/>
          </a:prstGeom>
          <a:solidFill>
            <a:srgbClr val="F3FCFC"/>
          </a:solidFill>
          <a:ln w="19050">
            <a:solidFill>
              <a:srgbClr val="0F3A4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332720" y="1554480"/>
            <a:ext cx="914400" cy="1280160"/>
          </a:xfrm>
          <a:prstGeom prst="rect">
            <a:avLst/>
          </a:prstGeom>
          <a:solidFill>
            <a:srgbClr val="5FE0E6"/>
          </a:solidFill>
          <a:ln w="19050">
            <a:solidFill>
              <a:srgbClr val="0F3A4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652760" y="2743200"/>
            <a:ext cx="457200" cy="457200"/>
          </a:xfrm>
          <a:prstGeom prst="star5">
            <a:avLst/>
          </a:prstGeom>
          <a:solidFill>
            <a:srgbClr val="5FE0E6"/>
          </a:solidFill>
          <a:ln w="19050">
            <a:solidFill>
              <a:srgbClr val="0F3A4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966960" y="41148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Beilagen: Zeugnisse, Qualifikationen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8321040" y="539496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321040" y="5394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E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Teile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5C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 Bewerbungsschreiben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 zeigt sein 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A5C66"/>
                </a:solidFill>
                <a:highlight>
                  <a:srgbClr val="5FE0E6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Interesse an der Stelle.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0624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A6A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Dafür liest man die Anzeige genau und überlegt, welche Fähigkeiten und Kenntnisse man mitbringt.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914400"/>
            <a:ext cx="2651760" cy="5120640"/>
          </a:xfrm>
          <a:prstGeom prst="roundRect">
            <a:avLst>
              <a:gd name="adj" fmla="val 5172"/>
            </a:avLst>
          </a:prstGeom>
          <a:solidFill>
            <a:srgbClr val="F3FCFC"/>
          </a:solidFill>
          <a:ln w="15875">
            <a:solidFill>
              <a:srgbClr val="9FCFD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0" y="914400"/>
            <a:ext cx="2651760" cy="502920"/>
          </a:xfrm>
          <a:prstGeom prst="roundRect">
            <a:avLst>
              <a:gd name="adj" fmla="val 27273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92824" y="1188720"/>
            <a:ext cx="2633472" cy="228600"/>
          </a:xfrm>
          <a:prstGeom prst="rect">
            <a:avLst/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20840" y="914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E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Bewerbungsschreiben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12280" y="1737360"/>
            <a:ext cx="2194560" cy="164592"/>
          </a:xfrm>
          <a:prstGeom prst="roundRect">
            <a:avLst>
              <a:gd name="adj" fmla="val 33333"/>
            </a:avLst>
          </a:prstGeom>
          <a:solidFill>
            <a:srgbClr val="5FE0E6"/>
          </a:solidFill>
          <a:ln w="12700">
            <a:solidFill>
              <a:srgbClr val="5FE0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12280" y="2103120"/>
            <a:ext cx="2194560" cy="164592"/>
          </a:xfrm>
          <a:prstGeom prst="roundRect">
            <a:avLst>
              <a:gd name="adj" fmla="val 33333"/>
            </a:avLst>
          </a:prstGeom>
          <a:solidFill>
            <a:srgbClr val="5FE0E6"/>
          </a:solidFill>
          <a:ln w="12700">
            <a:solidFill>
              <a:srgbClr val="5FE0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12280" y="2468880"/>
            <a:ext cx="2194560" cy="164592"/>
          </a:xfrm>
          <a:prstGeom prst="roundRect">
            <a:avLst>
              <a:gd name="adj" fmla="val 33333"/>
            </a:avLst>
          </a:prstGeom>
          <a:solidFill>
            <a:srgbClr val="5FE0E6"/>
          </a:solidFill>
          <a:ln w="12700">
            <a:solidFill>
              <a:srgbClr val="5FE0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12280" y="2834640"/>
            <a:ext cx="2194560" cy="164592"/>
          </a:xfrm>
          <a:prstGeom prst="roundRect">
            <a:avLst>
              <a:gd name="adj" fmla="val 33333"/>
            </a:avLst>
          </a:prstGeom>
          <a:solidFill>
            <a:srgbClr val="BFE8EA"/>
          </a:solidFill>
          <a:ln w="12700">
            <a:solidFill>
              <a:srgbClr val="BFE8E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12280" y="3200400"/>
            <a:ext cx="2194560" cy="164592"/>
          </a:xfrm>
          <a:prstGeom prst="roundRect">
            <a:avLst>
              <a:gd name="adj" fmla="val 33333"/>
            </a:avLst>
          </a:prstGeom>
          <a:solidFill>
            <a:srgbClr val="BFE8EA"/>
          </a:solidFill>
          <a:ln w="12700">
            <a:solidFill>
              <a:srgbClr val="BFE8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12280" y="3566160"/>
            <a:ext cx="2194560" cy="164592"/>
          </a:xfrm>
          <a:prstGeom prst="roundRect">
            <a:avLst>
              <a:gd name="adj" fmla="val 33333"/>
            </a:avLst>
          </a:prstGeom>
          <a:solidFill>
            <a:srgbClr val="BFE8EA"/>
          </a:solidFill>
          <a:ln w="12700">
            <a:solidFill>
              <a:srgbClr val="BFE8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12280" y="3931920"/>
            <a:ext cx="1280160" cy="164592"/>
          </a:xfrm>
          <a:prstGeom prst="roundRect">
            <a:avLst>
              <a:gd name="adj" fmla="val 33333"/>
            </a:avLst>
          </a:prstGeom>
          <a:solidFill>
            <a:srgbClr val="BFE8EA"/>
          </a:solidFill>
          <a:ln w="12700">
            <a:solidFill>
              <a:srgbClr val="BFE8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766560" y="4754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5C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Interesse zeigen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9509760" y="914400"/>
            <a:ext cx="2011680" cy="2103120"/>
          </a:xfrm>
          <a:prstGeom prst="roundRect">
            <a:avLst>
              <a:gd name="adj" fmla="val 6818"/>
            </a:avLst>
          </a:prstGeom>
          <a:solidFill>
            <a:srgbClr val="F3FCFC"/>
          </a:solidFill>
          <a:ln w="15875">
            <a:solidFill>
              <a:srgbClr val="9FCF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601200" y="1005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Anzeige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9692640" y="1554480"/>
            <a:ext cx="1645920" cy="0"/>
          </a:xfrm>
          <a:prstGeom prst="line">
            <a:avLst/>
          </a:prstGeom>
          <a:noFill/>
          <a:ln w="31750">
            <a:solidFill>
              <a:srgbClr val="BFE8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692640" y="1874520"/>
            <a:ext cx="1645920" cy="0"/>
          </a:xfrm>
          <a:prstGeom prst="line">
            <a:avLst/>
          </a:prstGeom>
          <a:noFill/>
          <a:ln w="31750">
            <a:solidFill>
              <a:srgbClr val="BFE8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692640" y="2194560"/>
            <a:ext cx="1645920" cy="0"/>
          </a:xfrm>
          <a:prstGeom prst="line">
            <a:avLst/>
          </a:prstGeom>
          <a:noFill/>
          <a:ln w="31750">
            <a:solidFill>
              <a:srgbClr val="BFE8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692640" y="2514600"/>
            <a:ext cx="1645920" cy="0"/>
          </a:xfrm>
          <a:prstGeom prst="line">
            <a:avLst/>
          </a:prstGeom>
          <a:noFill/>
          <a:ln w="31750">
            <a:solidFill>
              <a:srgbClr val="BFE8E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921240" y="1691640"/>
            <a:ext cx="640080" cy="640080"/>
          </a:xfrm>
          <a:prstGeom prst="ellipse">
            <a:avLst/>
          </a:prstGeom>
          <a:solidFill>
            <a:srgbClr val="F3FCFC"/>
          </a:solidFill>
          <a:ln w="25400">
            <a:solidFill>
              <a:srgbClr val="0F3A4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515600" y="2286000"/>
            <a:ext cx="411480" cy="411480"/>
          </a:xfrm>
          <a:prstGeom prst="line">
            <a:avLst/>
          </a:prstGeom>
          <a:noFill/>
          <a:ln w="50800">
            <a:solidFill>
              <a:srgbClr val="0F3A4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332720" y="3154680"/>
            <a:ext cx="365760" cy="548640"/>
          </a:xfrm>
          <a:prstGeom prst="downArrow">
            <a:avLst/>
          </a:prstGeom>
          <a:solidFill>
            <a:srgbClr val="0A5C66"/>
          </a:solidFill>
          <a:ln w="12700">
            <a:solidFill>
              <a:srgbClr val="0A5C6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418320" y="3931920"/>
            <a:ext cx="2103120" cy="1097280"/>
          </a:xfrm>
          <a:prstGeom prst="wedgeRoundRectCallout">
            <a:avLst>
              <a:gd name="adj" fmla="val 16667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18320" y="39319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FE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Was bringe ich mit?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5C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Der Lebenslauf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0A5C66"/>
                </a:solidFill>
                <a:highlight>
                  <a:srgbClr val="5FE0E6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Übersichtlich</a:t>
            </a:r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und </a:t>
            </a:r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0A5C66"/>
                </a:solidFill>
                <a:highlight>
                  <a:srgbClr val="5FE0E6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vollständig.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0624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A6A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Vor allem bei Ausbildung und Berufserfahrung.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914400"/>
            <a:ext cx="4937760" cy="5120640"/>
          </a:xfrm>
          <a:prstGeom prst="roundRect">
            <a:avLst>
              <a:gd name="adj" fmla="val 2778"/>
            </a:avLst>
          </a:prstGeom>
          <a:solidFill>
            <a:srgbClr val="F3FCFC"/>
          </a:solidFill>
          <a:ln w="15875">
            <a:solidFill>
              <a:srgbClr val="9FCFD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0" y="914400"/>
            <a:ext cx="4937760" cy="502920"/>
          </a:xfrm>
          <a:prstGeom prst="roundRect">
            <a:avLst>
              <a:gd name="adj" fmla="val 27273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92824" y="1188720"/>
            <a:ext cx="4919472" cy="228600"/>
          </a:xfrm>
          <a:prstGeom prst="rect">
            <a:avLst/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20840" y="9144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E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Lebenslauf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12280" y="1600200"/>
            <a:ext cx="822960" cy="1005840"/>
          </a:xfrm>
          <a:prstGeom prst="rect">
            <a:avLst/>
          </a:prstGeom>
          <a:solidFill>
            <a:srgbClr val="2F7C85"/>
          </a:solidFill>
          <a:ln w="19050">
            <a:solidFill>
              <a:srgbClr val="0F3A4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09460" y="1691640"/>
            <a:ext cx="228600" cy="228600"/>
          </a:xfrm>
          <a:prstGeom prst="ellipse">
            <a:avLst/>
          </a:prstGeom>
          <a:solidFill>
            <a:srgbClr val="F3FCFC"/>
          </a:solidFill>
          <a:ln w="12700">
            <a:solidFill>
              <a:srgbClr val="F3FCF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995160" y="1956816"/>
            <a:ext cx="457200" cy="283464"/>
          </a:xfrm>
          <a:prstGeom prst="roundRect">
            <a:avLst>
              <a:gd name="adj" fmla="val 45161"/>
            </a:avLst>
          </a:prstGeom>
          <a:solidFill>
            <a:srgbClr val="F3FCFC"/>
          </a:solidFill>
          <a:ln w="12700">
            <a:solidFill>
              <a:srgbClr val="F3FCF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863840" y="1691640"/>
            <a:ext cx="3474720" cy="0"/>
          </a:xfrm>
          <a:prstGeom prst="line">
            <a:avLst/>
          </a:prstGeom>
          <a:noFill/>
          <a:ln w="38100">
            <a:solidFill>
              <a:srgbClr val="BFE8E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863840" y="2011680"/>
            <a:ext cx="3474720" cy="0"/>
          </a:xfrm>
          <a:prstGeom prst="line">
            <a:avLst/>
          </a:prstGeom>
          <a:noFill/>
          <a:ln w="38100">
            <a:solidFill>
              <a:srgbClr val="BFE8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863840" y="2331720"/>
            <a:ext cx="3474720" cy="0"/>
          </a:xfrm>
          <a:prstGeom prst="line">
            <a:avLst/>
          </a:prstGeom>
          <a:noFill/>
          <a:ln w="38100">
            <a:solidFill>
              <a:srgbClr val="BFE8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12280" y="2880360"/>
            <a:ext cx="4480560" cy="777240"/>
          </a:xfrm>
          <a:prstGeom prst="roundRect">
            <a:avLst>
              <a:gd name="adj" fmla="val 11765"/>
            </a:avLst>
          </a:prstGeom>
          <a:solidFill>
            <a:srgbClr val="F3FCFC"/>
          </a:solidFill>
          <a:ln w="15875">
            <a:solidFill>
              <a:srgbClr val="9FCFD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95160" y="28803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Persönliche Daten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812280" y="3886200"/>
            <a:ext cx="4480560" cy="777240"/>
          </a:xfrm>
          <a:prstGeom prst="roundRect">
            <a:avLst>
              <a:gd name="adj" fmla="val 11765"/>
            </a:avLst>
          </a:prstGeom>
          <a:solidFill>
            <a:srgbClr val="5FE0E6"/>
          </a:solidFill>
          <a:ln w="25400">
            <a:solidFill>
              <a:srgbClr val="0F3A4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995160" y="38862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Ausbildung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812280" y="4892040"/>
            <a:ext cx="4480560" cy="777240"/>
          </a:xfrm>
          <a:prstGeom prst="roundRect">
            <a:avLst>
              <a:gd name="adj" fmla="val 11765"/>
            </a:avLst>
          </a:prstGeom>
          <a:solidFill>
            <a:srgbClr val="5FE0E6"/>
          </a:solidFill>
          <a:ln w="25400">
            <a:solidFill>
              <a:srgbClr val="0F3A4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995160" y="48920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Berufserfahrung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5C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Prüfung der Bewerbungen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Formal schaut man auf 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A5C66"/>
                </a:solidFill>
                <a:highlight>
                  <a:srgbClr val="5FE0E6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vier Dinge.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38912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A6A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Beim Unternehmen werden alle Bewerbungen geprüft.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914400"/>
            <a:ext cx="4937760" cy="1097280"/>
          </a:xfrm>
          <a:prstGeom prst="roundRect">
            <a:avLst>
              <a:gd name="adj" fmla="val 12500"/>
            </a:avLst>
          </a:prstGeom>
          <a:solidFill>
            <a:srgbClr val="F3FCFC"/>
          </a:solidFill>
          <a:ln w="15875">
            <a:solidFill>
              <a:srgbClr val="9FCFD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0" y="11887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5FE0E6"/>
          </a:solidFill>
          <a:ln w="31750">
            <a:solidFill>
              <a:srgbClr val="0F3A4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rot="2700000">
            <a:off x="6963156" y="1463040"/>
            <a:ext cx="155448" cy="73152"/>
          </a:xfrm>
          <a:prstGeom prst="roundRect">
            <a:avLst>
              <a:gd name="adj" fmla="val 37500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18900000">
            <a:off x="7027164" y="1399032"/>
            <a:ext cx="320040" cy="73152"/>
          </a:xfrm>
          <a:prstGeom prst="roundRect">
            <a:avLst>
              <a:gd name="adj" fmla="val 37500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80960" y="9144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Vollständigkeit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583680" y="2194560"/>
            <a:ext cx="4937760" cy="1097280"/>
          </a:xfrm>
          <a:prstGeom prst="roundRect">
            <a:avLst>
              <a:gd name="adj" fmla="val 12500"/>
            </a:avLst>
          </a:prstGeom>
          <a:solidFill>
            <a:srgbClr val="F3FCFC"/>
          </a:solidFill>
          <a:ln w="15875">
            <a:solidFill>
              <a:srgbClr val="9FCFD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0" y="24688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5FE0E6"/>
          </a:solidFill>
          <a:ln w="31750">
            <a:solidFill>
              <a:srgbClr val="0F3A4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2700000">
            <a:off x="6963156" y="2743200"/>
            <a:ext cx="155448" cy="73152"/>
          </a:xfrm>
          <a:prstGeom prst="roundRect">
            <a:avLst>
              <a:gd name="adj" fmla="val 37500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rot="18900000">
            <a:off x="7027164" y="2679192"/>
            <a:ext cx="320040" cy="73152"/>
          </a:xfrm>
          <a:prstGeom prst="roundRect">
            <a:avLst>
              <a:gd name="adj" fmla="val 37500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680960" y="21945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Sauberkeit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6583680" y="3474720"/>
            <a:ext cx="4937760" cy="1097280"/>
          </a:xfrm>
          <a:prstGeom prst="roundRect">
            <a:avLst>
              <a:gd name="adj" fmla="val 12500"/>
            </a:avLst>
          </a:prstGeom>
          <a:solidFill>
            <a:srgbClr val="F3FCFC"/>
          </a:solidFill>
          <a:ln w="15875">
            <a:solidFill>
              <a:srgbClr val="9FCFD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0" y="37490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5FE0E6"/>
          </a:solidFill>
          <a:ln w="31750">
            <a:solidFill>
              <a:srgbClr val="0F3A4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 rot="2700000">
            <a:off x="6963156" y="4023360"/>
            <a:ext cx="155448" cy="73152"/>
          </a:xfrm>
          <a:prstGeom prst="roundRect">
            <a:avLst>
              <a:gd name="adj" fmla="val 37500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rot="18900000">
            <a:off x="7027164" y="3959352"/>
            <a:ext cx="320040" cy="73152"/>
          </a:xfrm>
          <a:prstGeom prst="roundRect">
            <a:avLst>
              <a:gd name="adj" fmla="val 37500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680960" y="34747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Korrekte Rechtschreibung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6583680" y="4754880"/>
            <a:ext cx="4937760" cy="1097280"/>
          </a:xfrm>
          <a:prstGeom prst="roundRect">
            <a:avLst>
              <a:gd name="adj" fmla="val 12500"/>
            </a:avLst>
          </a:prstGeom>
          <a:solidFill>
            <a:srgbClr val="F3FCFC"/>
          </a:solidFill>
          <a:ln w="15875">
            <a:solidFill>
              <a:srgbClr val="9FCFD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858000" y="50292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5FE0E6"/>
          </a:solidFill>
          <a:ln w="31750">
            <a:solidFill>
              <a:srgbClr val="0F3A4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rot="2700000">
            <a:off x="6963156" y="5303520"/>
            <a:ext cx="155448" cy="73152"/>
          </a:xfrm>
          <a:prstGeom prst="roundRect">
            <a:avLst>
              <a:gd name="adj" fmla="val 37500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rot="18900000">
            <a:off x="7027164" y="5239512"/>
            <a:ext cx="320040" cy="73152"/>
          </a:xfrm>
          <a:prstGeom prst="roundRect">
            <a:avLst>
              <a:gd name="adj" fmla="val 37500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680960" y="47548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Gesamteindruck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5C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Inhaltlich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Passen die Qualifikationen zum </a:t>
            </a:r>
            <a:pPr indent="0" marL="0">
              <a:lnSpc>
                <a:spcPct val="105000"/>
              </a:lnSpc>
              <a:buNone/>
            </a:pPr>
            <a:r>
              <a:rPr lang="en-US" sz="3600" dirty="0">
                <a:solidFill>
                  <a:srgbClr val="0A5C66"/>
                </a:solidFill>
                <a:highlight>
                  <a:srgbClr val="5FE0E6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Anforderungsprofil?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48056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A6A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Informationen, Stil, berufliche Entwicklung, Referenzen …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583680" y="914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5C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Berufliche Entwicklung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583680" y="1463040"/>
            <a:ext cx="1188720" cy="640080"/>
          </a:xfrm>
          <a:prstGeom prst="roundRect">
            <a:avLst>
              <a:gd name="adj" fmla="val 17143"/>
            </a:avLst>
          </a:prstGeom>
          <a:solidFill>
            <a:srgbClr val="BFE8EA"/>
          </a:solidFill>
          <a:ln w="12700">
            <a:solidFill>
              <a:srgbClr val="BFE8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0" y="1463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Job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72400" y="1463040"/>
            <a:ext cx="1188720" cy="640080"/>
          </a:xfrm>
          <a:prstGeom prst="roundRect">
            <a:avLst>
              <a:gd name="adj" fmla="val 17143"/>
            </a:avLst>
          </a:prstGeom>
          <a:solidFill>
            <a:srgbClr val="BFE8EA"/>
          </a:solidFill>
          <a:ln w="12700">
            <a:solidFill>
              <a:srgbClr val="BFE8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0" y="1463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Job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326880" y="146304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BFE8EA"/>
          </a:solidFill>
          <a:ln w="12700">
            <a:solidFill>
              <a:srgbClr val="BFE8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2688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Job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0012680" y="146304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BFE8EA"/>
          </a:solidFill>
          <a:ln w="12700">
            <a:solidFill>
              <a:srgbClr val="BFE8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01268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Job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0698480" y="1463040"/>
            <a:ext cx="822960" cy="640080"/>
          </a:xfrm>
          <a:prstGeom prst="roundRect">
            <a:avLst>
              <a:gd name="adj" fmla="val 17143"/>
            </a:avLst>
          </a:prstGeom>
          <a:solidFill>
            <a:srgbClr val="BFE8EA"/>
          </a:solidFill>
          <a:ln w="12700">
            <a:solidFill>
              <a:srgbClr val="BFE8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698480" y="14630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Job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9052560" y="1463040"/>
            <a:ext cx="228600" cy="640080"/>
          </a:xfrm>
          <a:prstGeom prst="roundRect">
            <a:avLst>
              <a:gd name="adj" fmla="val 20000"/>
            </a:avLst>
          </a:prstGeom>
          <a:solidFill>
            <a:srgbClr val="F3FCFC"/>
          </a:solidFill>
          <a:ln w="25400">
            <a:solidFill>
              <a:srgbClr val="FF7A45"/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>
            <a:off x="8503920" y="228600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FF7A45"/>
          </a:solidFill>
          <a:ln w="12700">
            <a:solidFill>
              <a:srgbClr val="FF7A4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503920" y="22860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Lücke?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9966960" y="228600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FF7A45"/>
          </a:solidFill>
          <a:ln w="12700">
            <a:solidFill>
              <a:srgbClr val="FF7A4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966960" y="2286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viele Wechsel?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583680" y="3017520"/>
            <a:ext cx="1554480" cy="640080"/>
          </a:xfrm>
          <a:prstGeom prst="roundRect">
            <a:avLst>
              <a:gd name="adj" fmla="val 17143"/>
            </a:avLst>
          </a:prstGeom>
          <a:solidFill>
            <a:srgbClr val="BFE8EA"/>
          </a:solidFill>
          <a:ln w="12700">
            <a:solidFill>
              <a:srgbClr val="BFE8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583680" y="30175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Informationen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275320" y="3017520"/>
            <a:ext cx="1554480" cy="640080"/>
          </a:xfrm>
          <a:prstGeom prst="roundRect">
            <a:avLst>
              <a:gd name="adj" fmla="val 17143"/>
            </a:avLst>
          </a:prstGeom>
          <a:solidFill>
            <a:srgbClr val="BFE8EA"/>
          </a:solidFill>
          <a:ln w="12700">
            <a:solidFill>
              <a:srgbClr val="BFE8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75320" y="30175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Stil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9966960" y="3017520"/>
            <a:ext cx="1554480" cy="640080"/>
          </a:xfrm>
          <a:prstGeom prst="roundRect">
            <a:avLst>
              <a:gd name="adj" fmla="val 17143"/>
            </a:avLst>
          </a:prstGeom>
          <a:solidFill>
            <a:srgbClr val="BFE8EA"/>
          </a:solidFill>
          <a:ln w="12700">
            <a:solidFill>
              <a:srgbClr val="BFE8E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966960" y="30175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Referenzen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583680" y="4023360"/>
            <a:ext cx="4937760" cy="1920240"/>
          </a:xfrm>
          <a:prstGeom prst="roundRect">
            <a:avLst>
              <a:gd name="adj" fmla="val 9524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766560" y="4160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FE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Qualifikationen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9326880" y="4160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FE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Anforderungsprofil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6766560" y="4709160"/>
            <a:ext cx="1828800" cy="731520"/>
          </a:xfrm>
          <a:prstGeom prst="roundRect">
            <a:avLst>
              <a:gd name="adj" fmla="val 15000"/>
            </a:avLst>
          </a:prstGeom>
          <a:solidFill>
            <a:srgbClr val="5FE0E6"/>
          </a:solidFill>
          <a:ln w="12700">
            <a:solidFill>
              <a:srgbClr val="5FE0E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509760" y="4709160"/>
            <a:ext cx="1828800" cy="731520"/>
          </a:xfrm>
          <a:prstGeom prst="roundRect">
            <a:avLst>
              <a:gd name="adj" fmla="val 15000"/>
            </a:avLst>
          </a:prstGeom>
          <a:solidFill>
            <a:srgbClr val="5FE0E6"/>
          </a:solidFill>
          <a:ln w="12700">
            <a:solidFill>
              <a:srgbClr val="5FE0E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595360" y="47091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8F2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passt?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5C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 Vorstellungsgespräch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Wer überzeugt, wird 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A5C66"/>
                </a:solidFill>
                <a:highlight>
                  <a:srgbClr val="5FE0E6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eingeladen.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9768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A6A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Dort lernt man sich persönlich kennen. Dazu kommen je nach Unternehmen weitere Auswahlverfahren.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246620" y="2103120"/>
            <a:ext cx="502920" cy="502920"/>
          </a:xfrm>
          <a:prstGeom prst="ellipse">
            <a:avLst/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95160" y="2686507"/>
            <a:ext cx="1005840" cy="623621"/>
          </a:xfrm>
          <a:prstGeom prst="roundRect">
            <a:avLst>
              <a:gd name="adj" fmla="val 45161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355580" y="2103120"/>
            <a:ext cx="502920" cy="502920"/>
          </a:xfrm>
          <a:prstGeom prst="ellipse">
            <a:avLst/>
          </a:prstGeom>
          <a:solidFill>
            <a:srgbClr val="0A5C66"/>
          </a:solidFill>
          <a:ln w="12700">
            <a:solidFill>
              <a:srgbClr val="0A5C6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104120" y="2686507"/>
            <a:ext cx="1005840" cy="623621"/>
          </a:xfrm>
          <a:prstGeom prst="roundRect">
            <a:avLst>
              <a:gd name="adj" fmla="val 45161"/>
            </a:avLst>
          </a:prstGeom>
          <a:solidFill>
            <a:srgbClr val="0A5C66"/>
          </a:solidFill>
          <a:ln w="12700">
            <a:solidFill>
              <a:srgbClr val="0A5C6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3657600"/>
            <a:ext cx="4937760" cy="274320"/>
          </a:xfrm>
          <a:prstGeom prst="roundRect">
            <a:avLst>
              <a:gd name="adj" fmla="val 26667"/>
            </a:avLst>
          </a:prstGeom>
          <a:solidFill>
            <a:srgbClr val="9FCFD2"/>
          </a:solidFill>
          <a:ln w="25400">
            <a:solidFill>
              <a:srgbClr val="0F3A4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66560" y="914400"/>
            <a:ext cx="1280160" cy="822960"/>
          </a:xfrm>
          <a:prstGeom prst="wedgeRoundRectCallout">
            <a:avLst>
              <a:gd name="adj" fmla="val 22222"/>
            </a:avLst>
          </a:prstGeom>
          <a:solidFill>
            <a:srgbClr val="F3FCFC"/>
          </a:solidFill>
          <a:ln w="12700">
            <a:solidFill>
              <a:srgbClr val="F3FCF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766560" y="9144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10058400" y="914400"/>
            <a:ext cx="1280160" cy="822960"/>
          </a:xfrm>
          <a:prstGeom prst="wedgeRoundRectCallout">
            <a:avLst>
              <a:gd name="adj" fmla="val 22222"/>
            </a:avLst>
          </a:prstGeom>
          <a:solidFill>
            <a:srgbClr val="5FE0E6"/>
          </a:solidFill>
          <a:ln w="12700">
            <a:solidFill>
              <a:srgbClr val="5FE0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058400" y="9144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!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7406640" y="448056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06640" y="44805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E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weitere Auswahlverfahren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5C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Der Arbeitsvertrag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Eintrittsdatum, Arbeitszeit und Gehalt – dann </a:t>
            </a:r>
            <a:pPr indent="0" marL="0">
              <a:lnSpc>
                <a:spcPct val="105000"/>
              </a:lnSpc>
              <a:buNone/>
            </a:pPr>
            <a:r>
              <a:rPr lang="en-US" sz="3600" dirty="0">
                <a:solidFill>
                  <a:srgbClr val="0A5C66"/>
                </a:solidFill>
                <a:highlight>
                  <a:srgbClr val="5FE0E6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unterschreiben.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6583680" y="914400"/>
            <a:ext cx="4937760" cy="5120640"/>
          </a:xfrm>
          <a:prstGeom prst="roundRect">
            <a:avLst>
              <a:gd name="adj" fmla="val 2778"/>
            </a:avLst>
          </a:prstGeom>
          <a:solidFill>
            <a:srgbClr val="F3FCFC"/>
          </a:solidFill>
          <a:ln w="15875">
            <a:solidFill>
              <a:srgbClr val="9FCFD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583680" y="914400"/>
            <a:ext cx="4937760" cy="502920"/>
          </a:xfrm>
          <a:prstGeom prst="roundRect">
            <a:avLst>
              <a:gd name="adj" fmla="val 27273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92824" y="1188720"/>
            <a:ext cx="4919472" cy="228600"/>
          </a:xfrm>
          <a:prstGeom prst="rect">
            <a:avLst/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720840" y="9144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E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Arbeitsvertrag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12280" y="1737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Eintrittsdatum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052560" y="1920240"/>
            <a:ext cx="2194560" cy="274320"/>
          </a:xfrm>
          <a:prstGeom prst="roundRect">
            <a:avLst>
              <a:gd name="adj" fmla="val 33333"/>
            </a:avLst>
          </a:prstGeom>
          <a:solidFill>
            <a:srgbClr val="BFE8EA"/>
          </a:solidFill>
          <a:ln w="12700">
            <a:solidFill>
              <a:srgbClr val="BFE8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12280" y="2651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Arbeitszeit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052560" y="2834640"/>
            <a:ext cx="2194560" cy="274320"/>
          </a:xfrm>
          <a:prstGeom prst="roundRect">
            <a:avLst>
              <a:gd name="adj" fmla="val 33333"/>
            </a:avLst>
          </a:prstGeom>
          <a:solidFill>
            <a:srgbClr val="BFE8EA"/>
          </a:solidFill>
          <a:ln w="12700">
            <a:solidFill>
              <a:srgbClr val="BFE8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12280" y="3566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Gehalt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052560" y="3749040"/>
            <a:ext cx="2194560" cy="274320"/>
          </a:xfrm>
          <a:prstGeom prst="roundRect">
            <a:avLst>
              <a:gd name="adj" fmla="val 33333"/>
            </a:avLst>
          </a:prstGeom>
          <a:solidFill>
            <a:srgbClr val="BFE8EA"/>
          </a:solidFill>
          <a:ln w="12700">
            <a:solidFill>
              <a:srgbClr val="BFE8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0" y="5212080"/>
            <a:ext cx="2743200" cy="0"/>
          </a:xfrm>
          <a:prstGeom prst="line">
            <a:avLst/>
          </a:prstGeom>
          <a:noFill/>
          <a:ln w="31750">
            <a:solidFill>
              <a:srgbClr val="0F3A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0" y="5257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6A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Unterschrift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 rot="19200000">
            <a:off x="9418320" y="4480560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5FE0E6"/>
          </a:solidFill>
          <a:ln w="19050">
            <a:solidFill>
              <a:srgbClr val="0F3A4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424160" y="5029200"/>
            <a:ext cx="548640" cy="548640"/>
          </a:xfrm>
          <a:prstGeom prst="ellipse">
            <a:avLst/>
          </a:prstGeom>
          <a:solidFill>
            <a:srgbClr val="5FE0E6"/>
          </a:solidFill>
          <a:ln w="25400">
            <a:solidFill>
              <a:srgbClr val="0F3A4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rot="2700000">
            <a:off x="10563149" y="5310835"/>
            <a:ext cx="124358" cy="73152"/>
          </a:xfrm>
          <a:prstGeom prst="roundRect">
            <a:avLst>
              <a:gd name="adj" fmla="val 37500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rot="18900000">
            <a:off x="10614355" y="5259629"/>
            <a:ext cx="256032" cy="73152"/>
          </a:xfrm>
          <a:prstGeom prst="roundRect">
            <a:avLst>
              <a:gd name="adj" fmla="val 37500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FE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Zusammenfassung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D8F2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Von der Frage zum </a:t>
            </a:r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5FE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Vertrag.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1480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A9D7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finden Unternehmen die richtige Person.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731520"/>
            <a:ext cx="4937760" cy="658368"/>
          </a:xfrm>
          <a:prstGeom prst="roundRect">
            <a:avLst>
              <a:gd name="adj" fmla="val 20833"/>
            </a:avLst>
          </a:prstGeom>
          <a:solidFill>
            <a:srgbClr val="17525A"/>
          </a:solidFill>
          <a:ln w="15875">
            <a:solidFill>
              <a:srgbClr val="2F7C8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20840" y="822960"/>
            <a:ext cx="475488" cy="475488"/>
          </a:xfrm>
          <a:prstGeom prst="ellipse">
            <a:avLst/>
          </a:prstGeom>
          <a:solidFill>
            <a:srgbClr val="5FE0E6"/>
          </a:solidFill>
          <a:ln w="12700">
            <a:solidFill>
              <a:srgbClr val="5FE0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720840" y="822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60920" y="73152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F2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Bedarf feststellen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583680" y="1508760"/>
            <a:ext cx="4937760" cy="658368"/>
          </a:xfrm>
          <a:prstGeom prst="roundRect">
            <a:avLst>
              <a:gd name="adj" fmla="val 20833"/>
            </a:avLst>
          </a:prstGeom>
          <a:solidFill>
            <a:srgbClr val="17525A"/>
          </a:solidFill>
          <a:ln w="15875">
            <a:solidFill>
              <a:srgbClr val="2F7C8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20840" y="1600200"/>
            <a:ext cx="475488" cy="475488"/>
          </a:xfrm>
          <a:prstGeom prst="ellipse">
            <a:avLst/>
          </a:prstGeom>
          <a:solidFill>
            <a:srgbClr val="5FE0E6"/>
          </a:solidFill>
          <a:ln w="12700">
            <a:solidFill>
              <a:srgbClr val="5FE0E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720840" y="1600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360920" y="150876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F2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Stelle beschreiben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583680" y="2286000"/>
            <a:ext cx="4937760" cy="658368"/>
          </a:xfrm>
          <a:prstGeom prst="roundRect">
            <a:avLst>
              <a:gd name="adj" fmla="val 20833"/>
            </a:avLst>
          </a:prstGeom>
          <a:solidFill>
            <a:srgbClr val="17525A"/>
          </a:solidFill>
          <a:ln w="15875">
            <a:solidFill>
              <a:srgbClr val="2F7C8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720840" y="2377440"/>
            <a:ext cx="475488" cy="475488"/>
          </a:xfrm>
          <a:prstGeom prst="ellipse">
            <a:avLst/>
          </a:prstGeom>
          <a:solidFill>
            <a:srgbClr val="5FE0E6"/>
          </a:solidFill>
          <a:ln w="12700">
            <a:solidFill>
              <a:srgbClr val="5FE0E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2377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360920" y="228600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F2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Anforderungsprofil erstellen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583680" y="3063240"/>
            <a:ext cx="4937760" cy="658368"/>
          </a:xfrm>
          <a:prstGeom prst="roundRect">
            <a:avLst>
              <a:gd name="adj" fmla="val 20833"/>
            </a:avLst>
          </a:prstGeom>
          <a:solidFill>
            <a:srgbClr val="17525A"/>
          </a:solidFill>
          <a:ln w="15875">
            <a:solidFill>
              <a:srgbClr val="2F7C8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720840" y="3154680"/>
            <a:ext cx="475488" cy="475488"/>
          </a:xfrm>
          <a:prstGeom prst="ellipse">
            <a:avLst/>
          </a:prstGeom>
          <a:solidFill>
            <a:srgbClr val="5FE0E6"/>
          </a:solidFill>
          <a:ln w="12700">
            <a:solidFill>
              <a:srgbClr val="5FE0E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720840" y="3154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7360920" y="306324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F2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Anzeige schalten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583680" y="3840480"/>
            <a:ext cx="4937760" cy="658368"/>
          </a:xfrm>
          <a:prstGeom prst="roundRect">
            <a:avLst>
              <a:gd name="adj" fmla="val 20833"/>
            </a:avLst>
          </a:prstGeom>
          <a:solidFill>
            <a:srgbClr val="17525A"/>
          </a:solidFill>
          <a:ln w="15875">
            <a:solidFill>
              <a:srgbClr val="2F7C8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720840" y="3931920"/>
            <a:ext cx="475488" cy="475488"/>
          </a:xfrm>
          <a:prstGeom prst="ellipse">
            <a:avLst/>
          </a:prstGeom>
          <a:solidFill>
            <a:srgbClr val="5FE0E6"/>
          </a:solidFill>
          <a:ln w="12700">
            <a:solidFill>
              <a:srgbClr val="5FE0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720840" y="3931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360920" y="384048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F2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Bewerbungen prüfen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583680" y="4617720"/>
            <a:ext cx="4937760" cy="658368"/>
          </a:xfrm>
          <a:prstGeom prst="roundRect">
            <a:avLst>
              <a:gd name="adj" fmla="val 20833"/>
            </a:avLst>
          </a:prstGeom>
          <a:solidFill>
            <a:srgbClr val="17525A"/>
          </a:solidFill>
          <a:ln w="15875">
            <a:solidFill>
              <a:srgbClr val="2F7C8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20840" y="4709160"/>
            <a:ext cx="475488" cy="475488"/>
          </a:xfrm>
          <a:prstGeom prst="ellipse">
            <a:avLst/>
          </a:prstGeom>
          <a:solidFill>
            <a:srgbClr val="5FE0E6"/>
          </a:solidFill>
          <a:ln w="12700">
            <a:solidFill>
              <a:srgbClr val="5FE0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720840" y="4709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7360920" y="461772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F2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Gespräche führen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583680" y="5394960"/>
            <a:ext cx="4937760" cy="658368"/>
          </a:xfrm>
          <a:prstGeom prst="roundRect">
            <a:avLst>
              <a:gd name="adj" fmla="val 20833"/>
            </a:avLst>
          </a:prstGeom>
          <a:solidFill>
            <a:srgbClr val="17525A"/>
          </a:solidFill>
          <a:ln w="15875">
            <a:solidFill>
              <a:srgbClr val="2F7C8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720840" y="5486400"/>
            <a:ext cx="475488" cy="475488"/>
          </a:xfrm>
          <a:prstGeom prst="ellipse">
            <a:avLst/>
          </a:prstGeom>
          <a:solidFill>
            <a:srgbClr val="5FE0E6"/>
          </a:solidFill>
          <a:ln w="12700">
            <a:solidFill>
              <a:srgbClr val="5FE0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720840" y="5486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7360920" y="539496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F2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Vertrag abschließen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595360" y="548640"/>
            <a:ext cx="2926080" cy="2926080"/>
          </a:xfrm>
          <a:prstGeom prst="ellipse">
            <a:avLst/>
          </a:prstGeom>
          <a:solidFill>
            <a:srgbClr val="5FE0E6">
              <a:alpha val="0"/>
            </a:srgbClr>
          </a:solidFill>
          <a:ln w="38100">
            <a:solidFill>
              <a:srgbClr val="0F3A4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058400" y="2011680"/>
            <a:ext cx="2926080" cy="2926080"/>
          </a:xfrm>
          <a:prstGeom prst="ellipse">
            <a:avLst/>
          </a:prstGeom>
          <a:solidFill>
            <a:srgbClr val="5FE0E6">
              <a:alpha val="0"/>
            </a:srgbClr>
          </a:solidFill>
          <a:ln w="38100">
            <a:solidFill>
              <a:srgbClr val="0F3A4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5C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Danke fürs Zuschauen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18872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dirty="0">
                <a:solidFill>
                  <a:srgbClr val="0F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 richtige Person für die richtige Stelle.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640080" y="5120640"/>
            <a:ext cx="7680960" cy="868680"/>
          </a:xfrm>
          <a:prstGeom prst="roundRect">
            <a:avLst>
              <a:gd name="adj" fmla="val 21053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51206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E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Mehr Videos auf Cleverbox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everbox Teal">
  <a:themeElements>
    <a:clrScheme name="Cleverbox Teal">
      <a:dk1>
        <a:srgbClr val="0B2326"/>
      </a:dk1>
      <a:lt1>
        <a:srgbClr val="F3FCFC"/>
      </a:lt1>
      <a:dk2>
        <a:srgbClr val="0F3A40"/>
      </a:dk2>
      <a:lt2>
        <a:srgbClr val="D8F2F2"/>
      </a:lt2>
      <a:accent1>
        <a:srgbClr val="5FE0E6"/>
      </a:accent1>
      <a:accent2>
        <a:srgbClr val="0A5C66"/>
      </a:accent2>
      <a:accent3>
        <a:srgbClr val="BFE8EA"/>
      </a:accent3>
      <a:accent4>
        <a:srgbClr val="4A6A6E"/>
      </a:accent4>
      <a:accent5>
        <a:srgbClr val="FF7A45"/>
      </a:accent5>
      <a:accent6>
        <a:srgbClr val="9FCFD2"/>
      </a:accent6>
      <a:hlink>
        <a:srgbClr val="0A5C66"/>
      </a:hlink>
      <a:folHlink>
        <a:srgbClr val="4A6A6E"/>
      </a:folHlink>
    </a:clrScheme>
    <a:fontScheme name="Cleverbox Teal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TikTok-Algorithmus – Erklärvideo Slides</dc:title>
  <dc:subject>PptxGenJS Presentation</dc:subject>
  <dc:creator>Cleverbox</dc:creator>
  <cp:lastModifiedBy>Cleverbox</cp:lastModifiedBy>
  <cp:revision>1</cp:revision>
  <dcterms:created xsi:type="dcterms:W3CDTF">2026-10-12T14:36:26Z</dcterms:created>
  <dcterms:modified xsi:type="dcterms:W3CDTF">2026-10-12T14:36:26Z</dcterms:modified>
</cp:coreProperties>
</file>